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media/image5.jpg" ContentType="image/pn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258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265" r:id="rId11"/>
    <p:sldId id="266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1" r:id="rId28"/>
    <p:sldId id="332" r:id="rId29"/>
    <p:sldId id="333" r:id="rId30"/>
    <p:sldId id="334" r:id="rId31"/>
    <p:sldId id="336" r:id="rId32"/>
    <p:sldId id="338" r:id="rId33"/>
    <p:sldId id="337" r:id="rId34"/>
    <p:sldId id="342" r:id="rId35"/>
    <p:sldId id="343" r:id="rId36"/>
    <p:sldId id="344" r:id="rId37"/>
    <p:sldId id="345" r:id="rId38"/>
    <p:sldId id="341" r:id="rId39"/>
    <p:sldId id="340" r:id="rId40"/>
    <p:sldId id="339" r:id="rId41"/>
    <p:sldId id="330" r:id="rId42"/>
    <p:sldId id="347" r:id="rId43"/>
    <p:sldId id="34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0" autoAdjust="0"/>
    <p:restoredTop sz="86376"/>
  </p:normalViewPr>
  <p:slideViewPr>
    <p:cSldViewPr snapToGrid="0">
      <p:cViewPr varScale="1">
        <p:scale>
          <a:sx n="108" d="100"/>
          <a:sy n="108" d="100"/>
        </p:scale>
        <p:origin x="96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E78564-233D-4E99-B1F4-D26D169C831D}" type="doc">
      <dgm:prSet loTypeId="urn:microsoft.com/office/officeart/2018/2/layout/IconVerticalSolidList" loCatId="icon" qsTypeId="urn:microsoft.com/office/officeart/2005/8/quickstyle/simple1#6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0967101D-AAAD-4381-B54B-B57DEBB60AF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A JSON file </a:t>
          </a:r>
          <a:r>
            <a:rPr lang="it-IT" dirty="0" err="1"/>
            <a:t>replaces</a:t>
          </a:r>
          <a:r>
            <a:rPr lang="it-IT" dirty="0"/>
            <a:t> the CRUD </a:t>
          </a:r>
          <a:r>
            <a:rPr lang="it-IT" dirty="0" err="1"/>
            <a:t>layer</a:t>
          </a:r>
          <a:r>
            <a:rPr lang="it-IT" dirty="0"/>
            <a:t> </a:t>
          </a:r>
          <a:r>
            <a:rPr lang="it-IT" dirty="0" err="1"/>
            <a:t>you</a:t>
          </a:r>
          <a:r>
            <a:rPr lang="it-IT" dirty="0"/>
            <a:t> </a:t>
          </a:r>
          <a:r>
            <a:rPr lang="it-IT" dirty="0" err="1"/>
            <a:t>keep</a:t>
          </a:r>
          <a:r>
            <a:rPr lang="it-IT" dirty="0"/>
            <a:t> </a:t>
          </a:r>
          <a:r>
            <a:rPr lang="it-IT" dirty="0" err="1"/>
            <a:t>rewriting</a:t>
          </a:r>
          <a:r>
            <a:rPr lang="it-IT" dirty="0"/>
            <a:t>.</a:t>
          </a:r>
          <a:endParaRPr lang="en-US" dirty="0"/>
        </a:p>
      </dgm:t>
    </dgm:pt>
    <dgm:pt modelId="{3EC14DE4-FE05-41B0-8051-C17ABBFEA952}" type="parTrans" cxnId="{20A16DC7-2966-459B-9C3E-0626A6F5479E}">
      <dgm:prSet/>
      <dgm:spPr/>
      <dgm:t>
        <a:bodyPr/>
        <a:lstStyle/>
        <a:p>
          <a:endParaRPr lang="en-US"/>
        </a:p>
      </dgm:t>
    </dgm:pt>
    <dgm:pt modelId="{18DC684E-46D7-4EDA-AB3C-A04A4101CF3F}" type="sibTrans" cxnId="{20A16DC7-2966-459B-9C3E-0626A6F5479E}">
      <dgm:prSet/>
      <dgm:spPr/>
      <dgm:t>
        <a:bodyPr/>
        <a:lstStyle/>
        <a:p>
          <a:endParaRPr lang="en-US"/>
        </a:p>
      </dgm:t>
    </dgm:pt>
    <dgm:pt modelId="{F8F90714-CA38-4370-A3E9-8557C1CFC0F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One </a:t>
          </a:r>
          <a:r>
            <a:rPr lang="it-IT" dirty="0" err="1"/>
            <a:t>configuration</a:t>
          </a:r>
          <a:r>
            <a:rPr lang="it-IT" dirty="0"/>
            <a:t> </a:t>
          </a:r>
          <a:r>
            <a:rPr lang="it-IT" dirty="0" err="1"/>
            <a:t>serves</a:t>
          </a:r>
          <a:r>
            <a:rPr lang="it-IT" dirty="0"/>
            <a:t> REST, </a:t>
          </a:r>
          <a:r>
            <a:rPr lang="it-IT" dirty="0" err="1"/>
            <a:t>GraphQL</a:t>
          </a:r>
          <a:r>
            <a:rPr lang="it-IT" dirty="0"/>
            <a:t> and MCP with one </a:t>
          </a:r>
          <a:r>
            <a:rPr lang="it-IT" dirty="0" err="1"/>
            <a:t>permission</a:t>
          </a:r>
          <a:r>
            <a:rPr lang="it-IT" dirty="0"/>
            <a:t> model.</a:t>
          </a:r>
          <a:endParaRPr lang="en-US" dirty="0"/>
        </a:p>
      </dgm:t>
    </dgm:pt>
    <dgm:pt modelId="{DF1193BA-C865-406C-94D7-DF71D4A54DF4}" type="parTrans" cxnId="{5E078602-3CAE-4440-A71D-297365048BA4}">
      <dgm:prSet/>
      <dgm:spPr/>
      <dgm:t>
        <a:bodyPr/>
        <a:lstStyle/>
        <a:p>
          <a:endParaRPr lang="en-US"/>
        </a:p>
      </dgm:t>
    </dgm:pt>
    <dgm:pt modelId="{80D838C1-F45D-4987-8E00-EC99E973101A}" type="sibTrans" cxnId="{5E078602-3CAE-4440-A71D-297365048BA4}">
      <dgm:prSet/>
      <dgm:spPr/>
      <dgm:t>
        <a:bodyPr/>
        <a:lstStyle/>
        <a:p>
          <a:endParaRPr lang="en-US"/>
        </a:p>
      </dgm:t>
    </dgm:pt>
    <dgm:pt modelId="{FE938B44-7ECF-4820-9D3C-469C2D68053C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2.0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about</a:t>
          </a:r>
          <a:r>
            <a:rPr lang="it-IT" dirty="0"/>
            <a:t> agents and </a:t>
          </a:r>
          <a:r>
            <a:rPr lang="it-IT" dirty="0" err="1"/>
            <a:t>automation</a:t>
          </a:r>
          <a:r>
            <a:rPr lang="it-IT" dirty="0"/>
            <a:t>: auto-</a:t>
          </a:r>
          <a:r>
            <a:rPr lang="it-IT" dirty="0" err="1"/>
            <a:t>config</a:t>
          </a:r>
          <a:r>
            <a:rPr lang="it-IT" dirty="0"/>
            <a:t>, OBO, custom MCP tools, </a:t>
          </a:r>
          <a:r>
            <a:rPr lang="it-IT" dirty="0" err="1"/>
            <a:t>traced</a:t>
          </a:r>
          <a:r>
            <a:rPr lang="it-IT" dirty="0"/>
            <a:t> calls.</a:t>
          </a:r>
          <a:endParaRPr lang="en-US" dirty="0"/>
        </a:p>
      </dgm:t>
    </dgm:pt>
    <dgm:pt modelId="{089A659E-EB37-45D2-BFCF-DE6F47F0577D}" type="parTrans" cxnId="{404AF6A3-5008-4BFD-A131-308ED7FFCB2C}">
      <dgm:prSet/>
      <dgm:spPr/>
      <dgm:t>
        <a:bodyPr/>
        <a:lstStyle/>
        <a:p>
          <a:endParaRPr lang="en-US"/>
        </a:p>
      </dgm:t>
    </dgm:pt>
    <dgm:pt modelId="{CD8DCE40-3D3E-4E7F-BB00-773847DE262D}" type="sibTrans" cxnId="{404AF6A3-5008-4BFD-A131-308ED7FFCB2C}">
      <dgm:prSet/>
      <dgm:spPr/>
      <dgm:t>
        <a:bodyPr/>
        <a:lstStyle/>
        <a:p>
          <a:endParaRPr lang="en-US"/>
        </a:p>
      </dgm:t>
    </dgm:pt>
    <dgm:pt modelId="{0413416D-001B-4EEF-8F79-31059C33EFD7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One </a:t>
          </a:r>
          <a:r>
            <a:rPr lang="it-IT" dirty="0" err="1"/>
            <a:t>instance</a:t>
          </a:r>
          <a:r>
            <a:rPr lang="it-IT" dirty="0"/>
            <a:t> can front SQL Server, Azure SQL and </a:t>
          </a:r>
          <a:r>
            <a:rPr lang="it-IT" dirty="0" err="1"/>
            <a:t>Fabric</a:t>
          </a:r>
          <a:r>
            <a:rPr lang="it-IT" dirty="0"/>
            <a:t> </a:t>
          </a:r>
          <a:r>
            <a:rPr lang="it-IT" dirty="0" err="1"/>
            <a:t>at</a:t>
          </a:r>
          <a:r>
            <a:rPr lang="it-IT" dirty="0"/>
            <a:t> once.</a:t>
          </a:r>
          <a:endParaRPr lang="en-US" dirty="0"/>
        </a:p>
      </dgm:t>
    </dgm:pt>
    <dgm:pt modelId="{47134EEA-E691-446D-89E1-8DE2D72ACAF4}" type="parTrans" cxnId="{E18A1A03-D7C8-440E-A2A2-295D94EE2BCB}">
      <dgm:prSet/>
      <dgm:spPr/>
      <dgm:t>
        <a:bodyPr/>
        <a:lstStyle/>
        <a:p>
          <a:endParaRPr lang="en-US"/>
        </a:p>
      </dgm:t>
    </dgm:pt>
    <dgm:pt modelId="{2A5EA328-F31A-44F1-B183-555C650E1CD6}" type="sibTrans" cxnId="{E18A1A03-D7C8-440E-A2A2-295D94EE2BCB}">
      <dgm:prSet/>
      <dgm:spPr/>
      <dgm:t>
        <a:bodyPr/>
        <a:lstStyle/>
        <a:p>
          <a:endParaRPr lang="en-US"/>
        </a:p>
      </dgm:t>
    </dgm:pt>
    <dgm:pt modelId="{BFA8A4EA-C3F6-4F28-8196-41C8022249C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 err="1"/>
            <a:t>It</a:t>
          </a:r>
          <a:r>
            <a:rPr lang="it-IT" dirty="0"/>
            <a:t> </a:t>
          </a:r>
          <a:r>
            <a:rPr lang="it-IT" dirty="0" err="1"/>
            <a:t>is</a:t>
          </a:r>
          <a:r>
            <a:rPr lang="it-IT" dirty="0"/>
            <a:t> a </a:t>
          </a:r>
          <a:r>
            <a:rPr lang="it-IT" dirty="0" err="1"/>
            <a:t>stateless</a:t>
          </a:r>
          <a:r>
            <a:rPr lang="it-IT" dirty="0"/>
            <a:t> container: </a:t>
          </a:r>
          <a:r>
            <a:rPr lang="it-IT" dirty="0" err="1"/>
            <a:t>wherever</a:t>
          </a:r>
          <a:r>
            <a:rPr lang="it-IT" dirty="0"/>
            <a:t> </a:t>
          </a:r>
          <a:r>
            <a:rPr lang="it-IT" dirty="0" err="1"/>
            <a:t>you</a:t>
          </a:r>
          <a:r>
            <a:rPr lang="it-IT" dirty="0"/>
            <a:t> </a:t>
          </a:r>
          <a:r>
            <a:rPr lang="it-IT" dirty="0" err="1"/>
            <a:t>run</a:t>
          </a:r>
          <a:r>
            <a:rPr lang="it-IT" dirty="0"/>
            <a:t> containers </a:t>
          </a:r>
          <a:r>
            <a:rPr lang="it-IT" dirty="0" err="1"/>
            <a:t>today</a:t>
          </a:r>
          <a:r>
            <a:rPr lang="it-IT" dirty="0"/>
            <a:t>, </a:t>
          </a:r>
          <a:r>
            <a:rPr lang="it-IT" dirty="0" err="1"/>
            <a:t>you</a:t>
          </a:r>
          <a:r>
            <a:rPr lang="it-IT" dirty="0"/>
            <a:t> can </a:t>
          </a:r>
          <a:r>
            <a:rPr lang="it-IT" dirty="0" err="1"/>
            <a:t>run</a:t>
          </a:r>
          <a:r>
            <a:rPr lang="it-IT" dirty="0"/>
            <a:t> </a:t>
          </a:r>
          <a:r>
            <a:rPr lang="it-IT" dirty="0" err="1"/>
            <a:t>this</a:t>
          </a:r>
          <a:r>
            <a:rPr lang="it-IT" dirty="0"/>
            <a:t> by Friday.</a:t>
          </a:r>
          <a:endParaRPr lang="en-US" dirty="0"/>
        </a:p>
      </dgm:t>
    </dgm:pt>
    <dgm:pt modelId="{2247D5CC-8806-4E3E-BCC3-6D6EEC1672EC}" type="parTrans" cxnId="{67D860AF-B71E-4584-8272-2B5D031B9877}">
      <dgm:prSet/>
      <dgm:spPr/>
      <dgm:t>
        <a:bodyPr/>
        <a:lstStyle/>
        <a:p>
          <a:endParaRPr lang="en-US"/>
        </a:p>
      </dgm:t>
    </dgm:pt>
    <dgm:pt modelId="{47419D4C-FE20-454C-8F3A-25C2CC567EDE}" type="sibTrans" cxnId="{67D860AF-B71E-4584-8272-2B5D031B9877}">
      <dgm:prSet/>
      <dgm:spPr/>
      <dgm:t>
        <a:bodyPr/>
        <a:lstStyle/>
        <a:p>
          <a:endParaRPr lang="en-US"/>
        </a:p>
      </dgm:t>
    </dgm:pt>
    <dgm:pt modelId="{F4582D32-8A4B-4B75-AC9A-C6B117F7F1B7}" type="pres">
      <dgm:prSet presAssocID="{14E78564-233D-4E99-B1F4-D26D169C831D}" presName="root" presStyleCnt="0">
        <dgm:presLayoutVars>
          <dgm:dir/>
          <dgm:resizeHandles val="exact"/>
        </dgm:presLayoutVars>
      </dgm:prSet>
      <dgm:spPr/>
    </dgm:pt>
    <dgm:pt modelId="{372BE75B-C99C-4CAF-BBCE-8EAC08B4EF08}" type="pres">
      <dgm:prSet presAssocID="{0967101D-AAAD-4381-B54B-B57DEBB60AF9}" presName="compNode" presStyleCnt="0"/>
      <dgm:spPr/>
    </dgm:pt>
    <dgm:pt modelId="{3DE1FD4B-AEE2-4504-9003-D37221028497}" type="pres">
      <dgm:prSet presAssocID="{0967101D-AAAD-4381-B54B-B57DEBB60AF9}" presName="bgRect" presStyleLbl="bgShp" presStyleIdx="0" presStyleCnt="5"/>
      <dgm:spPr>
        <a:solidFill>
          <a:srgbClr val="F4F4F4"/>
        </a:solidFill>
      </dgm:spPr>
    </dgm:pt>
    <dgm:pt modelId="{01684C2C-0F29-4489-845E-CBB71C90F613}" type="pres">
      <dgm:prSet presAssocID="{0967101D-AAAD-4381-B54B-B57DEBB60AF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E47B01F-C812-4021-B82F-0B48FC483D78}" type="pres">
      <dgm:prSet presAssocID="{0967101D-AAAD-4381-B54B-B57DEBB60AF9}" presName="spaceRect" presStyleCnt="0"/>
      <dgm:spPr/>
    </dgm:pt>
    <dgm:pt modelId="{B9F82407-CDAE-4BD1-9856-9E5AABEEE63C}" type="pres">
      <dgm:prSet presAssocID="{0967101D-AAAD-4381-B54B-B57DEBB60AF9}" presName="parTx" presStyleLbl="revTx" presStyleIdx="0" presStyleCnt="5">
        <dgm:presLayoutVars>
          <dgm:chMax val="0"/>
          <dgm:chPref val="0"/>
        </dgm:presLayoutVars>
      </dgm:prSet>
      <dgm:spPr/>
    </dgm:pt>
    <dgm:pt modelId="{20D3460F-2B8B-4FF5-98CA-FD5BFBA2AA32}" type="pres">
      <dgm:prSet presAssocID="{18DC684E-46D7-4EDA-AB3C-A04A4101CF3F}" presName="sibTrans" presStyleCnt="0"/>
      <dgm:spPr/>
    </dgm:pt>
    <dgm:pt modelId="{77BFA5FE-EAFC-4202-A5DF-3075DE972E0F}" type="pres">
      <dgm:prSet presAssocID="{F8F90714-CA38-4370-A3E9-8557C1CFC0FF}" presName="compNode" presStyleCnt="0"/>
      <dgm:spPr/>
    </dgm:pt>
    <dgm:pt modelId="{A3124478-8CEC-44ED-B385-70D3DEF98930}" type="pres">
      <dgm:prSet presAssocID="{F8F90714-CA38-4370-A3E9-8557C1CFC0FF}" presName="bgRect" presStyleLbl="bgShp" presStyleIdx="1" presStyleCnt="5"/>
      <dgm:spPr>
        <a:solidFill>
          <a:srgbClr val="F4F4F4"/>
        </a:solidFill>
      </dgm:spPr>
    </dgm:pt>
    <dgm:pt modelId="{31B93CED-C9D4-42B2-A996-A569432C8787}" type="pres">
      <dgm:prSet presAssocID="{F8F90714-CA38-4370-A3E9-8557C1CFC0F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8B76B7B-12BA-474D-B15B-958E59608DA9}" type="pres">
      <dgm:prSet presAssocID="{F8F90714-CA38-4370-A3E9-8557C1CFC0FF}" presName="spaceRect" presStyleCnt="0"/>
      <dgm:spPr/>
    </dgm:pt>
    <dgm:pt modelId="{C8E785EB-EF3D-423B-9353-A260CD2F255B}" type="pres">
      <dgm:prSet presAssocID="{F8F90714-CA38-4370-A3E9-8557C1CFC0FF}" presName="parTx" presStyleLbl="revTx" presStyleIdx="1" presStyleCnt="5">
        <dgm:presLayoutVars>
          <dgm:chMax val="0"/>
          <dgm:chPref val="0"/>
        </dgm:presLayoutVars>
      </dgm:prSet>
      <dgm:spPr/>
    </dgm:pt>
    <dgm:pt modelId="{FF41D8C2-0541-4BED-AE12-E70700533293}" type="pres">
      <dgm:prSet presAssocID="{80D838C1-F45D-4987-8E00-EC99E973101A}" presName="sibTrans" presStyleCnt="0"/>
      <dgm:spPr/>
    </dgm:pt>
    <dgm:pt modelId="{8B3E9A6F-AFF1-4211-9F8B-36C4E0958910}" type="pres">
      <dgm:prSet presAssocID="{FE938B44-7ECF-4820-9D3C-469C2D68053C}" presName="compNode" presStyleCnt="0"/>
      <dgm:spPr/>
    </dgm:pt>
    <dgm:pt modelId="{F0D1A561-C42E-4B8C-B051-A18F2545480E}" type="pres">
      <dgm:prSet presAssocID="{FE938B44-7ECF-4820-9D3C-469C2D68053C}" presName="bgRect" presStyleLbl="bgShp" presStyleIdx="2" presStyleCnt="5"/>
      <dgm:spPr>
        <a:solidFill>
          <a:srgbClr val="F4F4F4"/>
        </a:solidFill>
      </dgm:spPr>
    </dgm:pt>
    <dgm:pt modelId="{1A5DD209-EA68-4D5E-A25B-9FE0B46100BB}" type="pres">
      <dgm:prSet presAssocID="{FE938B44-7ECF-4820-9D3C-469C2D68053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granaggi"/>
        </a:ext>
      </dgm:extLst>
    </dgm:pt>
    <dgm:pt modelId="{020F1FD1-43FF-4AF3-AF92-CA70A1E9BB5B}" type="pres">
      <dgm:prSet presAssocID="{FE938B44-7ECF-4820-9D3C-469C2D68053C}" presName="spaceRect" presStyleCnt="0"/>
      <dgm:spPr/>
    </dgm:pt>
    <dgm:pt modelId="{A5C2F639-B364-436B-8530-FE9AB6876C5B}" type="pres">
      <dgm:prSet presAssocID="{FE938B44-7ECF-4820-9D3C-469C2D68053C}" presName="parTx" presStyleLbl="revTx" presStyleIdx="2" presStyleCnt="5">
        <dgm:presLayoutVars>
          <dgm:chMax val="0"/>
          <dgm:chPref val="0"/>
        </dgm:presLayoutVars>
      </dgm:prSet>
      <dgm:spPr/>
    </dgm:pt>
    <dgm:pt modelId="{D7B87744-F855-4D8B-80D3-930DB85D0A01}" type="pres">
      <dgm:prSet presAssocID="{CD8DCE40-3D3E-4E7F-BB00-773847DE262D}" presName="sibTrans" presStyleCnt="0"/>
      <dgm:spPr/>
    </dgm:pt>
    <dgm:pt modelId="{16CF422D-71FC-4E8D-856A-19478D5F7F10}" type="pres">
      <dgm:prSet presAssocID="{0413416D-001B-4EEF-8F79-31059C33EFD7}" presName="compNode" presStyleCnt="0"/>
      <dgm:spPr/>
    </dgm:pt>
    <dgm:pt modelId="{642899FE-3BE6-46C0-BA41-0F32B0E95E48}" type="pres">
      <dgm:prSet presAssocID="{0413416D-001B-4EEF-8F79-31059C33EFD7}" presName="bgRect" presStyleLbl="bgShp" presStyleIdx="3" presStyleCnt="5"/>
      <dgm:spPr>
        <a:solidFill>
          <a:srgbClr val="F4F4F4"/>
        </a:solidFill>
      </dgm:spPr>
    </dgm:pt>
    <dgm:pt modelId="{02279C72-7A64-49FF-9327-2362A2DBCBEA}" type="pres">
      <dgm:prSet presAssocID="{0413416D-001B-4EEF-8F79-31059C33EFD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1D881D4-FA2C-4CC7-9358-68C10E1CE31F}" type="pres">
      <dgm:prSet presAssocID="{0413416D-001B-4EEF-8F79-31059C33EFD7}" presName="spaceRect" presStyleCnt="0"/>
      <dgm:spPr/>
    </dgm:pt>
    <dgm:pt modelId="{FB46C8AC-54EA-47B1-8F0E-430ABC79197F}" type="pres">
      <dgm:prSet presAssocID="{0413416D-001B-4EEF-8F79-31059C33EFD7}" presName="parTx" presStyleLbl="revTx" presStyleIdx="3" presStyleCnt="5">
        <dgm:presLayoutVars>
          <dgm:chMax val="0"/>
          <dgm:chPref val="0"/>
        </dgm:presLayoutVars>
      </dgm:prSet>
      <dgm:spPr/>
    </dgm:pt>
    <dgm:pt modelId="{152001CB-23D0-476E-979D-04ACFE0D3993}" type="pres">
      <dgm:prSet presAssocID="{2A5EA328-F31A-44F1-B183-555C650E1CD6}" presName="sibTrans" presStyleCnt="0"/>
      <dgm:spPr/>
    </dgm:pt>
    <dgm:pt modelId="{3E4D0D73-0B39-49DE-AA64-85B6B3C4B5A7}" type="pres">
      <dgm:prSet presAssocID="{BFA8A4EA-C3F6-4F28-8196-41C8022249CB}" presName="compNode" presStyleCnt="0"/>
      <dgm:spPr/>
    </dgm:pt>
    <dgm:pt modelId="{3D1CE37F-9A2A-47E6-88B7-D2D215298CD9}" type="pres">
      <dgm:prSet presAssocID="{BFA8A4EA-C3F6-4F28-8196-41C8022249CB}" presName="bgRect" presStyleLbl="bgShp" presStyleIdx="4" presStyleCnt="5"/>
      <dgm:spPr>
        <a:solidFill>
          <a:srgbClr val="F4F4F4"/>
        </a:solidFill>
      </dgm:spPr>
    </dgm:pt>
    <dgm:pt modelId="{4C57AFD1-8C4D-460B-AA0D-E32EF2855ED5}" type="pres">
      <dgm:prSet presAssocID="{BFA8A4EA-C3F6-4F28-8196-41C8022249C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tola"/>
        </a:ext>
      </dgm:extLst>
    </dgm:pt>
    <dgm:pt modelId="{E0BB2F52-4A43-4FBB-88D0-BE9A6A4AB31F}" type="pres">
      <dgm:prSet presAssocID="{BFA8A4EA-C3F6-4F28-8196-41C8022249CB}" presName="spaceRect" presStyleCnt="0"/>
      <dgm:spPr/>
    </dgm:pt>
    <dgm:pt modelId="{466C307E-51A2-4E67-BE25-19470CD60D5C}" type="pres">
      <dgm:prSet presAssocID="{BFA8A4EA-C3F6-4F28-8196-41C8022249C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E078602-3CAE-4440-A71D-297365048BA4}" srcId="{14E78564-233D-4E99-B1F4-D26D169C831D}" destId="{F8F90714-CA38-4370-A3E9-8557C1CFC0FF}" srcOrd="1" destOrd="0" parTransId="{DF1193BA-C865-406C-94D7-DF71D4A54DF4}" sibTransId="{80D838C1-F45D-4987-8E00-EC99E973101A}"/>
    <dgm:cxn modelId="{E18A1A03-D7C8-440E-A2A2-295D94EE2BCB}" srcId="{14E78564-233D-4E99-B1F4-D26D169C831D}" destId="{0413416D-001B-4EEF-8F79-31059C33EFD7}" srcOrd="3" destOrd="0" parTransId="{47134EEA-E691-446D-89E1-8DE2D72ACAF4}" sibTransId="{2A5EA328-F31A-44F1-B183-555C650E1CD6}"/>
    <dgm:cxn modelId="{C53A7337-935C-47E1-A406-776CC21EF5FB}" type="presOf" srcId="{0413416D-001B-4EEF-8F79-31059C33EFD7}" destId="{FB46C8AC-54EA-47B1-8F0E-430ABC79197F}" srcOrd="0" destOrd="0" presId="urn:microsoft.com/office/officeart/2018/2/layout/IconVerticalSolidList"/>
    <dgm:cxn modelId="{05CA0041-8517-4E4C-9A59-742CAC3F5F32}" type="presOf" srcId="{FE938B44-7ECF-4820-9D3C-469C2D68053C}" destId="{A5C2F639-B364-436B-8530-FE9AB6876C5B}" srcOrd="0" destOrd="0" presId="urn:microsoft.com/office/officeart/2018/2/layout/IconVerticalSolidList"/>
    <dgm:cxn modelId="{D85B6842-4AEC-4098-A318-AA84DC58C8E7}" type="presOf" srcId="{14E78564-233D-4E99-B1F4-D26D169C831D}" destId="{F4582D32-8A4B-4B75-AC9A-C6B117F7F1B7}" srcOrd="0" destOrd="0" presId="urn:microsoft.com/office/officeart/2018/2/layout/IconVerticalSolidList"/>
    <dgm:cxn modelId="{35C81746-91F9-4581-BC65-3DAE4E9C0A50}" type="presOf" srcId="{0967101D-AAAD-4381-B54B-B57DEBB60AF9}" destId="{B9F82407-CDAE-4BD1-9856-9E5AABEEE63C}" srcOrd="0" destOrd="0" presId="urn:microsoft.com/office/officeart/2018/2/layout/IconVerticalSolidList"/>
    <dgm:cxn modelId="{E0A4F884-A711-471C-A723-5C191FAF4051}" type="presOf" srcId="{BFA8A4EA-C3F6-4F28-8196-41C8022249CB}" destId="{466C307E-51A2-4E67-BE25-19470CD60D5C}" srcOrd="0" destOrd="0" presId="urn:microsoft.com/office/officeart/2018/2/layout/IconVerticalSolidList"/>
    <dgm:cxn modelId="{404AF6A3-5008-4BFD-A131-308ED7FFCB2C}" srcId="{14E78564-233D-4E99-B1F4-D26D169C831D}" destId="{FE938B44-7ECF-4820-9D3C-469C2D68053C}" srcOrd="2" destOrd="0" parTransId="{089A659E-EB37-45D2-BFCF-DE6F47F0577D}" sibTransId="{CD8DCE40-3D3E-4E7F-BB00-773847DE262D}"/>
    <dgm:cxn modelId="{67D860AF-B71E-4584-8272-2B5D031B9877}" srcId="{14E78564-233D-4E99-B1F4-D26D169C831D}" destId="{BFA8A4EA-C3F6-4F28-8196-41C8022249CB}" srcOrd="4" destOrd="0" parTransId="{2247D5CC-8806-4E3E-BCC3-6D6EEC1672EC}" sibTransId="{47419D4C-FE20-454C-8F3A-25C2CC567EDE}"/>
    <dgm:cxn modelId="{20A16DC7-2966-459B-9C3E-0626A6F5479E}" srcId="{14E78564-233D-4E99-B1F4-D26D169C831D}" destId="{0967101D-AAAD-4381-B54B-B57DEBB60AF9}" srcOrd="0" destOrd="0" parTransId="{3EC14DE4-FE05-41B0-8051-C17ABBFEA952}" sibTransId="{18DC684E-46D7-4EDA-AB3C-A04A4101CF3F}"/>
    <dgm:cxn modelId="{788E2AE1-FA89-4787-9955-D287D8EDAB44}" type="presOf" srcId="{F8F90714-CA38-4370-A3E9-8557C1CFC0FF}" destId="{C8E785EB-EF3D-423B-9353-A260CD2F255B}" srcOrd="0" destOrd="0" presId="urn:microsoft.com/office/officeart/2018/2/layout/IconVerticalSolidList"/>
    <dgm:cxn modelId="{B28B8610-90B0-42CC-8999-9688F5166834}" type="presParOf" srcId="{F4582D32-8A4B-4B75-AC9A-C6B117F7F1B7}" destId="{372BE75B-C99C-4CAF-BBCE-8EAC08B4EF08}" srcOrd="0" destOrd="0" presId="urn:microsoft.com/office/officeart/2018/2/layout/IconVerticalSolidList"/>
    <dgm:cxn modelId="{B8F50803-0783-48F1-B589-98714E9BCC8D}" type="presParOf" srcId="{372BE75B-C99C-4CAF-BBCE-8EAC08B4EF08}" destId="{3DE1FD4B-AEE2-4504-9003-D37221028497}" srcOrd="0" destOrd="0" presId="urn:microsoft.com/office/officeart/2018/2/layout/IconVerticalSolidList"/>
    <dgm:cxn modelId="{1834C0AB-5042-4827-8194-324EBE42C04E}" type="presParOf" srcId="{372BE75B-C99C-4CAF-BBCE-8EAC08B4EF08}" destId="{01684C2C-0F29-4489-845E-CBB71C90F613}" srcOrd="1" destOrd="0" presId="urn:microsoft.com/office/officeart/2018/2/layout/IconVerticalSolidList"/>
    <dgm:cxn modelId="{30A3C5EB-FAA6-4678-BC9C-DC0C78ECF53E}" type="presParOf" srcId="{372BE75B-C99C-4CAF-BBCE-8EAC08B4EF08}" destId="{8E47B01F-C812-4021-B82F-0B48FC483D78}" srcOrd="2" destOrd="0" presId="urn:microsoft.com/office/officeart/2018/2/layout/IconVerticalSolidList"/>
    <dgm:cxn modelId="{00B1AFA3-3C2B-4722-B438-926597F6FB51}" type="presParOf" srcId="{372BE75B-C99C-4CAF-BBCE-8EAC08B4EF08}" destId="{B9F82407-CDAE-4BD1-9856-9E5AABEEE63C}" srcOrd="3" destOrd="0" presId="urn:microsoft.com/office/officeart/2018/2/layout/IconVerticalSolidList"/>
    <dgm:cxn modelId="{F5F2FBC3-B20C-428C-A275-0879CF002D1F}" type="presParOf" srcId="{F4582D32-8A4B-4B75-AC9A-C6B117F7F1B7}" destId="{20D3460F-2B8B-4FF5-98CA-FD5BFBA2AA32}" srcOrd="1" destOrd="0" presId="urn:microsoft.com/office/officeart/2018/2/layout/IconVerticalSolidList"/>
    <dgm:cxn modelId="{859E3D30-8A5C-423D-92C9-2A63343EC69D}" type="presParOf" srcId="{F4582D32-8A4B-4B75-AC9A-C6B117F7F1B7}" destId="{77BFA5FE-EAFC-4202-A5DF-3075DE972E0F}" srcOrd="2" destOrd="0" presId="urn:microsoft.com/office/officeart/2018/2/layout/IconVerticalSolidList"/>
    <dgm:cxn modelId="{FD30ADB8-05AC-4103-A00E-E6888AE445A4}" type="presParOf" srcId="{77BFA5FE-EAFC-4202-A5DF-3075DE972E0F}" destId="{A3124478-8CEC-44ED-B385-70D3DEF98930}" srcOrd="0" destOrd="0" presId="urn:microsoft.com/office/officeart/2018/2/layout/IconVerticalSolidList"/>
    <dgm:cxn modelId="{93C6E243-2455-4C7C-A193-F5DB84297027}" type="presParOf" srcId="{77BFA5FE-EAFC-4202-A5DF-3075DE972E0F}" destId="{31B93CED-C9D4-42B2-A996-A569432C8787}" srcOrd="1" destOrd="0" presId="urn:microsoft.com/office/officeart/2018/2/layout/IconVerticalSolidList"/>
    <dgm:cxn modelId="{11198B11-D521-4FF7-8FEC-16AE6E137EA2}" type="presParOf" srcId="{77BFA5FE-EAFC-4202-A5DF-3075DE972E0F}" destId="{28B76B7B-12BA-474D-B15B-958E59608DA9}" srcOrd="2" destOrd="0" presId="urn:microsoft.com/office/officeart/2018/2/layout/IconVerticalSolidList"/>
    <dgm:cxn modelId="{1AE552CF-5CAA-4AB3-9CA3-D38330CC5A5D}" type="presParOf" srcId="{77BFA5FE-EAFC-4202-A5DF-3075DE972E0F}" destId="{C8E785EB-EF3D-423B-9353-A260CD2F255B}" srcOrd="3" destOrd="0" presId="urn:microsoft.com/office/officeart/2018/2/layout/IconVerticalSolidList"/>
    <dgm:cxn modelId="{C7B7252B-C6EC-41DA-9A17-EFAE5F636138}" type="presParOf" srcId="{F4582D32-8A4B-4B75-AC9A-C6B117F7F1B7}" destId="{FF41D8C2-0541-4BED-AE12-E70700533293}" srcOrd="3" destOrd="0" presId="urn:microsoft.com/office/officeart/2018/2/layout/IconVerticalSolidList"/>
    <dgm:cxn modelId="{93A039C0-FF15-4AA6-BA43-187F887CF4C4}" type="presParOf" srcId="{F4582D32-8A4B-4B75-AC9A-C6B117F7F1B7}" destId="{8B3E9A6F-AFF1-4211-9F8B-36C4E0958910}" srcOrd="4" destOrd="0" presId="urn:microsoft.com/office/officeart/2018/2/layout/IconVerticalSolidList"/>
    <dgm:cxn modelId="{D364E30A-6229-4F34-9E47-35A12CDDF42F}" type="presParOf" srcId="{8B3E9A6F-AFF1-4211-9F8B-36C4E0958910}" destId="{F0D1A561-C42E-4B8C-B051-A18F2545480E}" srcOrd="0" destOrd="0" presId="urn:microsoft.com/office/officeart/2018/2/layout/IconVerticalSolidList"/>
    <dgm:cxn modelId="{DFFC331D-E518-4739-8FF5-1E67169EB28D}" type="presParOf" srcId="{8B3E9A6F-AFF1-4211-9F8B-36C4E0958910}" destId="{1A5DD209-EA68-4D5E-A25B-9FE0B46100BB}" srcOrd="1" destOrd="0" presId="urn:microsoft.com/office/officeart/2018/2/layout/IconVerticalSolidList"/>
    <dgm:cxn modelId="{17479CDF-5228-46E6-A5B2-D9109DFA5BAA}" type="presParOf" srcId="{8B3E9A6F-AFF1-4211-9F8B-36C4E0958910}" destId="{020F1FD1-43FF-4AF3-AF92-CA70A1E9BB5B}" srcOrd="2" destOrd="0" presId="urn:microsoft.com/office/officeart/2018/2/layout/IconVerticalSolidList"/>
    <dgm:cxn modelId="{CD72FB74-0590-42A4-A311-142A79577899}" type="presParOf" srcId="{8B3E9A6F-AFF1-4211-9F8B-36C4E0958910}" destId="{A5C2F639-B364-436B-8530-FE9AB6876C5B}" srcOrd="3" destOrd="0" presId="urn:microsoft.com/office/officeart/2018/2/layout/IconVerticalSolidList"/>
    <dgm:cxn modelId="{F31BA230-00B9-48C7-9D5B-58B5BEE11BF5}" type="presParOf" srcId="{F4582D32-8A4B-4B75-AC9A-C6B117F7F1B7}" destId="{D7B87744-F855-4D8B-80D3-930DB85D0A01}" srcOrd="5" destOrd="0" presId="urn:microsoft.com/office/officeart/2018/2/layout/IconVerticalSolidList"/>
    <dgm:cxn modelId="{5FCDF930-0222-46E7-9FAC-E767F0392047}" type="presParOf" srcId="{F4582D32-8A4B-4B75-AC9A-C6B117F7F1B7}" destId="{16CF422D-71FC-4E8D-856A-19478D5F7F10}" srcOrd="6" destOrd="0" presId="urn:microsoft.com/office/officeart/2018/2/layout/IconVerticalSolidList"/>
    <dgm:cxn modelId="{8828C478-CC68-4AC8-8F6B-52D0DEF6BD5F}" type="presParOf" srcId="{16CF422D-71FC-4E8D-856A-19478D5F7F10}" destId="{642899FE-3BE6-46C0-BA41-0F32B0E95E48}" srcOrd="0" destOrd="0" presId="urn:microsoft.com/office/officeart/2018/2/layout/IconVerticalSolidList"/>
    <dgm:cxn modelId="{19F75776-4598-450F-9865-4137635AC77E}" type="presParOf" srcId="{16CF422D-71FC-4E8D-856A-19478D5F7F10}" destId="{02279C72-7A64-49FF-9327-2362A2DBCBEA}" srcOrd="1" destOrd="0" presId="urn:microsoft.com/office/officeart/2018/2/layout/IconVerticalSolidList"/>
    <dgm:cxn modelId="{D35B21CF-E1DC-4FC2-8E57-55785AA2A384}" type="presParOf" srcId="{16CF422D-71FC-4E8D-856A-19478D5F7F10}" destId="{41D881D4-FA2C-4CC7-9358-68C10E1CE31F}" srcOrd="2" destOrd="0" presId="urn:microsoft.com/office/officeart/2018/2/layout/IconVerticalSolidList"/>
    <dgm:cxn modelId="{9CC8067E-9456-488D-BA2D-CEF494A95ACB}" type="presParOf" srcId="{16CF422D-71FC-4E8D-856A-19478D5F7F10}" destId="{FB46C8AC-54EA-47B1-8F0E-430ABC79197F}" srcOrd="3" destOrd="0" presId="urn:microsoft.com/office/officeart/2018/2/layout/IconVerticalSolidList"/>
    <dgm:cxn modelId="{B5B6960A-84B8-4873-8F3C-F530BC7CD8AF}" type="presParOf" srcId="{F4582D32-8A4B-4B75-AC9A-C6B117F7F1B7}" destId="{152001CB-23D0-476E-979D-04ACFE0D3993}" srcOrd="7" destOrd="0" presId="urn:microsoft.com/office/officeart/2018/2/layout/IconVerticalSolidList"/>
    <dgm:cxn modelId="{823C8007-2B97-43C3-B70C-FC12CAA3B5DD}" type="presParOf" srcId="{F4582D32-8A4B-4B75-AC9A-C6B117F7F1B7}" destId="{3E4D0D73-0B39-49DE-AA64-85B6B3C4B5A7}" srcOrd="8" destOrd="0" presId="urn:microsoft.com/office/officeart/2018/2/layout/IconVerticalSolidList"/>
    <dgm:cxn modelId="{078A5DB4-EB20-414A-A260-26765CC8CF4C}" type="presParOf" srcId="{3E4D0D73-0B39-49DE-AA64-85B6B3C4B5A7}" destId="{3D1CE37F-9A2A-47E6-88B7-D2D215298CD9}" srcOrd="0" destOrd="0" presId="urn:microsoft.com/office/officeart/2018/2/layout/IconVerticalSolidList"/>
    <dgm:cxn modelId="{596A7E4E-244B-4889-92FB-38B0A592BE79}" type="presParOf" srcId="{3E4D0D73-0B39-49DE-AA64-85B6B3C4B5A7}" destId="{4C57AFD1-8C4D-460B-AA0D-E32EF2855ED5}" srcOrd="1" destOrd="0" presId="urn:microsoft.com/office/officeart/2018/2/layout/IconVerticalSolidList"/>
    <dgm:cxn modelId="{4F4CF2DE-C41A-423E-93D4-E5A617A32240}" type="presParOf" srcId="{3E4D0D73-0B39-49DE-AA64-85B6B3C4B5A7}" destId="{E0BB2F52-4A43-4FBB-88D0-BE9A6A4AB31F}" srcOrd="2" destOrd="0" presId="urn:microsoft.com/office/officeart/2018/2/layout/IconVerticalSolidList"/>
    <dgm:cxn modelId="{2E331322-E807-4FF8-B2EB-91D6F72CD2E5}" type="presParOf" srcId="{3E4D0D73-0B39-49DE-AA64-85B6B3C4B5A7}" destId="{466C307E-51A2-4E67-BE25-19470CD60D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1FD4B-AEE2-4504-9003-D37221028497}">
      <dsp:nvSpPr>
        <dsp:cNvPr id="0" name=""/>
        <dsp:cNvSpPr/>
      </dsp:nvSpPr>
      <dsp:spPr>
        <a:xfrm>
          <a:off x="0" y="3308"/>
          <a:ext cx="10747375" cy="704805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84C2C-0F29-4489-845E-CBB71C90F613}">
      <dsp:nvSpPr>
        <dsp:cNvPr id="0" name=""/>
        <dsp:cNvSpPr/>
      </dsp:nvSpPr>
      <dsp:spPr>
        <a:xfrm>
          <a:off x="213203" y="161890"/>
          <a:ext cx="387642" cy="3876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82407-CDAE-4BD1-9856-9E5AABEEE63C}">
      <dsp:nvSpPr>
        <dsp:cNvPr id="0" name=""/>
        <dsp:cNvSpPr/>
      </dsp:nvSpPr>
      <dsp:spPr>
        <a:xfrm>
          <a:off x="814050" y="3308"/>
          <a:ext cx="9933324" cy="70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92" tIns="74592" rIns="74592" bIns="7459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A JSON file </a:t>
          </a:r>
          <a:r>
            <a:rPr lang="it-IT" sz="1900" kern="1200" dirty="0" err="1"/>
            <a:t>replaces</a:t>
          </a:r>
          <a:r>
            <a:rPr lang="it-IT" sz="1900" kern="1200" dirty="0"/>
            <a:t> the CRUD </a:t>
          </a:r>
          <a:r>
            <a:rPr lang="it-IT" sz="1900" kern="1200" dirty="0" err="1"/>
            <a:t>layer</a:t>
          </a:r>
          <a:r>
            <a:rPr lang="it-IT" sz="1900" kern="1200" dirty="0"/>
            <a:t> </a:t>
          </a:r>
          <a:r>
            <a:rPr lang="it-IT" sz="1900" kern="1200" dirty="0" err="1"/>
            <a:t>you</a:t>
          </a:r>
          <a:r>
            <a:rPr lang="it-IT" sz="1900" kern="1200" dirty="0"/>
            <a:t> </a:t>
          </a:r>
          <a:r>
            <a:rPr lang="it-IT" sz="1900" kern="1200" dirty="0" err="1"/>
            <a:t>keep</a:t>
          </a:r>
          <a:r>
            <a:rPr lang="it-IT" sz="1900" kern="1200" dirty="0"/>
            <a:t> </a:t>
          </a:r>
          <a:r>
            <a:rPr lang="it-IT" sz="1900" kern="1200" dirty="0" err="1"/>
            <a:t>rewriting</a:t>
          </a:r>
          <a:r>
            <a:rPr lang="it-IT" sz="1900" kern="1200" dirty="0"/>
            <a:t>.</a:t>
          </a:r>
          <a:endParaRPr lang="en-US" sz="1900" kern="1200" dirty="0"/>
        </a:p>
      </dsp:txBody>
      <dsp:txXfrm>
        <a:off x="814050" y="3308"/>
        <a:ext cx="9933324" cy="704805"/>
      </dsp:txXfrm>
    </dsp:sp>
    <dsp:sp modelId="{A3124478-8CEC-44ED-B385-70D3DEF98930}">
      <dsp:nvSpPr>
        <dsp:cNvPr id="0" name=""/>
        <dsp:cNvSpPr/>
      </dsp:nvSpPr>
      <dsp:spPr>
        <a:xfrm>
          <a:off x="0" y="884315"/>
          <a:ext cx="10747375" cy="704805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93CED-C9D4-42B2-A996-A569432C8787}">
      <dsp:nvSpPr>
        <dsp:cNvPr id="0" name=""/>
        <dsp:cNvSpPr/>
      </dsp:nvSpPr>
      <dsp:spPr>
        <a:xfrm>
          <a:off x="213203" y="1042896"/>
          <a:ext cx="387642" cy="3876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785EB-EF3D-423B-9353-A260CD2F255B}">
      <dsp:nvSpPr>
        <dsp:cNvPr id="0" name=""/>
        <dsp:cNvSpPr/>
      </dsp:nvSpPr>
      <dsp:spPr>
        <a:xfrm>
          <a:off x="814050" y="884315"/>
          <a:ext cx="9933324" cy="70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92" tIns="74592" rIns="74592" bIns="7459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One </a:t>
          </a:r>
          <a:r>
            <a:rPr lang="it-IT" sz="1900" kern="1200" dirty="0" err="1"/>
            <a:t>configuration</a:t>
          </a:r>
          <a:r>
            <a:rPr lang="it-IT" sz="1900" kern="1200" dirty="0"/>
            <a:t> </a:t>
          </a:r>
          <a:r>
            <a:rPr lang="it-IT" sz="1900" kern="1200" dirty="0" err="1"/>
            <a:t>serves</a:t>
          </a:r>
          <a:r>
            <a:rPr lang="it-IT" sz="1900" kern="1200" dirty="0"/>
            <a:t> REST, </a:t>
          </a:r>
          <a:r>
            <a:rPr lang="it-IT" sz="1900" kern="1200" dirty="0" err="1"/>
            <a:t>GraphQL</a:t>
          </a:r>
          <a:r>
            <a:rPr lang="it-IT" sz="1900" kern="1200" dirty="0"/>
            <a:t> and MCP with one </a:t>
          </a:r>
          <a:r>
            <a:rPr lang="it-IT" sz="1900" kern="1200" dirty="0" err="1"/>
            <a:t>permission</a:t>
          </a:r>
          <a:r>
            <a:rPr lang="it-IT" sz="1900" kern="1200" dirty="0"/>
            <a:t> model.</a:t>
          </a:r>
          <a:endParaRPr lang="en-US" sz="1900" kern="1200" dirty="0"/>
        </a:p>
      </dsp:txBody>
      <dsp:txXfrm>
        <a:off x="814050" y="884315"/>
        <a:ext cx="9933324" cy="704805"/>
      </dsp:txXfrm>
    </dsp:sp>
    <dsp:sp modelId="{F0D1A561-C42E-4B8C-B051-A18F2545480E}">
      <dsp:nvSpPr>
        <dsp:cNvPr id="0" name=""/>
        <dsp:cNvSpPr/>
      </dsp:nvSpPr>
      <dsp:spPr>
        <a:xfrm>
          <a:off x="0" y="1765322"/>
          <a:ext cx="10747375" cy="704805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DD209-EA68-4D5E-A25B-9FE0B46100BB}">
      <dsp:nvSpPr>
        <dsp:cNvPr id="0" name=""/>
        <dsp:cNvSpPr/>
      </dsp:nvSpPr>
      <dsp:spPr>
        <a:xfrm>
          <a:off x="213203" y="1923903"/>
          <a:ext cx="387642" cy="3876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2F639-B364-436B-8530-FE9AB6876C5B}">
      <dsp:nvSpPr>
        <dsp:cNvPr id="0" name=""/>
        <dsp:cNvSpPr/>
      </dsp:nvSpPr>
      <dsp:spPr>
        <a:xfrm>
          <a:off x="814050" y="1765322"/>
          <a:ext cx="9933324" cy="70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92" tIns="74592" rIns="74592" bIns="7459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2.0 </a:t>
          </a:r>
          <a:r>
            <a:rPr lang="it-IT" sz="1900" kern="1200" dirty="0" err="1"/>
            <a:t>is</a:t>
          </a:r>
          <a:r>
            <a:rPr lang="it-IT" sz="1900" kern="1200" dirty="0"/>
            <a:t> </a:t>
          </a:r>
          <a:r>
            <a:rPr lang="it-IT" sz="1900" kern="1200" dirty="0" err="1"/>
            <a:t>about</a:t>
          </a:r>
          <a:r>
            <a:rPr lang="it-IT" sz="1900" kern="1200" dirty="0"/>
            <a:t> agents and </a:t>
          </a:r>
          <a:r>
            <a:rPr lang="it-IT" sz="1900" kern="1200" dirty="0" err="1"/>
            <a:t>automation</a:t>
          </a:r>
          <a:r>
            <a:rPr lang="it-IT" sz="1900" kern="1200" dirty="0"/>
            <a:t>: auto-</a:t>
          </a:r>
          <a:r>
            <a:rPr lang="it-IT" sz="1900" kern="1200" dirty="0" err="1"/>
            <a:t>config</a:t>
          </a:r>
          <a:r>
            <a:rPr lang="it-IT" sz="1900" kern="1200" dirty="0"/>
            <a:t>, OBO, custom MCP tools, </a:t>
          </a:r>
          <a:r>
            <a:rPr lang="it-IT" sz="1900" kern="1200" dirty="0" err="1"/>
            <a:t>traced</a:t>
          </a:r>
          <a:r>
            <a:rPr lang="it-IT" sz="1900" kern="1200" dirty="0"/>
            <a:t> calls.</a:t>
          </a:r>
          <a:endParaRPr lang="en-US" sz="1900" kern="1200" dirty="0"/>
        </a:p>
      </dsp:txBody>
      <dsp:txXfrm>
        <a:off x="814050" y="1765322"/>
        <a:ext cx="9933324" cy="704805"/>
      </dsp:txXfrm>
    </dsp:sp>
    <dsp:sp modelId="{642899FE-3BE6-46C0-BA41-0F32B0E95E48}">
      <dsp:nvSpPr>
        <dsp:cNvPr id="0" name=""/>
        <dsp:cNvSpPr/>
      </dsp:nvSpPr>
      <dsp:spPr>
        <a:xfrm>
          <a:off x="0" y="2646329"/>
          <a:ext cx="10747375" cy="704805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79C72-7A64-49FF-9327-2362A2DBCBEA}">
      <dsp:nvSpPr>
        <dsp:cNvPr id="0" name=""/>
        <dsp:cNvSpPr/>
      </dsp:nvSpPr>
      <dsp:spPr>
        <a:xfrm>
          <a:off x="213203" y="2804910"/>
          <a:ext cx="387642" cy="3876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6C8AC-54EA-47B1-8F0E-430ABC79197F}">
      <dsp:nvSpPr>
        <dsp:cNvPr id="0" name=""/>
        <dsp:cNvSpPr/>
      </dsp:nvSpPr>
      <dsp:spPr>
        <a:xfrm>
          <a:off x="814050" y="2646329"/>
          <a:ext cx="9933324" cy="70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92" tIns="74592" rIns="74592" bIns="7459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One </a:t>
          </a:r>
          <a:r>
            <a:rPr lang="it-IT" sz="1900" kern="1200" dirty="0" err="1"/>
            <a:t>instance</a:t>
          </a:r>
          <a:r>
            <a:rPr lang="it-IT" sz="1900" kern="1200" dirty="0"/>
            <a:t> can front SQL Server, Azure SQL and </a:t>
          </a:r>
          <a:r>
            <a:rPr lang="it-IT" sz="1900" kern="1200" dirty="0" err="1"/>
            <a:t>Fabric</a:t>
          </a:r>
          <a:r>
            <a:rPr lang="it-IT" sz="1900" kern="1200" dirty="0"/>
            <a:t> </a:t>
          </a:r>
          <a:r>
            <a:rPr lang="it-IT" sz="1900" kern="1200" dirty="0" err="1"/>
            <a:t>at</a:t>
          </a:r>
          <a:r>
            <a:rPr lang="it-IT" sz="1900" kern="1200" dirty="0"/>
            <a:t> once.</a:t>
          </a:r>
          <a:endParaRPr lang="en-US" sz="1900" kern="1200" dirty="0"/>
        </a:p>
      </dsp:txBody>
      <dsp:txXfrm>
        <a:off x="814050" y="2646329"/>
        <a:ext cx="9933324" cy="704805"/>
      </dsp:txXfrm>
    </dsp:sp>
    <dsp:sp modelId="{3D1CE37F-9A2A-47E6-88B7-D2D215298CD9}">
      <dsp:nvSpPr>
        <dsp:cNvPr id="0" name=""/>
        <dsp:cNvSpPr/>
      </dsp:nvSpPr>
      <dsp:spPr>
        <a:xfrm>
          <a:off x="0" y="3527335"/>
          <a:ext cx="10747375" cy="704805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7AFD1-8C4D-460B-AA0D-E32EF2855ED5}">
      <dsp:nvSpPr>
        <dsp:cNvPr id="0" name=""/>
        <dsp:cNvSpPr/>
      </dsp:nvSpPr>
      <dsp:spPr>
        <a:xfrm>
          <a:off x="213203" y="3685916"/>
          <a:ext cx="387642" cy="3876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C307E-51A2-4E67-BE25-19470CD60D5C}">
      <dsp:nvSpPr>
        <dsp:cNvPr id="0" name=""/>
        <dsp:cNvSpPr/>
      </dsp:nvSpPr>
      <dsp:spPr>
        <a:xfrm>
          <a:off x="814050" y="3527335"/>
          <a:ext cx="9933324" cy="70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92" tIns="74592" rIns="74592" bIns="7459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It</a:t>
          </a:r>
          <a:r>
            <a:rPr lang="it-IT" sz="1900" kern="1200" dirty="0"/>
            <a:t> </a:t>
          </a:r>
          <a:r>
            <a:rPr lang="it-IT" sz="1900" kern="1200" dirty="0" err="1"/>
            <a:t>is</a:t>
          </a:r>
          <a:r>
            <a:rPr lang="it-IT" sz="1900" kern="1200" dirty="0"/>
            <a:t> a </a:t>
          </a:r>
          <a:r>
            <a:rPr lang="it-IT" sz="1900" kern="1200" dirty="0" err="1"/>
            <a:t>stateless</a:t>
          </a:r>
          <a:r>
            <a:rPr lang="it-IT" sz="1900" kern="1200" dirty="0"/>
            <a:t> container: </a:t>
          </a:r>
          <a:r>
            <a:rPr lang="it-IT" sz="1900" kern="1200" dirty="0" err="1"/>
            <a:t>wherever</a:t>
          </a:r>
          <a:r>
            <a:rPr lang="it-IT" sz="1900" kern="1200" dirty="0"/>
            <a:t> </a:t>
          </a:r>
          <a:r>
            <a:rPr lang="it-IT" sz="1900" kern="1200" dirty="0" err="1"/>
            <a:t>you</a:t>
          </a:r>
          <a:r>
            <a:rPr lang="it-IT" sz="1900" kern="1200" dirty="0"/>
            <a:t> </a:t>
          </a:r>
          <a:r>
            <a:rPr lang="it-IT" sz="1900" kern="1200" dirty="0" err="1"/>
            <a:t>run</a:t>
          </a:r>
          <a:r>
            <a:rPr lang="it-IT" sz="1900" kern="1200" dirty="0"/>
            <a:t> containers </a:t>
          </a:r>
          <a:r>
            <a:rPr lang="it-IT" sz="1900" kern="1200" dirty="0" err="1"/>
            <a:t>today</a:t>
          </a:r>
          <a:r>
            <a:rPr lang="it-IT" sz="1900" kern="1200" dirty="0"/>
            <a:t>, </a:t>
          </a:r>
          <a:r>
            <a:rPr lang="it-IT" sz="1900" kern="1200" dirty="0" err="1"/>
            <a:t>you</a:t>
          </a:r>
          <a:r>
            <a:rPr lang="it-IT" sz="1900" kern="1200" dirty="0"/>
            <a:t> can </a:t>
          </a:r>
          <a:r>
            <a:rPr lang="it-IT" sz="1900" kern="1200" dirty="0" err="1"/>
            <a:t>run</a:t>
          </a:r>
          <a:r>
            <a:rPr lang="it-IT" sz="1900" kern="1200" dirty="0"/>
            <a:t> </a:t>
          </a:r>
          <a:r>
            <a:rPr lang="it-IT" sz="1900" kern="1200" dirty="0" err="1"/>
            <a:t>this</a:t>
          </a:r>
          <a:r>
            <a:rPr lang="it-IT" sz="1900" kern="1200" dirty="0"/>
            <a:t> by Friday.</a:t>
          </a:r>
          <a:endParaRPr lang="en-US" sz="1900" kern="1200" dirty="0"/>
        </a:p>
      </dsp:txBody>
      <dsp:txXfrm>
        <a:off x="814050" y="3527335"/>
        <a:ext cx="9933324" cy="7048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F35C5-8403-5147-8FDD-5AD19DE2861F}" type="datetimeFigureOut">
              <a:rPr lang="it-IT" smtClean="0"/>
              <a:t>18/09/26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FCE85-32FA-C949-B648-57EA91B41A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076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FCE85-32FA-C949-B648-57EA91B41A2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6381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FCE85-32FA-C949-B648-57EA91B41A2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7055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Set expectations. Medium technical level: I assume T-SQL and HTTP, I do not assume .NET.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Say clearly that DAB is MIT-licensed and free - people always ask about licensing at the end, kill the question early.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193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Ask the question out loud and pause for three seconds. Most people answer 'ten to twenty percent business logic'. That gap is the entire value proposition of DAB. Anecdote slot: mention a real project where the API layer was more code than the ETL it fed.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456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Stress 'configuration-driven, not code generation'. There is no scaffolded project that rots. Stress that the three surfaces share one permission model - that is the single most under-appreciated thing about DAB and the reason it beats hand-rolled MCP servers.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801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Walk left to right. The key box is the entity abstraction layer: consumers never see the schema, they see the entities you chose to publish. That is what makes the MCP story safe later. Mention that the engine is stateless - scaling is just more containers.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972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Two honest caveats: minimum versions matter (SQL Server 2016, PostgreSQL 11, MySQL 8), and the feature matrix is not uniform. The SQL family is where DAB is strongest - which is also where this audience lives.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746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file top to bottom once, slowly. Three sections only: where the data is, how the engine behaves, what you publish. Call out @env and Azure Key Vault now - it prevents the 'you put a password in JSON' objection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 1 is essentially this slide executed live. </a:t>
            </a:r>
            <a:r>
              <a:rPr lang="en-US" dirty="0" err="1"/>
              <a:t>Emphasise</a:t>
            </a:r>
            <a:r>
              <a:rPr lang="en-US" dirty="0"/>
              <a:t> dab validate in CI: it is the cheapest guard rail you will ever add. Mention that the config file name does not matter, dab-</a:t>
            </a:r>
            <a:r>
              <a:rPr lang="en-US" dirty="0" err="1"/>
              <a:t>config.json</a:t>
            </a:r>
            <a:r>
              <a:rPr lang="en-US" dirty="0"/>
              <a:t> is only a convention.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3533DC3A-525E-3045-BDA5-2044B6E34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90" t="41573" r="17590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E8D9C57-EDAB-41F6-AFAF-54397FCB7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005958"/>
            <a:ext cx="9144000" cy="2117615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FEBB164-BB1F-4549-8055-FF06C3EB2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244662"/>
            <a:ext cx="9144000" cy="990600"/>
          </a:xfrm>
        </p:spPr>
        <p:txBody>
          <a:bodyPr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07CCBD-1C52-4B7F-9154-77FEAED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B6F0F8-55E1-4B46-BF16-812F8FD6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7997B4-8347-437A-A14A-D1D75082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3BB163B-0C6A-7746-934C-F3585602FE19}"/>
              </a:ext>
            </a:extLst>
          </p:cNvPr>
          <p:cNvSpPr txBox="1"/>
          <p:nvPr userDrawn="1"/>
        </p:nvSpPr>
        <p:spPr>
          <a:xfrm rot="5400000">
            <a:off x="10554436" y="1268231"/>
            <a:ext cx="290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  <a:latin typeface="Airlock" pitchFamily="2"/>
              </a:rPr>
              <a:t>SQL START! 2026</a:t>
            </a:r>
          </a:p>
        </p:txBody>
      </p:sp>
    </p:spTree>
    <p:extLst>
      <p:ext uri="{BB962C8B-B14F-4D97-AF65-F5344CB8AC3E}">
        <p14:creationId xmlns:p14="http://schemas.microsoft.com/office/powerpoint/2010/main" val="156906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C6B96B-21C1-4C23-99D9-8D07A317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59C894-4C3D-4E7C-B894-E32A4F0FD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26D441-4BCB-4160-9B18-E9B38608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17A55A-A139-4754-A05E-B9AB4783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13A60B-8637-4B90-AA48-C2A9A447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75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21FCF6-9176-4B3E-AC6E-F62FD5C75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667E72-297F-42C0-A113-B8FDFD718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084FCB-09B0-4D5A-858E-3FD93F84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9FF8AD-8F95-43C6-86FF-B7CD1452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CB706BA-F844-4750-91B3-2920B9C6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7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Nuvola 21">
            <a:extLst>
              <a:ext uri="{FF2B5EF4-FFF2-40B4-BE49-F238E27FC236}">
                <a16:creationId xmlns:a16="http://schemas.microsoft.com/office/drawing/2014/main" id="{AE682589-5BA3-AA4C-9A24-37369AA38A9A}"/>
              </a:ext>
            </a:extLst>
          </p:cNvPr>
          <p:cNvSpPr/>
          <p:nvPr userDrawn="1"/>
        </p:nvSpPr>
        <p:spPr>
          <a:xfrm>
            <a:off x="838199" y="1690688"/>
            <a:ext cx="10515600" cy="4523033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084FCB-09B0-4D5A-858E-3FD93F84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9FF8AD-8F95-43C6-86FF-B7CD1452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CB706BA-F844-4750-91B3-2920B9C6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F0E7D913-FAA1-0347-92EF-00CF2D20DD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 err="1"/>
              <a:t>Sponsors</a:t>
            </a:r>
            <a:endParaRPr lang="it-IT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DF2EE3E3-9F36-494B-9F47-4EF8436F42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28" b="866"/>
          <a:stretch>
            <a:fillRect/>
          </a:stretch>
        </p:blipFill>
        <p:spPr>
          <a:xfrm>
            <a:off x="7231461" y="4637430"/>
            <a:ext cx="2163052" cy="898634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7530348F-E7AE-2742-B402-8497381661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817" y="4699983"/>
            <a:ext cx="1234388" cy="898634"/>
          </a:xfrm>
          <a:prstGeom prst="rect">
            <a:avLst/>
          </a:prstGeom>
        </p:spPr>
      </p:pic>
      <p:pic>
        <p:nvPicPr>
          <p:cNvPr id="3" name="Immagine 2" descr="Immagine che contiene Carattere, Elementi grafici, logo, design&#10;&#10;Descrizione generata automaticamente">
            <a:extLst>
              <a:ext uri="{FF2B5EF4-FFF2-40B4-BE49-F238E27FC236}">
                <a16:creationId xmlns:a16="http://schemas.microsoft.com/office/drawing/2014/main" id="{866CFD06-AD62-53AA-1B1F-3D7423F3DC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94" y="4776641"/>
            <a:ext cx="2270924" cy="620211"/>
          </a:xfrm>
          <a:prstGeom prst="rect">
            <a:avLst/>
          </a:prstGeom>
        </p:spPr>
      </p:pic>
      <p:pic>
        <p:nvPicPr>
          <p:cNvPr id="9" name="Immagine 8" descr="Immagine che contiene Carattere, testo, logo, Elementi grafici&#10;&#10;Descrizione generata automaticamente">
            <a:extLst>
              <a:ext uri="{FF2B5EF4-FFF2-40B4-BE49-F238E27FC236}">
                <a16:creationId xmlns:a16="http://schemas.microsoft.com/office/drawing/2014/main" id="{3A31E6D3-60BE-F148-69A9-A077D1AB289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8" r="14065"/>
          <a:stretch>
            <a:fillRect/>
          </a:stretch>
        </p:blipFill>
        <p:spPr>
          <a:xfrm>
            <a:off x="6500038" y="2226834"/>
            <a:ext cx="2270925" cy="10068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765BAD4-68E5-5314-C994-D2BE0FDDA2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576" y="2280932"/>
            <a:ext cx="898634" cy="89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magine 14" descr="Immagine che contiene testo, Carattere, Elementi grafici, schermata&#10;&#10;Descrizione generata automaticamente">
            <a:extLst>
              <a:ext uri="{FF2B5EF4-FFF2-40B4-BE49-F238E27FC236}">
                <a16:creationId xmlns:a16="http://schemas.microsoft.com/office/drawing/2014/main" id="{E78C6FE6-7A8C-4C24-8206-5E1A9AC871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266879"/>
            <a:ext cx="1833645" cy="1238250"/>
          </a:xfrm>
          <a:prstGeom prst="rect">
            <a:avLst/>
          </a:prstGeom>
        </p:spPr>
      </p:pic>
      <p:pic>
        <p:nvPicPr>
          <p:cNvPr id="10" name="Immagine 9" descr="Immagine che contiene Carattere, Elementi grafici, logo, schermata&#10;&#10;Il contenuto generato dall'IA potrebbe non essere corretto.">
            <a:extLst>
              <a:ext uri="{FF2B5EF4-FFF2-40B4-BE49-F238E27FC236}">
                <a16:creationId xmlns:a16="http://schemas.microsoft.com/office/drawing/2014/main" id="{EA5AFA6F-8893-A5E4-12C3-132618F0E2F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556" y="3549931"/>
            <a:ext cx="2013407" cy="67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9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D8C28F-26C3-424F-BAE9-8CFE72CD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665CCC-E2A8-4729-9BD3-09C88A7B7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8A41DCF-B71F-4692-BF6A-326C0592E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AF6905-767E-4A55-AD9E-4F7B997C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830AA4D-B154-4FA4-A3AA-8F3616033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9BD7D1-6A18-43FB-8FBE-6C13EE2E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3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12CFCA-14B3-4D90-B7C7-E98F0FBC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092263-C101-4D54-8299-4F0D52C99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2D1C1E3-EA0D-40C3-BE1D-A01DD02A8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C924B79-6EC3-4B93-BC3B-D6B714D2B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51397A7-92E2-4F90-AB11-46F2F307D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6D0C3CB-4FFC-455A-A8F3-D4D57281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2367649-59C3-4C3B-9570-0B69B914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B22E0C8-326C-4EF6-8F6C-39087C2A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98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F7685D-39A8-45E1-8076-0D7F8373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B082AE-CA71-4080-87AD-C389F18A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72D061B-6416-41D4-8170-E27EC47F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34008C5-4015-45BF-B3C3-F0B6FD20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9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E5559DC-0282-4BF0-AEC5-401C6BC7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2BD0B94-DBB5-409F-90C0-227D7936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4F3AF80-B092-4887-9AD3-0CB51F3D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8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710F51-2462-43AF-97FD-94ABBF45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401C4D-05CA-4506-B253-2DEBAFA8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8AFB9C-6399-43D7-9DB0-D3D81AB36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47DE081-AB61-4877-9041-95AACF96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A2E21D2-B7A8-4592-AE38-E9E7D171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76B77FF-0A48-4638-85A1-D2A89181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52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75FAA3-D3DF-4501-BEAB-C7C2C6FC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6947A22-3D08-417B-9E3B-2268645CF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B3E86F8-044D-4624-B2D9-68E8251B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89A201-3080-47AE-B2B8-D145BF49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87EE6F9-968B-4012-9756-B64BCDB8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4BEAFA-C247-4F56-BF25-644C108E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2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0551BD-F13F-4065-B251-6376BCA8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B4FE99D-5E06-4AFF-8076-D53CD4292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B11221-1471-4F91-8A5D-D5F5E8A23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A03CD4-E997-44B4-9AAF-2B3F9595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F2F704-1F88-4F05-AE17-D0B2BBE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28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B376597-A3B6-4070-8540-E80930DEB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7E6821-2E62-46AD-A1C4-4D22F5DBF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5F66EA-6E31-4E07-B04E-4B544E54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A6A96F-322D-4E57-9528-23960E85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D381D-C8A8-415E-9D64-D045B92E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4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1778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03291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310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2B91804E-D7A7-E941-889E-29EFF5D145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10000"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Marker size="46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90" t="41573" r="1759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E9A8CE2-F354-4BC1-99F0-B32FF09C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B893402-4863-4CBF-B08E-DF06491F6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EE2868-3590-40AE-BD93-5DB2E867D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B8A2E-1AFA-4BEF-9C7E-247DC553EC2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671CF7F-454E-4010-9934-1652C324C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180905-311A-4734-AADD-3D72FAE77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E5A62-CBB8-4123-B37F-683A8030EE6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1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8A3D8709-88CD-D848-A370-A96F8E504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it-IT" dirty="0"/>
              <a:t>Data API Builder 2.0</a:t>
            </a:r>
            <a:br>
              <a:rPr lang="it-IT" dirty="0"/>
            </a:br>
            <a:r>
              <a:rPr lang="it-IT" dirty="0"/>
              <a:t>c</a:t>
            </a:r>
            <a:r>
              <a:rPr lang="it-IT" sz="4400" dirty="0"/>
              <a:t>reare un backend per la tua applicazione in modo rapido e sicuro</a:t>
            </a:r>
            <a:endParaRPr lang="it-IT" dirty="0">
              <a:latin typeface="Segoe Pro Display" panose="020B0502040504020203" pitchFamily="34" charset="0"/>
            </a:endParaRP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01CB1058-9CD1-E448-887D-B6ECC596D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it-IT" dirty="0">
                <a:solidFill>
                  <a:schemeClr val="bg1">
                    <a:lumMod val="95000"/>
                  </a:schemeClr>
                </a:solidFill>
                <a:latin typeface="Segoe Pro Display" panose="020B0502040504020203" pitchFamily="34" charset="0"/>
              </a:rPr>
              <a:t>Danilo Dominici</a:t>
            </a:r>
          </a:p>
          <a:p>
            <a:r>
              <a:rPr lang="it-IT" dirty="0" err="1">
                <a:solidFill>
                  <a:schemeClr val="bg1">
                    <a:lumMod val="95000"/>
                  </a:schemeClr>
                </a:solidFill>
                <a:latin typeface="Segoe Pro Display" panose="020B0502040504020203" pitchFamily="34" charset="0"/>
              </a:rPr>
              <a:t>ddominici@sqlserverinfo.it</a:t>
            </a:r>
            <a:endParaRPr lang="it-IT" dirty="0">
              <a:solidFill>
                <a:schemeClr val="bg1">
                  <a:lumMod val="95000"/>
                </a:schemeClr>
              </a:solidFill>
              <a:latin typeface="Segoe Pro Display" panose="020B05020405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739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324B63-2E7D-4044-9BAE-EFA9832A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Sponsors &amp; Organizers</a:t>
            </a:r>
          </a:p>
        </p:txBody>
      </p:sp>
    </p:spTree>
    <p:extLst>
      <p:ext uri="{BB962C8B-B14F-4D97-AF65-F5344CB8AC3E}">
        <p14:creationId xmlns:p14="http://schemas.microsoft.com/office/powerpoint/2010/main" val="323943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00939E-FF4D-5A32-D059-5DCC6A86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you’ll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leave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with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BDCEB06-EAB2-3187-8182-8E3B21916BD0}"/>
              </a:ext>
            </a:extLst>
          </p:cNvPr>
          <p:cNvSpPr>
            <a:spLocks noGrp="1"/>
          </p:cNvSpPr>
          <p:nvPr/>
        </p:nvSpPr>
        <p:spPr>
          <a:xfrm>
            <a:off x="997839" y="1757160"/>
            <a:ext cx="3048000" cy="2520041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E034691-11EA-55CA-59FC-383A4D1531C7}"/>
              </a:ext>
            </a:extLst>
          </p:cNvPr>
          <p:cNvSpPr>
            <a:spLocks noGrp="1"/>
          </p:cNvSpPr>
          <p:nvPr/>
        </p:nvSpPr>
        <p:spPr>
          <a:xfrm>
            <a:off x="1188339" y="2110943"/>
            <a:ext cx="76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483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F718467-40EB-6365-9BE5-240FFE57FB7B}"/>
              </a:ext>
            </a:extLst>
          </p:cNvPr>
          <p:cNvSpPr>
            <a:spLocks noGrp="1"/>
          </p:cNvSpPr>
          <p:nvPr/>
        </p:nvSpPr>
        <p:spPr>
          <a:xfrm>
            <a:off x="1188339" y="2663393"/>
            <a:ext cx="2667000" cy="16138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mental model</a:t>
            </a:r>
            <a:br>
              <a:rPr lang="it-IT"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sz="20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6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</a:t>
            </a:r>
            <a:r>
              <a:rPr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here DAB fits between databases and consumers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48A5E20-7D70-DF58-0284-57E7E1ACD007}"/>
              </a:ext>
            </a:extLst>
          </p:cNvPr>
          <p:cNvSpPr>
            <a:spLocks noGrp="1"/>
          </p:cNvSpPr>
          <p:nvPr/>
        </p:nvSpPr>
        <p:spPr>
          <a:xfrm>
            <a:off x="4522089" y="1768819"/>
            <a:ext cx="3048000" cy="2520042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877B370-D395-F206-0504-995D60B31899}"/>
              </a:ext>
            </a:extLst>
          </p:cNvPr>
          <p:cNvSpPr>
            <a:spLocks noGrp="1"/>
          </p:cNvSpPr>
          <p:nvPr/>
        </p:nvSpPr>
        <p:spPr>
          <a:xfrm>
            <a:off x="4712589" y="2110943"/>
            <a:ext cx="76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483F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48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0C91547-1FD0-36D7-FBE9-FACE23C68C8D}"/>
              </a:ext>
            </a:extLst>
          </p:cNvPr>
          <p:cNvSpPr>
            <a:spLocks noGrp="1"/>
          </p:cNvSpPr>
          <p:nvPr/>
        </p:nvSpPr>
        <p:spPr>
          <a:xfrm>
            <a:off x="4712589" y="2663392"/>
            <a:ext cx="2667000" cy="161380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working recipe</a:t>
            </a:r>
            <a:br>
              <a:rPr lang="it-IT"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sz="20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CLI commands and JSON for SQL Server, </a:t>
            </a:r>
            <a:r>
              <a:rPr lang="it-IT" sz="16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PostgreSQL</a:t>
            </a:r>
            <a:r>
              <a:rPr lang="it-IT"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SQL and Fabric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2A65AC7-9B23-1398-F83D-023E26D5E003}"/>
              </a:ext>
            </a:extLst>
          </p:cNvPr>
          <p:cNvSpPr>
            <a:spLocks noGrp="1"/>
          </p:cNvSpPr>
          <p:nvPr/>
        </p:nvSpPr>
        <p:spPr>
          <a:xfrm>
            <a:off x="8046339" y="1757158"/>
            <a:ext cx="3048000" cy="2520043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7A1198D-3280-B9C8-2230-4A1B24E56291}"/>
              </a:ext>
            </a:extLst>
          </p:cNvPr>
          <p:cNvSpPr>
            <a:spLocks noGrp="1"/>
          </p:cNvSpPr>
          <p:nvPr/>
        </p:nvSpPr>
        <p:spPr>
          <a:xfrm>
            <a:off x="8236839" y="2110943"/>
            <a:ext cx="76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483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A136DB4-2C14-D23A-A858-50C99B1FAEAA}"/>
              </a:ext>
            </a:extLst>
          </p:cNvPr>
          <p:cNvSpPr>
            <a:spLocks noGrp="1"/>
          </p:cNvSpPr>
          <p:nvPr/>
        </p:nvSpPr>
        <p:spPr>
          <a:xfrm>
            <a:off x="8236839" y="2663393"/>
            <a:ext cx="2667000" cy="16138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deployment path</a:t>
            </a:r>
            <a:br>
              <a:rPr lang="it-IT"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sz="20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</a:t>
            </a:r>
            <a:r>
              <a:rPr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he same container image in Azure Container Instances and AWS</a:t>
            </a:r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647F20E1-1F28-B696-AF03-F7D06AB9C393}"/>
              </a:ext>
            </a:extLst>
          </p:cNvPr>
          <p:cNvSpPr/>
          <p:nvPr/>
        </p:nvSpPr>
        <p:spPr>
          <a:xfrm>
            <a:off x="997839" y="4522019"/>
            <a:ext cx="10096500" cy="1613808"/>
          </a:xfrm>
          <a:prstGeom prst="roundRect">
            <a:avLst>
              <a:gd name="adj" fmla="val 3636"/>
            </a:avLst>
          </a:prstGeom>
          <a:solidFill>
            <a:srgbClr val="E7EAF6"/>
          </a:solidFill>
          <a:ln w="12700">
            <a:solidFill>
              <a:srgbClr val="E7EAF6"/>
            </a:solidFill>
            <a:prstDash val="solid"/>
          </a:ln>
          <a:effectLst>
            <a:outerShdw blurRad="101600" dist="25400" dir="5400000" algn="bl" rotWithShape="0">
              <a:srgbClr val="8890B8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3B521279-C52D-32F9-2529-DA1EBAD1F131}"/>
              </a:ext>
            </a:extLst>
          </p:cNvPr>
          <p:cNvSpPr txBox="1"/>
          <p:nvPr/>
        </p:nvSpPr>
        <p:spPr>
          <a:xfrm>
            <a:off x="1235583" y="4723187"/>
            <a:ext cx="9641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knowledge — and what we will not cover</a:t>
            </a:r>
            <a:endParaRPr lang="en-US" sz="1500" dirty="0"/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70922997-C0F7-97C1-21AE-9DECC442DE0B}"/>
              </a:ext>
            </a:extLst>
          </p:cNvPr>
          <p:cNvSpPr txBox="1"/>
          <p:nvPr/>
        </p:nvSpPr>
        <p:spPr>
          <a:xfrm>
            <a:off x="1235583" y="5180387"/>
            <a:ext cx="976807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T-SQL, basic HTTP/JSON, what a container is. No .NET or GraphQL experience needed.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covered: Cosmos DB / MongoDB sources, Static Web Apps database connections, deep GraphQL schema design.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open source (MIT) and free — there is no premium tier to buy at the end of this talk.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0553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EA1992-7D05-A945-CCEE-C05B31FD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part of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every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data project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nobody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wants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to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own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3E50FE2-64BE-F2DA-E84B-921C689FA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1 - WHY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C1F74DD-81D8-3A1A-7D60-5086B2D94D0C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000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3450" b="1" dirty="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016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8ADFED-AD91-B945-42EF-09ECC860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CRUD API tax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plumbing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keep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rewriting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4EC763-AE55-17B4-583F-673E4EA1A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Boilerplate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controllers,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DTOs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mappers,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validation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pagination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sorting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filtering. Per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table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Again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Security </a:t>
            </a:r>
            <a:r>
              <a:rPr lang="it-IT" sz="2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glue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token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validation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checks,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column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masking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row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filters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reimplemented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per service.</a:t>
            </a:r>
          </a:p>
          <a:p>
            <a:r>
              <a:rPr lang="it-IT" sz="2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Drift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the database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changes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 Monday; the API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catches up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next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sprint.</a:t>
            </a:r>
          </a:p>
          <a:p>
            <a:r>
              <a:rPr lang="it-IT" sz="2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Operations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logging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tracing, health probes, caching, and CI/CD for code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that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moves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rows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75D7D2E-AF09-B914-2BDD-0406C5C6943A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2140A6F-A573-5C9A-EBBE-657DC88949D6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DAB’s bet: the plumbing is a solved problem and should be configuration, not code.</a:t>
            </a:r>
          </a:p>
        </p:txBody>
      </p:sp>
    </p:spTree>
    <p:extLst>
      <p:ext uri="{BB962C8B-B14F-4D97-AF65-F5344CB8AC3E}">
        <p14:creationId xmlns:p14="http://schemas.microsoft.com/office/powerpoint/2010/main" val="2835615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22E4F6D-F2F3-89E2-3E58-9802C059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One JSON file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replaces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generic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API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layer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A86E2B9-5074-E73E-682E-DFE5BA999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An open-source,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configuration-driven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engine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serves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REST,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GraphQL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MCP over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existing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database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objects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Stateless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process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run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container, a sidecar, or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local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CLI.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code generator: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there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no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scaffolded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project to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maintain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7982703-4195-0642-8CCA-3AD5FC09B8A1}"/>
              </a:ext>
            </a:extLst>
          </p:cNvPr>
          <p:cNvSpPr>
            <a:spLocks noGrp="1"/>
          </p:cNvSpPr>
          <p:nvPr/>
        </p:nvSpPr>
        <p:spPr>
          <a:xfrm>
            <a:off x="979266" y="4106360"/>
            <a:ext cx="2286000" cy="666750"/>
          </a:xfrm>
          <a:prstGeom prst="rect">
            <a:avLst/>
          </a:prstGeom>
          <a:solidFill>
            <a:srgbClr val="0078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8AD7B1F-8771-4D6B-6C8B-7C01B420D69C}"/>
              </a:ext>
            </a:extLst>
          </p:cNvPr>
          <p:cNvSpPr>
            <a:spLocks noGrp="1"/>
          </p:cNvSpPr>
          <p:nvPr/>
        </p:nvSpPr>
        <p:spPr>
          <a:xfrm>
            <a:off x="1074516" y="427781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JSON config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7E74C33-22D0-CA5F-87EB-16E8F14567D7}"/>
              </a:ext>
            </a:extLst>
          </p:cNvPr>
          <p:cNvSpPr>
            <a:spLocks noGrp="1"/>
          </p:cNvSpPr>
          <p:nvPr/>
        </p:nvSpPr>
        <p:spPr>
          <a:xfrm>
            <a:off x="3646266" y="4106360"/>
            <a:ext cx="2286000" cy="66675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2A8AD2D-8DCC-1E91-280B-39C7D61A734B}"/>
              </a:ext>
            </a:extLst>
          </p:cNvPr>
          <p:cNvSpPr>
            <a:spLocks noGrp="1"/>
          </p:cNvSpPr>
          <p:nvPr/>
        </p:nvSpPr>
        <p:spPr>
          <a:xfrm>
            <a:off x="3741516" y="427781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0483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483F"/>
                </a:solidFill>
                <a:latin typeface="Arial"/>
                <a:ea typeface="Arial"/>
                <a:cs typeface="Arial"/>
              </a:rPr>
              <a:t>0 lines of API code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65C9DED-A60F-51F6-F3DF-2A4A1BB6B8A1}"/>
              </a:ext>
            </a:extLst>
          </p:cNvPr>
          <p:cNvSpPr>
            <a:spLocks noGrp="1"/>
          </p:cNvSpPr>
          <p:nvPr/>
        </p:nvSpPr>
        <p:spPr>
          <a:xfrm>
            <a:off x="6313266" y="4106360"/>
            <a:ext cx="2286000" cy="666750"/>
          </a:xfrm>
          <a:prstGeom prst="rect">
            <a:avLst/>
          </a:prstGeom>
          <a:solidFill>
            <a:srgbClr val="0078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CC27183-49AD-F446-0FDA-4BC70B8542B3}"/>
              </a:ext>
            </a:extLst>
          </p:cNvPr>
          <p:cNvSpPr>
            <a:spLocks noGrp="1"/>
          </p:cNvSpPr>
          <p:nvPr/>
        </p:nvSpPr>
        <p:spPr>
          <a:xfrm>
            <a:off x="6408516" y="427781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endpoint types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DE70E3F-A3C7-105F-CFA4-EE18F0ECC18B}"/>
              </a:ext>
            </a:extLst>
          </p:cNvPr>
          <p:cNvSpPr>
            <a:spLocks noGrp="1"/>
          </p:cNvSpPr>
          <p:nvPr/>
        </p:nvSpPr>
        <p:spPr>
          <a:xfrm>
            <a:off x="8980266" y="4106360"/>
            <a:ext cx="2286000" cy="66675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FEEEC8A-32F5-BBF1-3348-E6641794B33C}"/>
              </a:ext>
            </a:extLst>
          </p:cNvPr>
          <p:cNvSpPr>
            <a:spLocks noGrp="1"/>
          </p:cNvSpPr>
          <p:nvPr/>
        </p:nvSpPr>
        <p:spPr>
          <a:xfrm>
            <a:off x="9075516" y="427781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0483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483F"/>
                </a:solidFill>
                <a:latin typeface="Arial"/>
                <a:ea typeface="Arial"/>
                <a:cs typeface="Arial"/>
              </a:rPr>
              <a:t>MIT open source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27A3282-1F1E-C2A7-E72F-DBEC4613D4D8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77E2D15-C420-92EA-9C91-CA7CC4077514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entity model, one permission model, three surfaces: REST for integrations, GraphQL for front ends, MCP for agents.</a:t>
            </a:r>
          </a:p>
        </p:txBody>
      </p:sp>
    </p:spTree>
    <p:extLst>
      <p:ext uri="{BB962C8B-B14F-4D97-AF65-F5344CB8AC3E}">
        <p14:creationId xmlns:p14="http://schemas.microsoft.com/office/powerpoint/2010/main" val="207939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CE5A762-A90A-65E3-C393-886701E6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Architecture</a:t>
            </a:r>
            <a:endParaRPr lang="it-IT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82EB796C-A724-58F4-18F2-AC9C8D419CBA}"/>
              </a:ext>
            </a:extLst>
          </p:cNvPr>
          <p:cNvSpPr/>
          <p:nvPr/>
        </p:nvSpPr>
        <p:spPr>
          <a:xfrm>
            <a:off x="566928" y="1600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5A2D0BA7-2A8F-7FDF-D1A6-C399116A21CB}"/>
              </a:ext>
            </a:extLst>
          </p:cNvPr>
          <p:cNvSpPr txBox="1"/>
          <p:nvPr/>
        </p:nvSpPr>
        <p:spPr>
          <a:xfrm>
            <a:off x="749808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client</a:t>
            </a:r>
            <a:endParaRPr lang="en-US" sz="14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D445D2F6-95D8-F57E-23E4-696668BA7AD7}"/>
              </a:ext>
            </a:extLst>
          </p:cNvPr>
          <p:cNvSpPr txBox="1"/>
          <p:nvPr/>
        </p:nvSpPr>
        <p:spPr>
          <a:xfrm>
            <a:off x="749808" y="2029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</a:t>
            </a:r>
            <a:endParaRPr lang="en-US" sz="14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9054FE54-12AA-C41F-106B-F8CB561D66D1}"/>
              </a:ext>
            </a:extLst>
          </p:cNvPr>
          <p:cNvSpPr/>
          <p:nvPr/>
        </p:nvSpPr>
        <p:spPr>
          <a:xfrm>
            <a:off x="3310128" y="2039112"/>
            <a:ext cx="685800" cy="0"/>
          </a:xfrm>
          <a:prstGeom prst="line">
            <a:avLst/>
          </a:prstGeom>
          <a:noFill/>
          <a:ln w="25400">
            <a:solidFill>
              <a:srgbClr val="E08A2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3CA30C4E-628D-F3F6-3726-E68C81781194}"/>
              </a:ext>
            </a:extLst>
          </p:cNvPr>
          <p:cNvSpPr/>
          <p:nvPr/>
        </p:nvSpPr>
        <p:spPr>
          <a:xfrm>
            <a:off x="566928" y="2743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D825743-8211-41FE-B483-BF43A9EA543F}"/>
              </a:ext>
            </a:extLst>
          </p:cNvPr>
          <p:cNvSpPr txBox="1"/>
          <p:nvPr/>
        </p:nvSpPr>
        <p:spPr>
          <a:xfrm>
            <a:off x="749808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client</a:t>
            </a:r>
            <a:endParaRPr lang="en-US" sz="14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05407987-E55B-11A3-34B0-068025145A6F}"/>
              </a:ext>
            </a:extLst>
          </p:cNvPr>
          <p:cNvSpPr txBox="1"/>
          <p:nvPr/>
        </p:nvSpPr>
        <p:spPr>
          <a:xfrm>
            <a:off x="749808" y="3172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/graphql</a:t>
            </a:r>
            <a:endParaRPr lang="en-US" sz="14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72A3B9D7-8CE7-D825-E2ED-218D2996EF7F}"/>
              </a:ext>
            </a:extLst>
          </p:cNvPr>
          <p:cNvSpPr/>
          <p:nvPr/>
        </p:nvSpPr>
        <p:spPr>
          <a:xfrm>
            <a:off x="3310128" y="3182112"/>
            <a:ext cx="685800" cy="0"/>
          </a:xfrm>
          <a:prstGeom prst="line">
            <a:avLst/>
          </a:prstGeom>
          <a:noFill/>
          <a:ln w="25400">
            <a:solidFill>
              <a:srgbClr val="E08A2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4E5F1713-A058-CE3F-714E-808596B54D9C}"/>
              </a:ext>
            </a:extLst>
          </p:cNvPr>
          <p:cNvSpPr/>
          <p:nvPr/>
        </p:nvSpPr>
        <p:spPr>
          <a:xfrm>
            <a:off x="566928" y="3886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8159C5D6-4A3C-6BEA-7B56-D085B6349552}"/>
              </a:ext>
            </a:extLst>
          </p:cNvPr>
          <p:cNvSpPr txBox="1"/>
          <p:nvPr/>
        </p:nvSpPr>
        <p:spPr>
          <a:xfrm>
            <a:off x="749808" y="3995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(MCP)</a:t>
            </a:r>
            <a:endParaRPr lang="en-US" sz="14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979670D9-F2D2-6ED9-97FE-5197776C6601}"/>
              </a:ext>
            </a:extLst>
          </p:cNvPr>
          <p:cNvSpPr txBox="1"/>
          <p:nvPr/>
        </p:nvSpPr>
        <p:spPr>
          <a:xfrm>
            <a:off x="749808" y="4315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14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B950665-8FEC-5A99-0616-A74F4EF9A66B}"/>
              </a:ext>
            </a:extLst>
          </p:cNvPr>
          <p:cNvSpPr/>
          <p:nvPr/>
        </p:nvSpPr>
        <p:spPr>
          <a:xfrm>
            <a:off x="3310128" y="4325112"/>
            <a:ext cx="685800" cy="0"/>
          </a:xfrm>
          <a:prstGeom prst="line">
            <a:avLst/>
          </a:prstGeom>
          <a:noFill/>
          <a:ln w="25400">
            <a:solidFill>
              <a:srgbClr val="E08A2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383479FC-E231-FA90-82BD-3635CE3A0EC3}"/>
              </a:ext>
            </a:extLst>
          </p:cNvPr>
          <p:cNvSpPr/>
          <p:nvPr/>
        </p:nvSpPr>
        <p:spPr>
          <a:xfrm>
            <a:off x="4133088" y="160020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4183C"/>
          </a:solidFill>
          <a:ln w="12700">
            <a:solidFill>
              <a:srgbClr val="1418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FD5DE09D-B520-66CE-3474-8D788F939B07}"/>
              </a:ext>
            </a:extLst>
          </p:cNvPr>
          <p:cNvSpPr txBox="1"/>
          <p:nvPr/>
        </p:nvSpPr>
        <p:spPr>
          <a:xfrm>
            <a:off x="4315968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API builder</a:t>
            </a:r>
            <a:endParaRPr lang="en-US" sz="20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871103A9-CD15-04DE-4FEC-667F946C7B30}"/>
              </a:ext>
            </a:extLst>
          </p:cNvPr>
          <p:cNvSpPr txBox="1"/>
          <p:nvPr/>
        </p:nvSpPr>
        <p:spPr>
          <a:xfrm>
            <a:off x="4315968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container</a:t>
            </a:r>
            <a:endParaRPr lang="en-US" sz="12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A6A41415-D7CD-C96B-3154-2CC1D065C93B}"/>
              </a:ext>
            </a:extLst>
          </p:cNvPr>
          <p:cNvSpPr/>
          <p:nvPr/>
        </p:nvSpPr>
        <p:spPr>
          <a:xfrm>
            <a:off x="4315968" y="256032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69B5DCFC-BFA7-5BBD-C98F-7290599D8098}"/>
              </a:ext>
            </a:extLst>
          </p:cNvPr>
          <p:cNvSpPr txBox="1"/>
          <p:nvPr/>
        </p:nvSpPr>
        <p:spPr>
          <a:xfrm>
            <a:off x="4453128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abstraction layer</a:t>
            </a:r>
            <a:endParaRPr lang="en-US" sz="12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D575D18F-27F5-8012-31F0-F91107D3BE96}"/>
              </a:ext>
            </a:extLst>
          </p:cNvPr>
          <p:cNvSpPr/>
          <p:nvPr/>
        </p:nvSpPr>
        <p:spPr>
          <a:xfrm>
            <a:off x="4315968" y="3136392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CC497DF6-9512-774F-1036-A47D6BE6DBB8}"/>
              </a:ext>
            </a:extLst>
          </p:cNvPr>
          <p:cNvSpPr txBox="1"/>
          <p:nvPr/>
        </p:nvSpPr>
        <p:spPr>
          <a:xfrm>
            <a:off x="4453128" y="3136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item-level policies</a:t>
            </a:r>
            <a:endParaRPr lang="en-US" sz="1200" dirty="0"/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EC7F2D23-F336-CB65-E25A-90FCD33CABE6}"/>
              </a:ext>
            </a:extLst>
          </p:cNvPr>
          <p:cNvSpPr/>
          <p:nvPr/>
        </p:nvSpPr>
        <p:spPr>
          <a:xfrm>
            <a:off x="4315968" y="3712464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7F34A214-F040-9B14-5418-24B68C2B6067}"/>
              </a:ext>
            </a:extLst>
          </p:cNvPr>
          <p:cNvSpPr txBox="1"/>
          <p:nvPr/>
        </p:nvSpPr>
        <p:spPr>
          <a:xfrm>
            <a:off x="4453128" y="37124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builder (deterministic T-SQL)</a:t>
            </a:r>
            <a:endParaRPr lang="en-US" sz="1200" dirty="0"/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63A69E3F-40B9-E160-338B-19D3236F34FD}"/>
              </a:ext>
            </a:extLst>
          </p:cNvPr>
          <p:cNvSpPr/>
          <p:nvPr/>
        </p:nvSpPr>
        <p:spPr>
          <a:xfrm>
            <a:off x="4315968" y="4288536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AF72D40C-BC80-7CF2-1186-06F45528ABC5}"/>
              </a:ext>
            </a:extLst>
          </p:cNvPr>
          <p:cNvSpPr txBox="1"/>
          <p:nvPr/>
        </p:nvSpPr>
        <p:spPr>
          <a:xfrm>
            <a:off x="4453128" y="42885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L1 / L2 · OpenTelemetry</a:t>
            </a:r>
            <a:endParaRPr lang="en-US" sz="1200" dirty="0"/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1DC930BD-B564-4B5A-6BF8-A7161A63E30D}"/>
              </a:ext>
            </a:extLst>
          </p:cNvPr>
          <p:cNvSpPr/>
          <p:nvPr/>
        </p:nvSpPr>
        <p:spPr>
          <a:xfrm>
            <a:off x="8110728" y="1965960"/>
            <a:ext cx="640080" cy="0"/>
          </a:xfrm>
          <a:prstGeom prst="line">
            <a:avLst/>
          </a:prstGeom>
          <a:noFill/>
          <a:ln w="25400">
            <a:solidFill>
              <a:srgbClr val="1F8F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15BFFCAF-78D2-8FD3-4E96-25C0ACD8B315}"/>
              </a:ext>
            </a:extLst>
          </p:cNvPr>
          <p:cNvSpPr/>
          <p:nvPr/>
        </p:nvSpPr>
        <p:spPr>
          <a:xfrm>
            <a:off x="8842248" y="1600200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D2174BB2-2DF1-8293-3C2C-F53E0F28BB19}"/>
              </a:ext>
            </a:extLst>
          </p:cNvPr>
          <p:cNvSpPr txBox="1"/>
          <p:nvPr/>
        </p:nvSpPr>
        <p:spPr>
          <a:xfrm>
            <a:off x="8979408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(on-prem / VM)</a:t>
            </a:r>
            <a:endParaRPr lang="en-US" sz="1400" dirty="0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FEC48880-F71A-2305-885F-7E584879A4EC}"/>
              </a:ext>
            </a:extLst>
          </p:cNvPr>
          <p:cNvSpPr/>
          <p:nvPr/>
        </p:nvSpPr>
        <p:spPr>
          <a:xfrm>
            <a:off x="8110728" y="2834640"/>
            <a:ext cx="640080" cy="0"/>
          </a:xfrm>
          <a:prstGeom prst="line">
            <a:avLst/>
          </a:prstGeom>
          <a:noFill/>
          <a:ln w="25400">
            <a:solidFill>
              <a:srgbClr val="1F8F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99D20D03-B0B6-AFE0-B117-B79D6F1A98B2}"/>
              </a:ext>
            </a:extLst>
          </p:cNvPr>
          <p:cNvSpPr/>
          <p:nvPr/>
        </p:nvSpPr>
        <p:spPr>
          <a:xfrm>
            <a:off x="8842248" y="2468880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C4BB662C-84B6-6D06-DE65-1AFCC6D09175}"/>
              </a:ext>
            </a:extLst>
          </p:cNvPr>
          <p:cNvSpPr txBox="1"/>
          <p:nvPr/>
        </p:nvSpPr>
        <p:spPr>
          <a:xfrm>
            <a:off x="8979408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DB &amp; MI</a:t>
            </a:r>
            <a:endParaRPr lang="en-US" sz="1400" dirty="0"/>
          </a:p>
        </p:txBody>
      </p:sp>
      <p:sp>
        <p:nvSpPr>
          <p:cNvPr id="48" name="Shape 34">
            <a:extLst>
              <a:ext uri="{FF2B5EF4-FFF2-40B4-BE49-F238E27FC236}">
                <a16:creationId xmlns:a16="http://schemas.microsoft.com/office/drawing/2014/main" id="{C3D74A47-07FB-6307-AECD-CC84C6D810AB}"/>
              </a:ext>
            </a:extLst>
          </p:cNvPr>
          <p:cNvSpPr/>
          <p:nvPr/>
        </p:nvSpPr>
        <p:spPr>
          <a:xfrm>
            <a:off x="8110728" y="3703320"/>
            <a:ext cx="640080" cy="0"/>
          </a:xfrm>
          <a:prstGeom prst="line">
            <a:avLst/>
          </a:prstGeom>
          <a:noFill/>
          <a:ln w="25400">
            <a:solidFill>
              <a:srgbClr val="1F8F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35">
            <a:extLst>
              <a:ext uri="{FF2B5EF4-FFF2-40B4-BE49-F238E27FC236}">
                <a16:creationId xmlns:a16="http://schemas.microsoft.com/office/drawing/2014/main" id="{B111C93B-4822-2EA2-A151-C0C44D407C04}"/>
              </a:ext>
            </a:extLst>
          </p:cNvPr>
          <p:cNvSpPr/>
          <p:nvPr/>
        </p:nvSpPr>
        <p:spPr>
          <a:xfrm>
            <a:off x="8842248" y="3337560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931BBDF3-A766-BA01-2CDB-B482C51A7CEA}"/>
              </a:ext>
            </a:extLst>
          </p:cNvPr>
          <p:cNvSpPr txBox="1"/>
          <p:nvPr/>
        </p:nvSpPr>
        <p:spPr>
          <a:xfrm>
            <a:off x="8979408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in Fabric</a:t>
            </a:r>
            <a:endParaRPr lang="en-US" sz="1400" dirty="0"/>
          </a:p>
        </p:txBody>
      </p:sp>
      <p:sp>
        <p:nvSpPr>
          <p:cNvPr id="51" name="Shape 37">
            <a:extLst>
              <a:ext uri="{FF2B5EF4-FFF2-40B4-BE49-F238E27FC236}">
                <a16:creationId xmlns:a16="http://schemas.microsoft.com/office/drawing/2014/main" id="{F5EAEBCD-6CA9-7A90-27B7-E53A6BC8AAFD}"/>
              </a:ext>
            </a:extLst>
          </p:cNvPr>
          <p:cNvSpPr/>
          <p:nvPr/>
        </p:nvSpPr>
        <p:spPr>
          <a:xfrm>
            <a:off x="8110728" y="4572000"/>
            <a:ext cx="640080" cy="0"/>
          </a:xfrm>
          <a:prstGeom prst="line">
            <a:avLst/>
          </a:prstGeom>
          <a:noFill/>
          <a:ln w="25400">
            <a:solidFill>
              <a:srgbClr val="1F8F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38">
            <a:extLst>
              <a:ext uri="{FF2B5EF4-FFF2-40B4-BE49-F238E27FC236}">
                <a16:creationId xmlns:a16="http://schemas.microsoft.com/office/drawing/2014/main" id="{283850D3-6ED0-3AB0-1971-28AAB35C1FFB}"/>
              </a:ext>
            </a:extLst>
          </p:cNvPr>
          <p:cNvSpPr/>
          <p:nvPr/>
        </p:nvSpPr>
        <p:spPr>
          <a:xfrm>
            <a:off x="8842248" y="4206240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E7EAF6"/>
          </a:solidFill>
          <a:ln w="12700">
            <a:solidFill>
              <a:srgbClr val="E7EA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39">
            <a:extLst>
              <a:ext uri="{FF2B5EF4-FFF2-40B4-BE49-F238E27FC236}">
                <a16:creationId xmlns:a16="http://schemas.microsoft.com/office/drawing/2014/main" id="{7EA6A56D-A4DE-30BD-5D27-E87307D26973}"/>
              </a:ext>
            </a:extLst>
          </p:cNvPr>
          <p:cNvSpPr txBox="1"/>
          <p:nvPr/>
        </p:nvSpPr>
        <p:spPr>
          <a:xfrm>
            <a:off x="8979408" y="4206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MySQL · Cosmos DB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90634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86A090E-4BC1-752B-30BF-7B728686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Run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engine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anywhere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containers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run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BFEFFC9-5B33-39E9-F03F-9466310AE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Sources: 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SQL Server 2016+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SQL DB/MI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Synapse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dedicated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PostgreSQL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11+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MySQL 8+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Cosmos DB for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393C724-32F0-8BB3-8E3D-626DEC2BDAF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048500" y="1700213"/>
            <a:ext cx="5143500" cy="4235450"/>
          </a:xfrm>
        </p:spPr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Deployment: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Azure: Container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Instances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Container Apps, AKS, App Service.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AWS / GCP / OCI: ECS/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Fargate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EKS, App Runner, Cloud Run.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premises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Docker,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Kubernetes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or the bare CLI.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Locally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start.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950BB85-4E87-B579-0151-AC400F13B5BE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442F6F2-73A2-B9EE-873C-67EAF59CA107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availability differs by source. The SQL family has the richest GraphQL aggregation, stored procedure, caching and MCP support.</a:t>
            </a:r>
          </a:p>
        </p:txBody>
      </p:sp>
    </p:spTree>
    <p:extLst>
      <p:ext uri="{BB962C8B-B14F-4D97-AF65-F5344CB8AC3E}">
        <p14:creationId xmlns:p14="http://schemas.microsoft.com/office/powerpoint/2010/main" val="73283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64EC-5FA9-837E-0D3E-3F5CD315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5E8745-B3E5-D35C-2F1E-A32A8B5C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One file,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six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commands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three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surfaces</a:t>
            </a: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7377D6-2D3F-18FF-356A-A5E425D2A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2 - CONFIG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1678D68-5D50-B9DE-C086-32145A483AB5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000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it-IT" sz="34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358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6BAA6579-A4A6-496E-B02F-5CE34EBBA4E9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28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" name="Titolo 19">
            <a:extLst>
              <a:ext uri="{FF2B5EF4-FFF2-40B4-BE49-F238E27FC236}">
                <a16:creationId xmlns:a16="http://schemas.microsoft.com/office/drawing/2014/main" id="{E062FFEB-3E0D-60A2-4F3B-AAE2DDE0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dab-config.json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C485E7BC-94FD-C4B8-44A8-A5CC30FF5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57625" cy="4351338"/>
          </a:xfrm>
        </p:spPr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Runtime controls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surfaces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cache, CORS and authentication.</a:t>
            </a:r>
          </a:p>
          <a:p>
            <a:r>
              <a:rPr lang="it-IT" dirty="0" err="1"/>
              <a:t>Entities</a:t>
            </a:r>
            <a:r>
              <a:rPr lang="it-IT" dirty="0"/>
              <a:t> alias </a:t>
            </a:r>
            <a:r>
              <a:rPr lang="it-IT" dirty="0" err="1"/>
              <a:t>tables</a:t>
            </a:r>
            <a:r>
              <a:rPr lang="it-IT" dirty="0"/>
              <a:t>, </a:t>
            </a:r>
            <a:r>
              <a:rPr lang="it-IT" dirty="0" err="1"/>
              <a:t>views</a:t>
            </a:r>
            <a:r>
              <a:rPr lang="it-IT" dirty="0"/>
              <a:t> and </a:t>
            </a:r>
            <a:r>
              <a:rPr lang="it-IT" dirty="0" err="1"/>
              <a:t>stored</a:t>
            </a:r>
            <a:r>
              <a:rPr lang="it-IT" dirty="0"/>
              <a:t> </a:t>
            </a:r>
            <a:r>
              <a:rPr lang="it-IT" dirty="0" err="1"/>
              <a:t>procedures</a:t>
            </a:r>
            <a:endParaRPr lang="it-IT" dirty="0"/>
          </a:p>
          <a:p>
            <a:r>
              <a:rPr lang="it-IT" dirty="0" err="1"/>
              <a:t>Permissions</a:t>
            </a:r>
            <a:r>
              <a:rPr lang="it-IT" dirty="0"/>
              <a:t> decide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role</a:t>
            </a:r>
            <a:r>
              <a:rPr lang="it-IT" dirty="0"/>
              <a:t> can do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DB16290-BE5B-4200-96E8-1F3AE0D8C46F}"/>
              </a:ext>
            </a:extLst>
          </p:cNvPr>
          <p:cNvSpPr>
            <a:spLocks noGrp="1"/>
          </p:cNvSpPr>
          <p:nvPr/>
        </p:nvSpPr>
        <p:spPr>
          <a:xfrm>
            <a:off x="4714875" y="1513610"/>
            <a:ext cx="6858000" cy="3333750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it-IT" dirty="0"/>
              <a:t>&lt;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B99119EC-4180-1A26-292D-610B81A45714}"/>
              </a:ext>
            </a:extLst>
          </p:cNvPr>
          <p:cNvSpPr>
            <a:spLocks noGrp="1"/>
          </p:cNvSpPr>
          <p:nvPr/>
        </p:nvSpPr>
        <p:spPr>
          <a:xfrm>
            <a:off x="4943475" y="1723160"/>
            <a:ext cx="638175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"data-source": { "database-type":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mssql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", "connection-string": "@env('SQL_CONN')" }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"runtime": { "rest": { "enabled": true },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graphql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": { "enabled": true },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mcp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": { "enabled": true } }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"entities": { "Policy": { "source": { "object":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dbo.Policies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", "type": "table" }, "rest": { "path": "policies" } } }</a:t>
            </a:r>
          </a:p>
        </p:txBody>
      </p:sp>
    </p:spTree>
    <p:extLst>
      <p:ext uri="{BB962C8B-B14F-4D97-AF65-F5344CB8AC3E}">
        <p14:creationId xmlns:p14="http://schemas.microsoft.com/office/powerpoint/2010/main" val="26765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DECF996C-A078-4B2D-A3DD-31DAC6278EB1}"/>
              </a:ext>
            </a:extLst>
          </p:cNvPr>
          <p:cNvSpPr>
            <a:spLocks noGrp="1"/>
          </p:cNvSpPr>
          <p:nvPr/>
        </p:nvSpPr>
        <p:spPr>
          <a:xfrm>
            <a:off x="1983404" y="3689288"/>
            <a:ext cx="8522444" cy="2311400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B3E6D61-8830-4BAE-80FD-BFC5B3258D72}"/>
              </a:ext>
            </a:extLst>
          </p:cNvPr>
          <p:cNvSpPr>
            <a:spLocks noGrp="1"/>
          </p:cNvSpPr>
          <p:nvPr/>
        </p:nvSpPr>
        <p:spPr>
          <a:xfrm>
            <a:off x="2299236" y="4033465"/>
            <a:ext cx="7890780" cy="17795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init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--database-type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mssql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--connection-string "@env('SQL_CONN')"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add Policy --source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dbo.Policies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--permissions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reader:read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update Policy --permissions "writer:*"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configure --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runtime.cache.enabled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true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validate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start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EF965CC-894C-45F0-A579-2C057EB46CC3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28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8" name="Titolo 17">
            <a:extLst>
              <a:ext uri="{FF2B5EF4-FFF2-40B4-BE49-F238E27FC236}">
                <a16:creationId xmlns:a16="http://schemas.microsoft.com/office/drawing/2014/main" id="{184B4392-E65C-01ED-D58E-DC43E3A6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Six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commands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cover 95% of the work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1942F153-07E9-DCB9-C574-8BEEBA75C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CLI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writes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schema-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valid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JSON,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scriptable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belongs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CI.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New in 2.0: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auto-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auto-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-simulate, --show-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effective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--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mcp-stdio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31832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D7A6269-A1D2-1EB6-FF18-A2BB4C94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Publish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allowed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see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4C995D-52C1-23C8-F53C-82AF1EC66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Publish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tables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views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stored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procedures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nothing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else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reachable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Rename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objects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columns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hide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fields per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with include /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exclude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Descriptions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become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semantic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hints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agents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over MCP.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based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authorization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controls create /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update / delete /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execute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Item-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level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policies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inject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OData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-style predicate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WHERE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clause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Claims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flow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 session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context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so database RLS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still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works.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999121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F9C1246-53E2-CA9E-1199-050908E9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governed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CRUD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surface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appears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/api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6B6BC0-172C-70C1-8962-6F4AB78F3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GET /api/Policy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collection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GET /api/Policy/id/42 — single item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POST /api/Policy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insert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PATCH / PUT /api/Policy/id/42 — update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upsert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DELETE /api/Policy/id/42 — delete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GET /api/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document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+ Swagger UI</a:t>
            </a:r>
          </a:p>
          <a:p>
            <a:endParaRPr lang="it-IT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BA18DAF-E95C-89FD-5B92-44270223A31F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AE74CF7-0025-7011-59C1-6DBA83D11698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$select · $filter · $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orderby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· $first · $after — OData-like syntax translated into 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parameterised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queries, not string concatenation.</a:t>
            </a:r>
          </a:p>
        </p:txBody>
      </p:sp>
    </p:spTree>
    <p:extLst>
      <p:ext uri="{BB962C8B-B14F-4D97-AF65-F5344CB8AC3E}">
        <p14:creationId xmlns:p14="http://schemas.microsoft.com/office/powerpoint/2010/main" val="205026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494FB6C-65EE-61A4-6065-D2A61501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Relationships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aggregations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without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N+1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BB35A23-53E4-4DDA-3973-5F33E42E3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Relationships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declared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nested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become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single query.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sum,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min, max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count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with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groupBy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available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 the SQL family.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Nested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creates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run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inside one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transaction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 Nitro playground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available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development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mode.</a:t>
            </a: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64380EF-40A4-C3E0-98CB-70DF7A6C6FA1}"/>
              </a:ext>
            </a:extLst>
          </p:cNvPr>
          <p:cNvSpPr>
            <a:spLocks noGrp="1"/>
          </p:cNvSpPr>
          <p:nvPr/>
        </p:nvSpPr>
        <p:spPr>
          <a:xfrm>
            <a:off x="2667000" y="4491037"/>
            <a:ext cx="6858000" cy="1333500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75314A9-3C28-226A-BCEB-2863BC0591E3}"/>
              </a:ext>
            </a:extLst>
          </p:cNvPr>
          <p:cNvSpPr>
            <a:spLocks noGrp="1"/>
          </p:cNvSpPr>
          <p:nvPr/>
        </p:nvSpPr>
        <p:spPr>
          <a:xfrm>
            <a:off x="2895599" y="4700587"/>
            <a:ext cx="6537767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query {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policies(filter: { status: { eq: "active" } })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{ items { id product premium broker { name city } } }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9241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6B85548-4FCE-9CB1-86AA-90BE875E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1: SQL Server on-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premises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zero to API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997EB1E-753C-C2B3-1809-755D27F1B272}"/>
              </a:ext>
            </a:extLst>
          </p:cNvPr>
          <p:cNvSpPr>
            <a:spLocks noGrp="1"/>
          </p:cNvSpPr>
          <p:nvPr/>
        </p:nvSpPr>
        <p:spPr>
          <a:xfrm>
            <a:off x="831520" y="1747446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C504F04-AD2F-1F1A-3BED-7FC69569F3FE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833046-5C43-7F0D-3B10-18B69EEAF085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EA1053E-8BF9-C267-0693-3B669DF8E19D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docker run SQL Server 2022 with a small insurance schema.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2B0F896-8306-6BC0-F72E-74AFA1D3AAB9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BCA0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3B67DA5-4A31-F9E6-803F-94535047B625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</a:t>
            </a:r>
            <a:r>
              <a:rPr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init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dab add Policy / Broker / </a:t>
            </a:r>
            <a:r>
              <a:rPr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vw_PolicySummary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</a:t>
            </a:r>
            <a:r>
              <a:rPr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sp_RenewPolicy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7AB8D98-71AF-F94D-89AD-0E0EBB4E3820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C496CAF-BF91-7C70-FC6E-2297753B195B}"/>
              </a:ext>
            </a:extLst>
          </p:cNvPr>
          <p:cNvSpPr>
            <a:spLocks noGrp="1"/>
          </p:cNvSpPr>
          <p:nvPr/>
        </p:nvSpPr>
        <p:spPr>
          <a:xfrm>
            <a:off x="1066800" y="36766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start → /api/openapi → run a GET from Swagger.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1055A74-1541-5FFD-D813-ED465B724354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76EF162-3E17-5DD5-AA87-991FE447A760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AF84E72-ABAD-7376-19A9-B32F29A02057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 five minutes from empty folder to working REST + </a:t>
            </a: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GraphQL</a:t>
            </a: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API. </a:t>
            </a:r>
            <a:br>
              <a:rPr lang="it-IT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br>
              <a:rPr lang="it-IT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database was already there: nothing migrated, nothing generated.</a:t>
            </a:r>
          </a:p>
        </p:txBody>
      </p:sp>
    </p:spTree>
    <p:extLst>
      <p:ext uri="{BB962C8B-B14F-4D97-AF65-F5344CB8AC3E}">
        <p14:creationId xmlns:p14="http://schemas.microsoft.com/office/powerpoint/2010/main" val="251508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0D84-B627-C6C0-C41C-E0353EF1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EB8060-48F1-C984-9681-865B8B5C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GA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since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June 2026 — agents and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automation</a:t>
            </a: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D28F88A-01CD-E996-7880-06894330E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3 – WHAT’S NEW</a:t>
            </a:r>
          </a:p>
        </p:txBody>
      </p:sp>
    </p:spTree>
    <p:extLst>
      <p:ext uri="{BB962C8B-B14F-4D97-AF65-F5344CB8AC3E}">
        <p14:creationId xmlns:p14="http://schemas.microsoft.com/office/powerpoint/2010/main" val="343376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68AD2-477C-3C08-C1DC-F2FC510D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Nine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changes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move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DAB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closer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 production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B506EC-A83C-05D7-C757-0AFC2EEBC8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Auto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configuration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pattern-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based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entities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re-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evaluated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start</a:t>
            </a:r>
          </a:p>
          <a:p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On-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Behalf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-Of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the database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sees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real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end user</a:t>
            </a:r>
          </a:p>
          <a:p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Custom MCP tools ·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stored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procedures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become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named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agent tools</a:t>
            </a:r>
          </a:p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Unauthenticated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provider ·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simpler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development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default</a:t>
            </a:r>
          </a:p>
          <a:p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inheritance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named-role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authenticated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anonymous</a:t>
            </a:r>
            <a:endParaRPr lang="it-IT" sz="200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</a:pPr>
            <a:endParaRPr lang="it-IT" sz="200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sz="200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B81B3C7-BA05-B3D1-F869-5222FECD6C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Advanced REST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paths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slashes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allowed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paths</a:t>
            </a:r>
            <a:endParaRPr lang="it-IT" sz="200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Permission-aware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a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sees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can call</a:t>
            </a:r>
          </a:p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OpenTelemetry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 default ·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traces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for REST,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GraphQL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MCP</a:t>
            </a:r>
          </a:p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Response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compression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optimal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fastest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none</a:t>
            </a:r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441663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A119FA05-D6E0-97D0-145E-E1946FFD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Stop hand-writing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blocks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for large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schemas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01F42C59-E96D-D146-D5D3-08280E9B3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5990" y="1825625"/>
            <a:ext cx="3737810" cy="4351338"/>
          </a:xfrm>
        </p:spPr>
        <p:txBody>
          <a:bodyPr>
            <a:normAutofit fontScale="92500" lnSpcReduction="1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300-table schema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stops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5,000-line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Patterns are re-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evaluated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start; new matches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appear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automatically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Tables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Microsoft SQL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in 2.0.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Views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procedures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still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add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F4376AA-6FCD-2DCC-C3AC-EEE34DEB0DC1}"/>
              </a:ext>
            </a:extLst>
          </p:cNvPr>
          <p:cNvSpPr>
            <a:spLocks noGrp="1"/>
          </p:cNvSpPr>
          <p:nvPr/>
        </p:nvSpPr>
        <p:spPr>
          <a:xfrm>
            <a:off x="757990" y="2601913"/>
            <a:ext cx="6858000" cy="3333750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F524D18F-60DC-293E-6AE6-9B0B62340C98}"/>
              </a:ext>
            </a:extLst>
          </p:cNvPr>
          <p:cNvSpPr>
            <a:spLocks noGrp="1"/>
          </p:cNvSpPr>
          <p:nvPr/>
        </p:nvSpPr>
        <p:spPr>
          <a:xfrm>
            <a:off x="986590" y="2811463"/>
            <a:ext cx="638175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auto-config my-def --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patterns.include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.%" --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patterns.exclude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dbo.internal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%"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auto-config-simulate  # preview before you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commit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dbo_Products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→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dbo.Products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·  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dbo_Inventory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→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dbo.Inventory</a:t>
            </a:r>
            <a:endParaRPr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94440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6D0F7C4-C36D-371E-68AE-1ADEE66B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inheritance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makes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effective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inspectable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A32EA8B-E023-2850-0D6D-987FB45AA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70897" cy="4351338"/>
          </a:xfrm>
        </p:spPr>
        <p:txBody>
          <a:bodyPr/>
          <a:lstStyle/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named-role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from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authenticated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authenticated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from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anonymous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Define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once on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anonymous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broader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Configure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explicitly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inheritance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stops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there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configure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--show-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effective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turns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hidden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reasoning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reviewable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output.</a:t>
            </a:r>
          </a:p>
          <a:p>
            <a:endParaRPr lang="it-IT" sz="20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DC2AE40-0ADA-5365-9B1A-8CA0F7CC3C2F}"/>
              </a:ext>
            </a:extLst>
          </p:cNvPr>
          <p:cNvSpPr>
            <a:spLocks noGrp="1"/>
          </p:cNvSpPr>
          <p:nvPr/>
        </p:nvSpPr>
        <p:spPr>
          <a:xfrm>
            <a:off x="4628147" y="2601913"/>
            <a:ext cx="6858000" cy="3333750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BB275E9-A06B-04E9-5539-AD6912D9F7B4}"/>
              </a:ext>
            </a:extLst>
          </p:cNvPr>
          <p:cNvSpPr>
            <a:spLocks noGrp="1"/>
          </p:cNvSpPr>
          <p:nvPr/>
        </p:nvSpPr>
        <p:spPr>
          <a:xfrm>
            <a:off x="4856747" y="2811463"/>
            <a:ext cx="638175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Entity: Book  ·  anonymous: Read  ·  authenticated: Read (inherited)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Entity: Order ·  admin: C,R,U,D  ·  anonymous: Read</a:t>
            </a:r>
          </a:p>
        </p:txBody>
      </p:sp>
    </p:spTree>
    <p:extLst>
      <p:ext uri="{BB962C8B-B14F-4D97-AF65-F5344CB8AC3E}">
        <p14:creationId xmlns:p14="http://schemas.microsoft.com/office/powerpoint/2010/main" val="3869462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41277B1-346B-14CE-7241-4536A037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default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intentionally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unauthenticated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E783686-FFEC-45DD-7ECF-00C5C3867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Unauthenticated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request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anonymous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 Good for demos 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internal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read-only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behind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gateway.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EntraId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validates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Microsoft Entra tokens;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come from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claims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Custom JWT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issuer, audience, issuer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signing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key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AppService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EasyAuth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trusts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platform-injected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header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Simulator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fakes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development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host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mode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83FF029-F7A3-BC5A-DE93-5E4F5D07FD60}"/>
              </a:ext>
            </a:extLst>
          </p:cNvPr>
          <p:cNvSpPr>
            <a:spLocks noGrp="1"/>
          </p:cNvSpPr>
          <p:nvPr/>
        </p:nvSpPr>
        <p:spPr>
          <a:xfrm>
            <a:off x="552450" y="5733568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75AAC19-24DD-0B0D-5149-1E626F24F4CE}"/>
              </a:ext>
            </a:extLst>
          </p:cNvPr>
          <p:cNvSpPr>
            <a:spLocks noGrp="1"/>
          </p:cNvSpPr>
          <p:nvPr/>
        </p:nvSpPr>
        <p:spPr>
          <a:xfrm>
            <a:off x="762000" y="5876443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Important: with Unauthenticated, authenticated and custom roles never activate — even if something in front of DAB authenticated the caller.</a:t>
            </a:r>
          </a:p>
        </p:txBody>
      </p:sp>
    </p:spTree>
    <p:extLst>
      <p:ext uri="{BB962C8B-B14F-4D97-AF65-F5344CB8AC3E}">
        <p14:creationId xmlns:p14="http://schemas.microsoft.com/office/powerpoint/2010/main" val="1604080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8168C83A-E114-03F3-BDD4-FCF6F447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database can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user,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service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155826E-6C64-5A76-FF41-0F5F275AC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9459"/>
            <a:ext cx="10515600" cy="3077503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User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signs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gets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JWT. DAB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exchanges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token. Azure SQL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authenticates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end user. RLS and audit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trails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person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mssql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user-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delegated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EntraId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database-audience, app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registration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SQL Entra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acceptance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Trade-off: cache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disabled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one connection pool per user, token-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exchange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latency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6C1E029-64A4-8651-4339-409D4FDCB14D}"/>
              </a:ext>
            </a:extLst>
          </p:cNvPr>
          <p:cNvSpPr>
            <a:spLocks noGrp="1"/>
          </p:cNvSpPr>
          <p:nvPr/>
        </p:nvSpPr>
        <p:spPr>
          <a:xfrm>
            <a:off x="757990" y="1791785"/>
            <a:ext cx="1905000" cy="857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99F8BB6-3707-91CE-3F45-DC41A3506177}"/>
              </a:ext>
            </a:extLst>
          </p:cNvPr>
          <p:cNvSpPr>
            <a:spLocks noGrp="1"/>
          </p:cNvSpPr>
          <p:nvPr/>
        </p:nvSpPr>
        <p:spPr>
          <a:xfrm>
            <a:off x="853240" y="211563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76B23C5-F591-0290-F3CA-3E3EAE53EE9E}"/>
              </a:ext>
            </a:extLst>
          </p:cNvPr>
          <p:cNvSpPr>
            <a:spLocks noGrp="1"/>
          </p:cNvSpPr>
          <p:nvPr/>
        </p:nvSpPr>
        <p:spPr>
          <a:xfrm>
            <a:off x="2758240" y="2039435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06206D8-F483-8A44-C4A0-12A0CA9359DF}"/>
              </a:ext>
            </a:extLst>
          </p:cNvPr>
          <p:cNvSpPr>
            <a:spLocks noGrp="1"/>
          </p:cNvSpPr>
          <p:nvPr/>
        </p:nvSpPr>
        <p:spPr>
          <a:xfrm>
            <a:off x="3424990" y="1791785"/>
            <a:ext cx="1905000" cy="857250"/>
          </a:xfrm>
          <a:prstGeom prst="rect">
            <a:avLst/>
          </a:prstGeom>
          <a:solidFill>
            <a:srgbClr val="0078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361B6F8-4304-918D-C9CD-98C82922B918}"/>
              </a:ext>
            </a:extLst>
          </p:cNvPr>
          <p:cNvSpPr>
            <a:spLocks noGrp="1"/>
          </p:cNvSpPr>
          <p:nvPr/>
        </p:nvSpPr>
        <p:spPr>
          <a:xfrm>
            <a:off x="3520240" y="211563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DAB · OBO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30D557A-AAAE-C49C-80E4-2A2929CBEECB}"/>
              </a:ext>
            </a:extLst>
          </p:cNvPr>
          <p:cNvSpPr>
            <a:spLocks noGrp="1"/>
          </p:cNvSpPr>
          <p:nvPr/>
        </p:nvSpPr>
        <p:spPr>
          <a:xfrm>
            <a:off x="5425240" y="2039435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253593F-B2E3-77BD-CF6D-DAF9F2B82C61}"/>
              </a:ext>
            </a:extLst>
          </p:cNvPr>
          <p:cNvSpPr>
            <a:spLocks noGrp="1"/>
          </p:cNvSpPr>
          <p:nvPr/>
        </p:nvSpPr>
        <p:spPr>
          <a:xfrm>
            <a:off x="6091990" y="1791785"/>
            <a:ext cx="1905000" cy="85725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E68FC90-6CD9-DB8F-3BCD-D182922AEFC8}"/>
              </a:ext>
            </a:extLst>
          </p:cNvPr>
          <p:cNvSpPr>
            <a:spLocks noGrp="1"/>
          </p:cNvSpPr>
          <p:nvPr/>
        </p:nvSpPr>
        <p:spPr>
          <a:xfrm>
            <a:off x="6187240" y="211563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SQL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D22A5CC-F16D-C88C-1597-568DCB99E20B}"/>
              </a:ext>
            </a:extLst>
          </p:cNvPr>
          <p:cNvSpPr>
            <a:spLocks noGrp="1"/>
          </p:cNvSpPr>
          <p:nvPr/>
        </p:nvSpPr>
        <p:spPr>
          <a:xfrm>
            <a:off x="8092240" y="2039435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CA5E683-9D8E-8977-349E-F0A316097A0A}"/>
              </a:ext>
            </a:extLst>
          </p:cNvPr>
          <p:cNvSpPr>
            <a:spLocks noGrp="1"/>
          </p:cNvSpPr>
          <p:nvPr/>
        </p:nvSpPr>
        <p:spPr>
          <a:xfrm>
            <a:off x="8758990" y="1791785"/>
            <a:ext cx="1905000" cy="857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1489468-430F-2D26-3A54-C97C63BA0924}"/>
              </a:ext>
            </a:extLst>
          </p:cNvPr>
          <p:cNvSpPr>
            <a:spLocks noGrp="1"/>
          </p:cNvSpPr>
          <p:nvPr/>
        </p:nvSpPr>
        <p:spPr>
          <a:xfrm>
            <a:off x="8854240" y="211563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RLS / AUDIT</a:t>
            </a:r>
          </a:p>
        </p:txBody>
      </p:sp>
    </p:spTree>
    <p:extLst>
      <p:ext uri="{BB962C8B-B14F-4D97-AF65-F5344CB8AC3E}">
        <p14:creationId xmlns:p14="http://schemas.microsoft.com/office/powerpoint/2010/main" val="1354943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833AE03-2BC1-6822-69AD-15C5B767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Typed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tools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give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agents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governed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data access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4411A48-9C82-8E1F-56F5-C1FB55844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describe_entities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read_records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create_record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update_record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delete_record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execute_entity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aggregate_records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builds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deterministic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T-SQL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through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layer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RBAC and policies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REST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GraphQL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New in 2.0: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procedures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can be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registered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named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custom tools.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Transports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streamable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HTTP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mcp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local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stdio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B85889-EE30-FBBD-1B6E-C63D40CC6E14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F51DCCE-8DCF-396E-9F8A-577FEC855A3B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not NL2SQL? Models are non-deterministic; typed tools keep permissions, caching and traces in the same control plane.</a:t>
            </a:r>
          </a:p>
        </p:txBody>
      </p:sp>
    </p:spTree>
    <p:extLst>
      <p:ext uri="{BB962C8B-B14F-4D97-AF65-F5344CB8AC3E}">
        <p14:creationId xmlns:p14="http://schemas.microsoft.com/office/powerpoint/2010/main" val="3155087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539CE26B-70BA-7F56-F932-C417CE9F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Four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small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changes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remove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client work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1FF42F2-9846-E27E-0440-0C1508F98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Advanced REST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paths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/api/shopping-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cart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/item and /api/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invoice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/item can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coexist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Permission-aware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/{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} shows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reachable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methods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fields.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Keyless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PUT / PATCH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upsert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database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generates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omitted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keys.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Response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compression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optimal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fastest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none.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582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15464EB-4652-168E-EF12-B5FD862F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Observability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before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first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deploy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48FB982-BBDD-9AD8-520E-0898A53C3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Sinks: OTLP for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Grafana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Jaeger, Application Insights, Log Analytics,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structured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file logs.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/health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returns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status,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version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app name; per-source and per-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checks can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add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response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-time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thresholds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MCP tool calls share trace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with REST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GraphQL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000AD1A-134B-238F-9F67-3CF8F7DFA698}"/>
              </a:ext>
            </a:extLst>
          </p:cNvPr>
          <p:cNvSpPr>
            <a:spLocks noGrp="1"/>
          </p:cNvSpPr>
          <p:nvPr/>
        </p:nvSpPr>
        <p:spPr>
          <a:xfrm>
            <a:off x="706437" y="4224759"/>
            <a:ext cx="6858000" cy="1710904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230F0C8-98E2-DC8A-E18E-1A715F532CBF}"/>
              </a:ext>
            </a:extLst>
          </p:cNvPr>
          <p:cNvSpPr>
            <a:spLocks noGrp="1"/>
          </p:cNvSpPr>
          <p:nvPr/>
        </p:nvSpPr>
        <p:spPr>
          <a:xfrm>
            <a:off x="935037" y="4583575"/>
            <a:ext cx="6381750" cy="10853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"telemetry": { "open-telemetry": {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"enabled": true,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"endpoint": "@env('OTEL_EXPORTER_OTLP_ENDPOINT')" } }</a:t>
            </a:r>
          </a:p>
        </p:txBody>
      </p:sp>
    </p:spTree>
    <p:extLst>
      <p:ext uri="{BB962C8B-B14F-4D97-AF65-F5344CB8AC3E}">
        <p14:creationId xmlns:p14="http://schemas.microsoft.com/office/powerpoint/2010/main" val="3240595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ED320C5-F757-C84C-371B-D8E4E33EA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Caching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scales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without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hiding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user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context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4429E47-EA92-E6E6-77B5-68C6D1CF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19475"/>
            <a:ext cx="10515600" cy="2757488"/>
          </a:xfrm>
        </p:spPr>
        <p:txBody>
          <a:bodyPr>
            <a:normAutofit lnSpcReduction="10000"/>
          </a:bodyPr>
          <a:lstStyle/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Request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L1 in-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memory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L2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Redis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database. Misses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write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result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back to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both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layers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L2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provides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shared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cache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across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replicas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warm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restarts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environment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partitions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Caching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applies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 REST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invalidates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write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through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DAB,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-in per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OBO and caching do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mix: per-user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results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must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shared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sz="240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sz="2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CC64D6B-3ACB-C764-F551-BC0D54D1A172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809750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BD10B9D-7AB3-AE14-368A-DC6D71B723CF}"/>
              </a:ext>
            </a:extLst>
          </p:cNvPr>
          <p:cNvSpPr>
            <a:spLocks noGrp="1"/>
          </p:cNvSpPr>
          <p:nvPr/>
        </p:nvSpPr>
        <p:spPr>
          <a:xfrm>
            <a:off x="742950" y="2714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04A6842-B202-6AB6-4997-3E18D1BC2FDE}"/>
              </a:ext>
            </a:extLst>
          </p:cNvPr>
          <p:cNvSpPr>
            <a:spLocks noGrp="1"/>
          </p:cNvSpPr>
          <p:nvPr/>
        </p:nvSpPr>
        <p:spPr>
          <a:xfrm>
            <a:off x="2552700" y="2667000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CFF688D-D9F2-9FE9-EFCD-49E7244860B4}"/>
              </a:ext>
            </a:extLst>
          </p:cNvPr>
          <p:cNvSpPr>
            <a:spLocks noGrp="1"/>
          </p:cNvSpPr>
          <p:nvPr/>
        </p:nvSpPr>
        <p:spPr>
          <a:xfrm>
            <a:off x="3333750" y="2476500"/>
            <a:ext cx="1809750" cy="704850"/>
          </a:xfrm>
          <a:prstGeom prst="rect">
            <a:avLst/>
          </a:prstGeom>
          <a:solidFill>
            <a:srgbClr val="0078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E4FBB2D-4464-CA63-CF87-6E5780EB8EB7}"/>
              </a:ext>
            </a:extLst>
          </p:cNvPr>
          <p:cNvSpPr>
            <a:spLocks noGrp="1"/>
          </p:cNvSpPr>
          <p:nvPr/>
        </p:nvSpPr>
        <p:spPr>
          <a:xfrm>
            <a:off x="3409950" y="2714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MEMORY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78EDA5C-AE1F-ED41-CB7D-8176E5B33CE8}"/>
              </a:ext>
            </a:extLst>
          </p:cNvPr>
          <p:cNvSpPr>
            <a:spLocks noGrp="1"/>
          </p:cNvSpPr>
          <p:nvPr/>
        </p:nvSpPr>
        <p:spPr>
          <a:xfrm>
            <a:off x="5219700" y="2667000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4AAE361-FDE3-C258-CA48-B577C39B1250}"/>
              </a:ext>
            </a:extLst>
          </p:cNvPr>
          <p:cNvSpPr>
            <a:spLocks noGrp="1"/>
          </p:cNvSpPr>
          <p:nvPr/>
        </p:nvSpPr>
        <p:spPr>
          <a:xfrm>
            <a:off x="6000750" y="2476500"/>
            <a:ext cx="1809750" cy="70485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DD687A2-6FE3-E331-5C44-148D439F16E9}"/>
              </a:ext>
            </a:extLst>
          </p:cNvPr>
          <p:cNvSpPr>
            <a:spLocks noGrp="1"/>
          </p:cNvSpPr>
          <p:nvPr/>
        </p:nvSpPr>
        <p:spPr>
          <a:xfrm>
            <a:off x="6076950" y="2714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L2 REDIS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15D069B-1092-6316-3F73-0914A7BA6C4D}"/>
              </a:ext>
            </a:extLst>
          </p:cNvPr>
          <p:cNvSpPr>
            <a:spLocks noGrp="1"/>
          </p:cNvSpPr>
          <p:nvPr/>
        </p:nvSpPr>
        <p:spPr>
          <a:xfrm>
            <a:off x="7886700" y="2667000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727967B-0CB7-B5B9-14DB-03AB1DC783CF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1809750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02B7B79-5266-F137-8E1A-757D714A43AA}"/>
              </a:ext>
            </a:extLst>
          </p:cNvPr>
          <p:cNvSpPr>
            <a:spLocks noGrp="1"/>
          </p:cNvSpPr>
          <p:nvPr/>
        </p:nvSpPr>
        <p:spPr>
          <a:xfrm>
            <a:off x="8743950" y="2714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pic>
        <p:nvPicPr>
          <p:cNvPr id="17" name="Immagine 16" descr="logo-256x256.png">
            <a:extLst>
              <a:ext uri="{FF2B5EF4-FFF2-40B4-BE49-F238E27FC236}">
                <a16:creationId xmlns:a16="http://schemas.microsoft.com/office/drawing/2014/main" id="{51636420-0C0E-E6D0-5CAE-E56F51451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551" y="1393825"/>
            <a:ext cx="1073150" cy="107315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D6DEC662-B3C6-F630-6E7B-1A052C37D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542085"/>
            <a:ext cx="931189" cy="7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3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E349102-6DEE-EC25-D001-EC2641BB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2: Azure SQL — security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layers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E860454-8014-EBCF-F1EB-5B3F2CD13C5B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31DA792-F82D-165D-8CA5-DC221E15D94E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8E9CB5-B8CC-8545-42E2-73E0ADFE9F88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490C66E-04ED-5D72-C4B8-9638624693B4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Point the same config at Azure SQL; use managed identity, no password in the file.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691842E-D642-E919-F586-12527C2B1D61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BCA0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E31038A-F6F3-9D8A-FADE-468B05225D67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3047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Switch Unauthenticated to EntraId; add reader and broker roles.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D67DB7F-E67A-60D1-46C9-1B2FFA9A4C24}"/>
              </a:ext>
            </a:extLst>
          </p:cNvPr>
          <p:cNvSpPr>
            <a:spLocks noGrp="1"/>
          </p:cNvSpPr>
          <p:nvPr/>
        </p:nvSpPr>
        <p:spPr>
          <a:xfrm>
            <a:off x="838200" y="3525455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BA9644C-0739-2D78-2A98-2E17042EDA4D}"/>
              </a:ext>
            </a:extLst>
          </p:cNvPr>
          <p:cNvSpPr>
            <a:spLocks noGrp="1"/>
          </p:cNvSpPr>
          <p:nvPr/>
        </p:nvSpPr>
        <p:spPr>
          <a:xfrm>
            <a:off x="1066800" y="3468305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Add @</a:t>
            </a:r>
            <a:r>
              <a:rPr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item.broker_id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eq @</a:t>
            </a:r>
            <a:r>
              <a:rPr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claims.broker_id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inspect generated permissions.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B2B18A3-D875-E4A0-65BB-6975EAFB882A}"/>
              </a:ext>
            </a:extLst>
          </p:cNvPr>
          <p:cNvSpPr>
            <a:spLocks noGrp="1"/>
          </p:cNvSpPr>
          <p:nvPr/>
        </p:nvSpPr>
        <p:spPr>
          <a:xfrm>
            <a:off x="838200" y="4058855"/>
            <a:ext cx="76200" cy="76200"/>
          </a:xfrm>
          <a:prstGeom prst="rect">
            <a:avLst/>
          </a:prstGeom>
          <a:solidFill>
            <a:srgbClr val="BCA0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E6D7E78-791E-EC9B-3790-C127E68DD210}"/>
              </a:ext>
            </a:extLst>
          </p:cNvPr>
          <p:cNvSpPr>
            <a:spLocks noGrp="1"/>
          </p:cNvSpPr>
          <p:nvPr/>
        </p:nvSpPr>
        <p:spPr>
          <a:xfrm>
            <a:off x="1066800" y="4001705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Compare /openapi/anonymous with /openapi/broker; enable cache and hit twice.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988A6E1-FFD0-2D91-6C51-584C441E26A6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37AC5CB-0709-49F9-BA21-E400851C30D7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D5C5960-0075-7F8A-5E29-0F75293AFEAC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JSON, different data source. The policy lands inside generated T-SQL; claims reach SESSION_CONTEXT.</a:t>
            </a:r>
          </a:p>
        </p:txBody>
      </p:sp>
    </p:spTree>
    <p:extLst>
      <p:ext uri="{BB962C8B-B14F-4D97-AF65-F5344CB8AC3E}">
        <p14:creationId xmlns:p14="http://schemas.microsoft.com/office/powerpoint/2010/main" val="3066478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4AE9-161C-0E6C-D0AF-62E44C8B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3B19D0-A4B6-FDA0-65EE-209DCB81B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One API,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several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databases</a:t>
            </a: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EA239D-CB13-DCD5-F65C-4AB2E50B3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4 – HYBRID</a:t>
            </a:r>
          </a:p>
        </p:txBody>
      </p:sp>
    </p:spTree>
    <p:extLst>
      <p:ext uri="{BB962C8B-B14F-4D97-AF65-F5344CB8AC3E}">
        <p14:creationId xmlns:p14="http://schemas.microsoft.com/office/powerpoint/2010/main" val="2606246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06B95B1-5D60-0A0C-8C98-8C40299C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Compose sources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one join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E26889F-DA5D-5BEA-E22F-9B320FA00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 cross-source joins: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composition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happens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the client/agent.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Useful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linked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servers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viable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data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spans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clouds/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tenants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or consumers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 cross-source joins: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composition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happens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the client/agent.</a:t>
            </a: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7EE3F5E-B896-9C79-8C39-B4D824FD11F0}"/>
              </a:ext>
            </a:extLst>
          </p:cNvPr>
          <p:cNvSpPr>
            <a:spLocks noGrp="1"/>
          </p:cNvSpPr>
          <p:nvPr/>
        </p:nvSpPr>
        <p:spPr>
          <a:xfrm>
            <a:off x="757989" y="4051139"/>
            <a:ext cx="7818851" cy="1884523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2758BE8-46EF-BD24-74B9-D593F3C90107}"/>
              </a:ext>
            </a:extLst>
          </p:cNvPr>
          <p:cNvSpPr>
            <a:spLocks noGrp="1"/>
          </p:cNvSpPr>
          <p:nvPr/>
        </p:nvSpPr>
        <p:spPr>
          <a:xfrm>
            <a:off x="996115" y="4271057"/>
            <a:ext cx="7349232" cy="14052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"data-source-files": ["dab-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config.onprem.json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", "dab-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config.azuresql.json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", "dab-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config.fabric.json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"]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Top-level runtime enables REST,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GraphQL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and MCP for all child files.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Every child needs data-source + entities; names and paths must be unique.</a:t>
            </a:r>
          </a:p>
        </p:txBody>
      </p:sp>
    </p:spTree>
    <p:extLst>
      <p:ext uri="{BB962C8B-B14F-4D97-AF65-F5344CB8AC3E}">
        <p14:creationId xmlns:p14="http://schemas.microsoft.com/office/powerpoint/2010/main" val="2376350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41CA119-C5EF-0DF9-3CE0-816125EC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changes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feature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expectations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8444217-0769-B472-B2AB-DFDFA34FB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SQL database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mssql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Entra authentication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no SQL logins.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Warehouse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Lakehouse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 endpoint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Synapse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dedicated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pool →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dwsql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Lakehouse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 endpoint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read-only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 nature: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expect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aggregations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writes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Use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managed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or service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principal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local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container flow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will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work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here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833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95C3174-76F0-4208-EC88-2C424890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3: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+ multi-source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hybrid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API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6F04D97E-0D71-51CD-702A-E074D0C5A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E322B33-00A5-D3A5-4F41-F2D2292E1880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306930B-CAEF-CFE8-4489-28836B1F2E3F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CF437A3-6EEB-DCA9-2203-2B6C23193EF0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04076CE-ABB8-E0A6-8AAE-91B8A1F0939F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Three child configs: on-prem SQL Server, Azure SQL, Fabric SQL database.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EE36C34-FCF9-B6FB-BB53-85D09AE5D937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BCA0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C5EAF54-6B3C-86C3-EB9A-B5F99C9DFE0B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One top-level file with data-source-files and one runtime block.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7627D20-B317-8D4A-F035-57F3EC2DCF7F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A0E80A1-A588-F9FE-E521-1FFF961BAB03}"/>
              </a:ext>
            </a:extLst>
          </p:cNvPr>
          <p:cNvSpPr>
            <a:spLocks noGrp="1"/>
          </p:cNvSpPr>
          <p:nvPr/>
        </p:nvSpPr>
        <p:spPr>
          <a:xfrm>
            <a:off x="1066800" y="36766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validate → dab start → /api/Policy, /api/Broker, /api/SalesFact.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29A4DEB-99AB-A1E7-57D4-745010432BB4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76200" cy="76200"/>
          </a:xfrm>
          <a:prstGeom prst="rect">
            <a:avLst/>
          </a:prstGeom>
          <a:solidFill>
            <a:srgbClr val="BCA0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BBD1B48E-245C-9E20-0847-B3A8E6E3EF9E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/health reports named sources, status and timing. Trigger a deliberate name collision.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C656DE7-E776-5F03-7F6C-77608C2FB3FE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537D40E-5826-27E7-2E81-769D2C399013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376E1CE-1535-2E7E-45A7-2892640657D4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databases, one OpenAPI document. A friendly startup failure beats a production 500.</a:t>
            </a:r>
          </a:p>
        </p:txBody>
      </p:sp>
    </p:spTree>
    <p:extLst>
      <p:ext uri="{BB962C8B-B14F-4D97-AF65-F5344CB8AC3E}">
        <p14:creationId xmlns:p14="http://schemas.microsoft.com/office/powerpoint/2010/main" val="1239173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58832-2F37-E601-EAE1-2C96A4818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85ABD5-4B1B-5121-1C72-99A44D8F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Call DAB from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your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favorite agent</a:t>
            </a: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BE9EE08-D8EE-CB05-52FD-5D60764EC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5 – MCP	</a:t>
            </a:r>
          </a:p>
        </p:txBody>
      </p:sp>
    </p:spTree>
    <p:extLst>
      <p:ext uri="{BB962C8B-B14F-4D97-AF65-F5344CB8AC3E}">
        <p14:creationId xmlns:p14="http://schemas.microsoft.com/office/powerpoint/2010/main" val="4207105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677B-759D-45F1-BFD5-13445A28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805C2ED-74D7-DBF9-7B0B-A6C81AEA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4: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querying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database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using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natural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language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47CFE434-3AAF-EA6C-7B8B-9E2C53ABE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870B09F-A612-3144-DD83-47B4AF2FC36E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95C8BFD-A705-05A1-6E8A-5D2A367E34C7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278D06D-84EC-84CA-138C-2E5CA309A123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F5ED5CE-B464-055B-3D90-E6381FB4DD2E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app (React/</a:t>
            </a:r>
            <a:r>
              <a:rPr lang="it-IT"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Typescript</a:t>
            </a:r>
            <a:r>
              <a:rPr lang="it-IT"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) </a:t>
            </a:r>
            <a:r>
              <a:rPr lang="it-IT"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that</a:t>
            </a:r>
            <a:r>
              <a:rPr lang="it-IT"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calls MCP </a:t>
            </a:r>
            <a:r>
              <a:rPr lang="it-IT"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exposed</a:t>
            </a:r>
            <a:r>
              <a:rPr lang="it-IT"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 DAB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4CA89501-77B9-D300-7E0E-62FFB3707215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A51108F-7315-F01F-9FEB-63BF583032AC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6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sz="16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validate → </a:t>
            </a:r>
            <a:r>
              <a:rPr lang="it-IT" sz="16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sz="16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start → /api/</a:t>
            </a:r>
            <a:r>
              <a:rPr lang="it-IT" sz="16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PolicySummary</a:t>
            </a:r>
            <a:r>
              <a:rPr lang="it-IT" sz="16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8DEA4D5-A06B-272F-85A1-AFEADA9C0371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C45D8C73-655A-9085-627C-A945C10A94DD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62D8BC2-F742-8DA3-C2DF-A55C482471CF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databases, one OpenAPI document. A friendly startup failure beats a production 500.</a:t>
            </a:r>
          </a:p>
        </p:txBody>
      </p:sp>
    </p:spTree>
    <p:extLst>
      <p:ext uri="{BB962C8B-B14F-4D97-AF65-F5344CB8AC3E}">
        <p14:creationId xmlns:p14="http://schemas.microsoft.com/office/powerpoint/2010/main" val="435363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ADF7-16EA-AD33-CF32-3C34D6BC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DFCB36-96B1-D65C-7F5B-B93DFC05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</a:t>
            </a:r>
            <a:r>
              <a:rPr lang="it-IT" b="1" dirty="0" err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container image, in Azure and on AWS</a:t>
            </a:r>
            <a:br>
              <a:rPr lang="it-IT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</a:b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2A8A3C-0398-EC44-4D7C-E0AA0A041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6 – SHIP IT</a:t>
            </a:r>
          </a:p>
        </p:txBody>
      </p:sp>
    </p:spTree>
    <p:extLst>
      <p:ext uri="{BB962C8B-B14F-4D97-AF65-F5344CB8AC3E}">
        <p14:creationId xmlns:p14="http://schemas.microsoft.com/office/powerpoint/2010/main" val="6497049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B463D7-1053-7C3A-E0A1-96771A7C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Pick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host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matches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operating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model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6C40E99-92AA-DDB7-82E3-13302DAF7D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Container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Instances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fastest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for demos,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internal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pilots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Container Apps — scale to zero,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revisions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managed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AKS — full control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already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run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Kubernetes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4816127-5312-5A81-2BBB-4A81BA269A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App Service — container or code with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EasyAuth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integration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AWS ECS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Fargate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App Runner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public image,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different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task/secret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wiring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Docker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Kubernetes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image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no cloud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required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9572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AA7F2C4-2465-58DC-C01F-1082EC31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Container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Instances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end to end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AA1DBE84-919A-B36D-22B2-002E40B05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Keep the secret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outside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image.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Prefer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managed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or @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akv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() from Key Vault.</a:t>
            </a:r>
          </a:p>
          <a:p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3535592-0FEB-9A55-E0D3-A832FC3E987B}"/>
              </a:ext>
            </a:extLst>
          </p:cNvPr>
          <p:cNvSpPr>
            <a:spLocks noGrp="1"/>
          </p:cNvSpPr>
          <p:nvPr/>
        </p:nvSpPr>
        <p:spPr>
          <a:xfrm>
            <a:off x="706437" y="3970115"/>
            <a:ext cx="10779126" cy="1965547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4B7E32B-A40D-D13C-8FE8-0B3650695C4A}"/>
              </a:ext>
            </a:extLst>
          </p:cNvPr>
          <p:cNvSpPr>
            <a:spLocks noGrp="1"/>
          </p:cNvSpPr>
          <p:nvPr/>
        </p:nvSpPr>
        <p:spPr>
          <a:xfrm>
            <a:off x="935036" y="4201610"/>
            <a:ext cx="10327131" cy="14673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mcr.microsoft.com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/azure-databases/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data-api-builder:latest</a:t>
            </a:r>
            <a:endParaRPr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COPY 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config.json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/App/dab-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config.json</a:t>
            </a:r>
            <a:endParaRPr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az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acr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build --registry $ACR --image dab:1 .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az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container create ... --ports 5000 --environment-variables "DATABASE_CONNECTION_STRING=$CONN"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curl http://&lt;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fqdn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&gt;:5000/health  →  { "status": "healthy", "version": "2.0.x" }</a:t>
            </a:r>
          </a:p>
        </p:txBody>
      </p:sp>
    </p:spTree>
    <p:extLst>
      <p:ext uri="{BB962C8B-B14F-4D97-AF65-F5344CB8AC3E}">
        <p14:creationId xmlns:p14="http://schemas.microsoft.com/office/powerpoint/2010/main" val="1168945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F4FC0A2-B919-AC51-72EE-828A339F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Cloud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changes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API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7A4D4BD-C566-5A4E-8118-25066CCEE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ECS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Fargate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mirror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image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ECR,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expose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port 5000, health-check /health,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inject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Secrets Manager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values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App Runner: point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image for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automatic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HTTPS and scaling.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changes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AWS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no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managed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for Azure SQL; use SQL login or service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principal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from Secrets Manager.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Networking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egress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cost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become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explicit design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decisions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Everything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else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entities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endpoints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byte-for-byte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identical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70076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761C75A-01BD-8E14-A730-3F68A5A8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5: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deploy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 Azure Container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Instances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DB8E44D-61DE-8749-2B52-369C4B23EA54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8BB4978-FB19-14F4-9114-04F1A3389720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0C8143D-F0E2-C11F-2029-6DDB992E872D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60BA1F4-0A9D-DF73-7F7D-A90CF61F1583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Build with az acr build; keep the connection string outside the image.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3EACD17-E487-166A-77F8-AA50843F9D8F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4D726F9-6D03-3423-DE61-80C441D0765A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 container create → curl /health → open /api/openapi.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B15CC7E-07C1-6D70-F077-AEFDE8C6CB17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76200" cy="7620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743286E-3F0C-BA01-E447-68E9639CEB3E}"/>
              </a:ext>
            </a:extLst>
          </p:cNvPr>
          <p:cNvSpPr>
            <a:spLocks noGrp="1"/>
          </p:cNvSpPr>
          <p:nvPr/>
        </p:nvSpPr>
        <p:spPr>
          <a:xfrm>
            <a:off x="1066800" y="36766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Flip host mode to production and show Swagger disappear.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1E30C7B-D165-04B4-F87F-62E0C5D55451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76200" cy="7620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45D7E3D-89BC-2C4B-7719-C8821170BA56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Point an MCP client at /mcp; walk through the same ECS task definition.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A191F86-71F1-782A-6B59-2A671BFF11A4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9B5B1CA-66EA-97CA-1A28-F1BA1FCB675A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1221105-D26E-C2B6-9F16-612609CB8EA1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a JSON file to a public API in roughly three minutes. Production host mode is the most forgotten switch.</a:t>
            </a:r>
          </a:p>
        </p:txBody>
      </p:sp>
    </p:spTree>
    <p:extLst>
      <p:ext uri="{BB962C8B-B14F-4D97-AF65-F5344CB8AC3E}">
        <p14:creationId xmlns:p14="http://schemas.microsoft.com/office/powerpoint/2010/main" val="2718301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4DE9217F-51BA-EC14-842B-D92891B65324}"/>
              </a:ext>
            </a:extLst>
          </p:cNvPr>
          <p:cNvSpPr>
            <a:spLocks noGrp="1"/>
          </p:cNvSpPr>
          <p:nvPr/>
        </p:nvSpPr>
        <p:spPr>
          <a:xfrm>
            <a:off x="773422" y="4067175"/>
            <a:ext cx="10728157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5043784-78E7-B666-8A52-DDE351F4F75F}"/>
              </a:ext>
            </a:extLst>
          </p:cNvPr>
          <p:cNvSpPr>
            <a:spLocks noGrp="1"/>
          </p:cNvSpPr>
          <p:nvPr/>
        </p:nvSpPr>
        <p:spPr>
          <a:xfrm>
            <a:off x="757989" y="2914892"/>
            <a:ext cx="10728157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F9A0F02-AA48-51A8-9690-690C908EA1F3}"/>
              </a:ext>
            </a:extLst>
          </p:cNvPr>
          <p:cNvSpPr>
            <a:spLocks noGrp="1"/>
          </p:cNvSpPr>
          <p:nvPr/>
        </p:nvSpPr>
        <p:spPr>
          <a:xfrm>
            <a:off x="757989" y="1733551"/>
            <a:ext cx="10728157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8BA631F-20C5-B092-C2DD-B2059413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production checklist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short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if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honest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EF28288-5EF3-ED9A-83C8-E45B1B8BAA03}"/>
              </a:ext>
            </a:extLst>
          </p:cNvPr>
          <p:cNvSpPr>
            <a:spLocks noGrp="1"/>
          </p:cNvSpPr>
          <p:nvPr/>
        </p:nvSpPr>
        <p:spPr>
          <a:xfrm>
            <a:off x="1214061" y="2028825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E60087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D8195CE-DB29-309D-2B36-B33F0D5A00F1}"/>
              </a:ext>
            </a:extLst>
          </p:cNvPr>
          <p:cNvSpPr>
            <a:spLocks noGrp="1"/>
          </p:cNvSpPr>
          <p:nvPr/>
        </p:nvSpPr>
        <p:spPr>
          <a:xfrm>
            <a:off x="2875256" y="1885950"/>
            <a:ext cx="7887994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host.mode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=production · 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real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provider · explicit CORS · @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env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/@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akv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secrets · review 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effective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endParaRPr lang="it-IT" sz="14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B096639-1606-1553-C53D-2E07CF118377}"/>
              </a:ext>
            </a:extLst>
          </p:cNvPr>
          <p:cNvSpPr>
            <a:spLocks noGrp="1"/>
          </p:cNvSpPr>
          <p:nvPr/>
        </p:nvSpPr>
        <p:spPr>
          <a:xfrm>
            <a:off x="1329883" y="31813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E60087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46AA73-7478-3804-F8BC-976785784E16}"/>
              </a:ext>
            </a:extLst>
          </p:cNvPr>
          <p:cNvSpPr>
            <a:spLocks noGrp="1"/>
          </p:cNvSpPr>
          <p:nvPr/>
        </p:nvSpPr>
        <p:spPr>
          <a:xfrm>
            <a:off x="2875256" y="3048000"/>
            <a:ext cx="7887994" cy="5717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least-privilege database user · item policies or RLS · publish only intended columns · cache TTLs match writes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7167900-E1BA-B1B1-46A6-6BA51AFB7DB8}"/>
              </a:ext>
            </a:extLst>
          </p:cNvPr>
          <p:cNvSpPr>
            <a:spLocks noGrp="1"/>
          </p:cNvSpPr>
          <p:nvPr/>
        </p:nvSpPr>
        <p:spPr>
          <a:xfrm>
            <a:off x="1109964" y="43305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E60087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5C91CC3-5C6C-C8F2-32CE-A228D1857B95}"/>
              </a:ext>
            </a:extLst>
          </p:cNvPr>
          <p:cNvSpPr>
            <a:spLocks noGrp="1"/>
          </p:cNvSpPr>
          <p:nvPr/>
        </p:nvSpPr>
        <p:spPr>
          <a:xfrm>
            <a:off x="2875256" y="4190999"/>
            <a:ext cx="7887994" cy="581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/health on platform probe · </a:t>
            </a:r>
            <a:r>
              <a:rPr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OTel</a:t>
            </a:r>
            <a:r>
              <a:rPr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traces flowing · dab validate in pipeline · pin image tag · load-test realistic filters</a:t>
            </a:r>
          </a:p>
        </p:txBody>
      </p:sp>
    </p:spTree>
    <p:extLst>
      <p:ext uri="{BB962C8B-B14F-4D97-AF65-F5344CB8AC3E}">
        <p14:creationId xmlns:p14="http://schemas.microsoft.com/office/powerpoint/2010/main" val="8876257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C4B46B-33EB-4D25-9B09-6863D7CD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wrong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answer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problem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business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logic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0B9E3D7-036F-A94B-0E4B-A202D4C10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API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workflow,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data access.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cross-source joins in one call.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DDL from the API; MCP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deliberately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DML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consumer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cannot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expressed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query model.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Rough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edges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primary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keys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required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some SQL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types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serialisable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auto-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tables-only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SQL-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2.0.</a:t>
            </a:r>
          </a:p>
          <a:p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64890A4-1C3E-F7E0-DF6D-184FA755F6A5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123EF65-A594-3398-5A34-454A80EC2C8D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DAB is not a replacement for your application. It replaces the layer nobody wanted to write: generic CRUD endpoints, security glue and observability.</a:t>
            </a:r>
          </a:p>
        </p:txBody>
      </p:sp>
    </p:spTree>
    <p:extLst>
      <p:ext uri="{BB962C8B-B14F-4D97-AF65-F5344CB8AC3E}">
        <p14:creationId xmlns:p14="http://schemas.microsoft.com/office/powerpoint/2010/main" val="26174518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8C7BE0-A89E-3B41-A056-ABEAFA29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Everything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from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today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one click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away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FA4184-DE40-B26C-F160-73F563499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Documentation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learn.microsoft.com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/data-api-builder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What’s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new in 2.0 · 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-new/version-2-0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Feature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availability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/feature-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availability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SQL MCP Server · 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mcp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overview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Code and community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github.com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/Azure/data-api-builder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Container image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mcr.microsoft.com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-databases/data-api-builder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SQL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Devs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’ Corner blog · DAB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category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9219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14DDEF-E8F6-41A2-3B8C-64378827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Five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things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 take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away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9F66B19D-4712-B642-6986-EFEA1CF18854}"/>
              </a:ext>
            </a:extLst>
          </p:cNvPr>
          <p:cNvGraphicFramePr/>
          <p:nvPr/>
        </p:nvGraphicFramePr>
        <p:xfrm>
          <a:off x="738188" y="1700213"/>
          <a:ext cx="10747375" cy="4235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2717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938C1-FC4C-CD11-9F4A-9567D7C3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3F3E07-0793-397E-E759-165F613A9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854011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08F7886-E5E5-5FB0-F444-26665240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That’s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folks!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9C1DAAA-42BF-44AB-57E4-A36604DE7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087832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3412</Words>
  <Application>Microsoft Macintosh PowerPoint</Application>
  <PresentationFormat>Widescreen</PresentationFormat>
  <Paragraphs>302</Paragraphs>
  <Slides>43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43</vt:i4>
      </vt:variant>
    </vt:vector>
  </HeadingPairs>
  <TitlesOfParts>
    <vt:vector size="51" baseType="lpstr">
      <vt:lpstr>Airlock</vt:lpstr>
      <vt:lpstr>Arial</vt:lpstr>
      <vt:lpstr>Calibri</vt:lpstr>
      <vt:lpstr>Calibri Light</vt:lpstr>
      <vt:lpstr>Cambria</vt:lpstr>
      <vt:lpstr>Courier New</vt:lpstr>
      <vt:lpstr>Segoe Pro Display</vt:lpstr>
      <vt:lpstr>Tema di Office</vt:lpstr>
      <vt:lpstr>Data API Builder 2.0 creare un backend per la tua applicazione in modo rapido e sicuro</vt:lpstr>
      <vt:lpstr>Sponsors &amp; Organizers</vt:lpstr>
      <vt:lpstr>What you’ll leave with</vt:lpstr>
      <vt:lpstr>The part of every data project nobody wants to own</vt:lpstr>
      <vt:lpstr>The CRUD API tax is plumbing you keep rewriting </vt:lpstr>
      <vt:lpstr>One JSON file replaces the generic API layer </vt:lpstr>
      <vt:lpstr>Architecture</vt:lpstr>
      <vt:lpstr>Run the same engine anywhere containers run </vt:lpstr>
      <vt:lpstr>One file, six commands, three surfaces</vt:lpstr>
      <vt:lpstr>dab-config.json is the contract </vt:lpstr>
      <vt:lpstr>Six commands cover 95% of the work </vt:lpstr>
      <vt:lpstr>Publish only what a role is allowed to see </vt:lpstr>
      <vt:lpstr>A governed CRUD surface appears at /api </vt:lpstr>
      <vt:lpstr>Relationships and aggregations without N+1 </vt:lpstr>
      <vt:lpstr>Demo 1: SQL Server on-premises — zero to API </vt:lpstr>
      <vt:lpstr>GA since June 2026 — agents and automation</vt:lpstr>
      <vt:lpstr>Nine changes move DAB closer to production </vt:lpstr>
      <vt:lpstr>Stop hand-writing entity blocks for large schemas </vt:lpstr>
      <vt:lpstr>Role inheritance makes effective permissions inspectable </vt:lpstr>
      <vt:lpstr>The default is intentionally unauthenticated </vt:lpstr>
      <vt:lpstr>The database can see the real user, not a service </vt:lpstr>
      <vt:lpstr>Typed tools give agents governed data access </vt:lpstr>
      <vt:lpstr>Four small changes remove real client work </vt:lpstr>
      <vt:lpstr>Observability is wired before the first deploy </vt:lpstr>
      <vt:lpstr>Caching scales reads without hiding user context </vt:lpstr>
      <vt:lpstr>Demo 2: Azure SQL — security in layers </vt:lpstr>
      <vt:lpstr>One API, several databases</vt:lpstr>
      <vt:lpstr>Compose sources into one contract, not one join </vt:lpstr>
      <vt:lpstr>Fabric changes identity and feature expectations </vt:lpstr>
      <vt:lpstr>Demo 3: Fabric + multi-source hybrid API </vt:lpstr>
      <vt:lpstr>Call DAB from your favorite agent</vt:lpstr>
      <vt:lpstr>Demo 4: querying database using natural language </vt:lpstr>
      <vt:lpstr>The same container image, in Azure and on AWS </vt:lpstr>
      <vt:lpstr>Pick the host that matches your operating model </vt:lpstr>
      <vt:lpstr>Azure Container Instances, end to end </vt:lpstr>
      <vt:lpstr>Cloud changes identity, not the API contract </vt:lpstr>
      <vt:lpstr>Demo 5: deploy to Azure Container Instances </vt:lpstr>
      <vt:lpstr>The production checklist is short — if you are honest </vt:lpstr>
      <vt:lpstr>DAB is the wrong answer when the problem is business logic </vt:lpstr>
      <vt:lpstr>Everything from today, one click away </vt:lpstr>
      <vt:lpstr>Five things to take away </vt:lpstr>
      <vt:lpstr>Resources</vt:lpstr>
      <vt:lpstr>That’s all folks!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ddominici</dc:creator>
  <cp:lastModifiedBy>Danilo Dominici</cp:lastModifiedBy>
  <cp:revision>56</cp:revision>
  <dcterms:created xsi:type="dcterms:W3CDTF">2019-02-08T06:58:32Z</dcterms:created>
  <dcterms:modified xsi:type="dcterms:W3CDTF">2026-09-18T13:21:50Z</dcterms:modified>
</cp:coreProperties>
</file>