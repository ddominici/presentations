
<file path=[Content_Types].xml><?xml version="1.0" encoding="utf-8"?>
<Types xmlns="http://schemas.openxmlformats.org/package/2006/content-types"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56"/>
  </p:notesMasterIdLst>
  <p:sldIdLst>
    <p:sldId id="256" r:id="rId8"/>
    <p:sldId id="258" r:id="rId9"/>
    <p:sldId id="308" r:id="rId10"/>
    <p:sldId id="309" r:id="rId11"/>
    <p:sldId id="310" r:id="rId12"/>
    <p:sldId id="311" r:id="rId13"/>
    <p:sldId id="346" r:id="rId14"/>
    <p:sldId id="313" r:id="rId15"/>
    <p:sldId id="314" r:id="rId16"/>
    <p:sldId id="265" r:id="rId17"/>
    <p:sldId id="266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1" r:id="rId34"/>
    <p:sldId id="332" r:id="rId35"/>
    <p:sldId id="333" r:id="rId36"/>
    <p:sldId id="334" r:id="rId37"/>
    <p:sldId id="336" r:id="rId38"/>
    <p:sldId id="338" r:id="rId39"/>
    <p:sldId id="337" r:id="rId40"/>
    <p:sldId id="342" r:id="rId41"/>
    <p:sldId id="343" r:id="rId42"/>
    <p:sldId id="344" r:id="rId43"/>
    <p:sldId id="345" r:id="rId44"/>
    <p:sldId id="357" r:id="rId45"/>
    <p:sldId id="341" r:id="rId46"/>
    <p:sldId id="340" r:id="rId47"/>
    <p:sldId id="339" r:id="rId48"/>
    <p:sldId id="330" r:id="rId49"/>
    <p:sldId id="283" r:id="rId50"/>
    <p:sldId id="347" r:id="rId51"/>
    <p:sldId id="348" r:id="rId52"/>
    <p:sldId id="349" r:id="rId53"/>
    <p:sldId id="350" r:id="rId54"/>
    <p:sldId id="35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BCA045"/>
    <a:srgbClr val="F4F4F4"/>
    <a:srgbClr val="D0DBFF"/>
    <a:srgbClr val="013F34"/>
    <a:srgbClr val="007864"/>
    <a:srgbClr val="FFC300"/>
    <a:srgbClr val="002C4C"/>
    <a:srgbClr val="FF4713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 autoAdjust="0"/>
    <p:restoredTop sz="78976" autoAdjust="0"/>
  </p:normalViewPr>
  <p:slideViewPr>
    <p:cSldViewPr snapToGrid="0">
      <p:cViewPr varScale="1">
        <p:scale>
          <a:sx n="98" d="100"/>
          <a:sy n="98" d="100"/>
        </p:scale>
        <p:origin x="18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160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viewProps" Target="view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commentAuthors" Target="commentAuthor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78564-233D-4E99-B1F4-D26D169C831D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0967101D-AAAD-4381-B54B-B57DEBB60AF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400" dirty="0"/>
            <a:t>A JSON file </a:t>
          </a:r>
          <a:r>
            <a:rPr lang="it-IT" sz="2400" dirty="0" err="1"/>
            <a:t>replaces</a:t>
          </a:r>
          <a:r>
            <a:rPr lang="it-IT" sz="2400" dirty="0"/>
            <a:t> the CRUD </a:t>
          </a:r>
          <a:r>
            <a:rPr lang="it-IT" sz="2400" dirty="0" err="1"/>
            <a:t>layer</a:t>
          </a:r>
          <a:r>
            <a:rPr lang="it-IT" sz="2400" dirty="0"/>
            <a:t> </a:t>
          </a:r>
          <a:r>
            <a:rPr lang="it-IT" sz="2400" dirty="0" err="1"/>
            <a:t>you</a:t>
          </a:r>
          <a:r>
            <a:rPr lang="it-IT" sz="2400" dirty="0"/>
            <a:t> </a:t>
          </a:r>
          <a:r>
            <a:rPr lang="it-IT" sz="2400" dirty="0" err="1"/>
            <a:t>keep</a:t>
          </a:r>
          <a:r>
            <a:rPr lang="it-IT" sz="2400" dirty="0"/>
            <a:t> </a:t>
          </a:r>
          <a:r>
            <a:rPr lang="it-IT" sz="2400" dirty="0" err="1"/>
            <a:t>rewriting</a:t>
          </a:r>
          <a:r>
            <a:rPr lang="it-IT" sz="2400" dirty="0"/>
            <a:t>.</a:t>
          </a:r>
          <a:endParaRPr lang="en-US" sz="2400" dirty="0"/>
        </a:p>
      </dgm:t>
    </dgm:pt>
    <dgm:pt modelId="{3EC14DE4-FE05-41B0-8051-C17ABBFEA952}" type="parTrans" cxnId="{20A16DC7-2966-459B-9C3E-0626A6F5479E}">
      <dgm:prSet/>
      <dgm:spPr/>
      <dgm:t>
        <a:bodyPr/>
        <a:lstStyle/>
        <a:p>
          <a:endParaRPr lang="en-US"/>
        </a:p>
      </dgm:t>
    </dgm:pt>
    <dgm:pt modelId="{18DC684E-46D7-4EDA-AB3C-A04A4101CF3F}" type="sibTrans" cxnId="{20A16DC7-2966-459B-9C3E-0626A6F5479E}">
      <dgm:prSet/>
      <dgm:spPr/>
      <dgm:t>
        <a:bodyPr/>
        <a:lstStyle/>
        <a:p>
          <a:endParaRPr lang="en-US"/>
        </a:p>
      </dgm:t>
    </dgm:pt>
    <dgm:pt modelId="{F8F90714-CA38-4370-A3E9-8557C1CFC0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400" dirty="0"/>
            <a:t>One </a:t>
          </a:r>
          <a:r>
            <a:rPr lang="it-IT" sz="2400" dirty="0" err="1"/>
            <a:t>configuration</a:t>
          </a:r>
          <a:r>
            <a:rPr lang="it-IT" sz="2400" dirty="0"/>
            <a:t> </a:t>
          </a:r>
          <a:r>
            <a:rPr lang="it-IT" sz="2400" dirty="0" err="1"/>
            <a:t>serves</a:t>
          </a:r>
          <a:r>
            <a:rPr lang="it-IT" sz="2400" dirty="0"/>
            <a:t> REST, </a:t>
          </a:r>
          <a:r>
            <a:rPr lang="it-IT" sz="2400" dirty="0" err="1"/>
            <a:t>GraphQL</a:t>
          </a:r>
          <a:r>
            <a:rPr lang="it-IT" sz="2400" dirty="0"/>
            <a:t> and MCP with one </a:t>
          </a:r>
          <a:r>
            <a:rPr lang="it-IT" sz="2400" dirty="0" err="1"/>
            <a:t>permission</a:t>
          </a:r>
          <a:r>
            <a:rPr lang="it-IT" sz="2400" dirty="0"/>
            <a:t> model.</a:t>
          </a:r>
          <a:endParaRPr lang="en-US" sz="2400" dirty="0"/>
        </a:p>
      </dgm:t>
    </dgm:pt>
    <dgm:pt modelId="{DF1193BA-C865-406C-94D7-DF71D4A54DF4}" type="parTrans" cxnId="{5E078602-3CAE-4440-A71D-297365048BA4}">
      <dgm:prSet/>
      <dgm:spPr/>
      <dgm:t>
        <a:bodyPr/>
        <a:lstStyle/>
        <a:p>
          <a:endParaRPr lang="en-US"/>
        </a:p>
      </dgm:t>
    </dgm:pt>
    <dgm:pt modelId="{80D838C1-F45D-4987-8E00-EC99E973101A}" type="sibTrans" cxnId="{5E078602-3CAE-4440-A71D-297365048BA4}">
      <dgm:prSet/>
      <dgm:spPr/>
      <dgm:t>
        <a:bodyPr/>
        <a:lstStyle/>
        <a:p>
          <a:endParaRPr lang="en-US"/>
        </a:p>
      </dgm:t>
    </dgm:pt>
    <dgm:pt modelId="{FE938B44-7ECF-4820-9D3C-469C2D68053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400" dirty="0"/>
            <a:t>2.0 </a:t>
          </a:r>
          <a:r>
            <a:rPr lang="it-IT" sz="2400" dirty="0" err="1"/>
            <a:t>is</a:t>
          </a:r>
          <a:r>
            <a:rPr lang="it-IT" sz="2400" dirty="0"/>
            <a:t> </a:t>
          </a:r>
          <a:r>
            <a:rPr lang="it-IT" sz="2400" dirty="0" err="1"/>
            <a:t>about</a:t>
          </a:r>
          <a:r>
            <a:rPr lang="it-IT" sz="2400" dirty="0"/>
            <a:t> agents and </a:t>
          </a:r>
          <a:r>
            <a:rPr lang="it-IT" sz="2400" dirty="0" err="1"/>
            <a:t>automation</a:t>
          </a:r>
          <a:r>
            <a:rPr lang="it-IT" sz="2400" dirty="0"/>
            <a:t>: auto-</a:t>
          </a:r>
          <a:r>
            <a:rPr lang="it-IT" sz="2400" dirty="0" err="1"/>
            <a:t>config</a:t>
          </a:r>
          <a:r>
            <a:rPr lang="it-IT" sz="2400" dirty="0"/>
            <a:t>, OBO, custom MCP tools, </a:t>
          </a:r>
          <a:r>
            <a:rPr lang="it-IT" sz="2400" dirty="0" err="1"/>
            <a:t>traced</a:t>
          </a:r>
          <a:r>
            <a:rPr lang="it-IT" sz="2400" dirty="0"/>
            <a:t> calls.</a:t>
          </a:r>
          <a:endParaRPr lang="en-US" sz="2400" dirty="0"/>
        </a:p>
      </dgm:t>
    </dgm:pt>
    <dgm:pt modelId="{089A659E-EB37-45D2-BFCF-DE6F47F0577D}" type="parTrans" cxnId="{404AF6A3-5008-4BFD-A131-308ED7FFCB2C}">
      <dgm:prSet/>
      <dgm:spPr/>
      <dgm:t>
        <a:bodyPr/>
        <a:lstStyle/>
        <a:p>
          <a:endParaRPr lang="en-US"/>
        </a:p>
      </dgm:t>
    </dgm:pt>
    <dgm:pt modelId="{CD8DCE40-3D3E-4E7F-BB00-773847DE262D}" type="sibTrans" cxnId="{404AF6A3-5008-4BFD-A131-308ED7FFCB2C}">
      <dgm:prSet/>
      <dgm:spPr/>
      <dgm:t>
        <a:bodyPr/>
        <a:lstStyle/>
        <a:p>
          <a:endParaRPr lang="en-US"/>
        </a:p>
      </dgm:t>
    </dgm:pt>
    <dgm:pt modelId="{0413416D-001B-4EEF-8F79-31059C33EF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400" dirty="0"/>
            <a:t>One </a:t>
          </a:r>
          <a:r>
            <a:rPr lang="it-IT" sz="2400" dirty="0" err="1"/>
            <a:t>instance</a:t>
          </a:r>
          <a:r>
            <a:rPr lang="it-IT" sz="2400" dirty="0"/>
            <a:t> can front SQL Server, Azure SQL and </a:t>
          </a:r>
          <a:r>
            <a:rPr lang="it-IT" sz="2400" dirty="0" err="1"/>
            <a:t>Fabric</a:t>
          </a:r>
          <a:r>
            <a:rPr lang="it-IT" sz="2400" dirty="0"/>
            <a:t> </a:t>
          </a:r>
          <a:r>
            <a:rPr lang="it-IT" sz="2400" dirty="0" err="1"/>
            <a:t>at</a:t>
          </a:r>
          <a:r>
            <a:rPr lang="it-IT" sz="2400" dirty="0"/>
            <a:t> once.</a:t>
          </a:r>
          <a:endParaRPr lang="en-US" sz="2400" dirty="0"/>
        </a:p>
      </dgm:t>
    </dgm:pt>
    <dgm:pt modelId="{47134EEA-E691-446D-89E1-8DE2D72ACAF4}" type="parTrans" cxnId="{E18A1A03-D7C8-440E-A2A2-295D94EE2BCB}">
      <dgm:prSet/>
      <dgm:spPr/>
      <dgm:t>
        <a:bodyPr/>
        <a:lstStyle/>
        <a:p>
          <a:endParaRPr lang="en-US"/>
        </a:p>
      </dgm:t>
    </dgm:pt>
    <dgm:pt modelId="{2A5EA328-F31A-44F1-B183-555C650E1CD6}" type="sibTrans" cxnId="{E18A1A03-D7C8-440E-A2A2-295D94EE2BCB}">
      <dgm:prSet/>
      <dgm:spPr/>
      <dgm:t>
        <a:bodyPr/>
        <a:lstStyle/>
        <a:p>
          <a:endParaRPr lang="en-US"/>
        </a:p>
      </dgm:t>
    </dgm:pt>
    <dgm:pt modelId="{BFA8A4EA-C3F6-4F28-8196-41C8022249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2400" dirty="0" err="1"/>
            <a:t>It</a:t>
          </a:r>
          <a:r>
            <a:rPr lang="it-IT" sz="2400" dirty="0"/>
            <a:t> </a:t>
          </a:r>
          <a:r>
            <a:rPr lang="it-IT" sz="2400" dirty="0" err="1"/>
            <a:t>is</a:t>
          </a:r>
          <a:r>
            <a:rPr lang="it-IT" sz="2400" dirty="0"/>
            <a:t> a </a:t>
          </a:r>
          <a:r>
            <a:rPr lang="it-IT" sz="2400" dirty="0" err="1"/>
            <a:t>stateless</a:t>
          </a:r>
          <a:r>
            <a:rPr lang="it-IT" sz="2400" dirty="0"/>
            <a:t> container: </a:t>
          </a:r>
          <a:r>
            <a:rPr lang="it-IT" sz="2400" dirty="0" err="1"/>
            <a:t>wherever</a:t>
          </a:r>
          <a:r>
            <a:rPr lang="it-IT" sz="2400" dirty="0"/>
            <a:t> </a:t>
          </a:r>
          <a:r>
            <a:rPr lang="it-IT" sz="2400" dirty="0" err="1"/>
            <a:t>you</a:t>
          </a:r>
          <a:r>
            <a:rPr lang="it-IT" sz="2400" dirty="0"/>
            <a:t> </a:t>
          </a:r>
          <a:r>
            <a:rPr lang="it-IT" sz="2400" dirty="0" err="1"/>
            <a:t>run</a:t>
          </a:r>
          <a:r>
            <a:rPr lang="it-IT" sz="2400" dirty="0"/>
            <a:t> containers </a:t>
          </a:r>
          <a:r>
            <a:rPr lang="it-IT" sz="2400" dirty="0" err="1"/>
            <a:t>today</a:t>
          </a:r>
          <a:r>
            <a:rPr lang="it-IT" sz="2400" dirty="0"/>
            <a:t>, </a:t>
          </a:r>
          <a:r>
            <a:rPr lang="it-IT" sz="2400" dirty="0" err="1"/>
            <a:t>you</a:t>
          </a:r>
          <a:r>
            <a:rPr lang="it-IT" sz="2400" dirty="0"/>
            <a:t> can </a:t>
          </a:r>
          <a:r>
            <a:rPr lang="it-IT" sz="2400" dirty="0" err="1"/>
            <a:t>run</a:t>
          </a:r>
          <a:r>
            <a:rPr lang="it-IT" sz="2400" dirty="0"/>
            <a:t> </a:t>
          </a:r>
          <a:r>
            <a:rPr lang="it-IT" sz="2400" dirty="0" err="1"/>
            <a:t>this</a:t>
          </a:r>
          <a:r>
            <a:rPr lang="it-IT" sz="2400" dirty="0"/>
            <a:t> by Friday.</a:t>
          </a:r>
          <a:endParaRPr lang="en-US" sz="2400" dirty="0"/>
        </a:p>
      </dgm:t>
    </dgm:pt>
    <dgm:pt modelId="{2247D5CC-8806-4E3E-BCC3-6D6EEC1672EC}" type="parTrans" cxnId="{67D860AF-B71E-4584-8272-2B5D031B9877}">
      <dgm:prSet/>
      <dgm:spPr/>
      <dgm:t>
        <a:bodyPr/>
        <a:lstStyle/>
        <a:p>
          <a:endParaRPr lang="en-US"/>
        </a:p>
      </dgm:t>
    </dgm:pt>
    <dgm:pt modelId="{47419D4C-FE20-454C-8F3A-25C2CC567EDE}" type="sibTrans" cxnId="{67D860AF-B71E-4584-8272-2B5D031B9877}">
      <dgm:prSet/>
      <dgm:spPr/>
      <dgm:t>
        <a:bodyPr/>
        <a:lstStyle/>
        <a:p>
          <a:endParaRPr lang="en-US"/>
        </a:p>
      </dgm:t>
    </dgm:pt>
    <dgm:pt modelId="{F4582D32-8A4B-4B75-AC9A-C6B117F7F1B7}" type="pres">
      <dgm:prSet presAssocID="{14E78564-233D-4E99-B1F4-D26D169C831D}" presName="root" presStyleCnt="0">
        <dgm:presLayoutVars>
          <dgm:dir/>
          <dgm:resizeHandles val="exact"/>
        </dgm:presLayoutVars>
      </dgm:prSet>
      <dgm:spPr/>
    </dgm:pt>
    <dgm:pt modelId="{372BE75B-C99C-4CAF-BBCE-8EAC08B4EF08}" type="pres">
      <dgm:prSet presAssocID="{0967101D-AAAD-4381-B54B-B57DEBB60AF9}" presName="compNode" presStyleCnt="0"/>
      <dgm:spPr/>
    </dgm:pt>
    <dgm:pt modelId="{3DE1FD4B-AEE2-4504-9003-D37221028497}" type="pres">
      <dgm:prSet presAssocID="{0967101D-AAAD-4381-B54B-B57DEBB60AF9}" presName="bgRect" presStyleLbl="bgShp" presStyleIdx="0" presStyleCnt="5"/>
      <dgm:spPr>
        <a:solidFill>
          <a:srgbClr val="F4F4F4"/>
        </a:solidFill>
      </dgm:spPr>
    </dgm:pt>
    <dgm:pt modelId="{01684C2C-0F29-4489-845E-CBB71C90F613}" type="pres">
      <dgm:prSet presAssocID="{0967101D-AAAD-4381-B54B-B57DEBB60AF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E47B01F-C812-4021-B82F-0B48FC483D78}" type="pres">
      <dgm:prSet presAssocID="{0967101D-AAAD-4381-B54B-B57DEBB60AF9}" presName="spaceRect" presStyleCnt="0"/>
      <dgm:spPr/>
    </dgm:pt>
    <dgm:pt modelId="{B9F82407-CDAE-4BD1-9856-9E5AABEEE63C}" type="pres">
      <dgm:prSet presAssocID="{0967101D-AAAD-4381-B54B-B57DEBB60AF9}" presName="parTx" presStyleLbl="revTx" presStyleIdx="0" presStyleCnt="5">
        <dgm:presLayoutVars>
          <dgm:chMax val="0"/>
          <dgm:chPref val="0"/>
        </dgm:presLayoutVars>
      </dgm:prSet>
      <dgm:spPr/>
    </dgm:pt>
    <dgm:pt modelId="{20D3460F-2B8B-4FF5-98CA-FD5BFBA2AA32}" type="pres">
      <dgm:prSet presAssocID="{18DC684E-46D7-4EDA-AB3C-A04A4101CF3F}" presName="sibTrans" presStyleCnt="0"/>
      <dgm:spPr/>
    </dgm:pt>
    <dgm:pt modelId="{77BFA5FE-EAFC-4202-A5DF-3075DE972E0F}" type="pres">
      <dgm:prSet presAssocID="{F8F90714-CA38-4370-A3E9-8557C1CFC0FF}" presName="compNode" presStyleCnt="0"/>
      <dgm:spPr/>
    </dgm:pt>
    <dgm:pt modelId="{A3124478-8CEC-44ED-B385-70D3DEF98930}" type="pres">
      <dgm:prSet presAssocID="{F8F90714-CA38-4370-A3E9-8557C1CFC0FF}" presName="bgRect" presStyleLbl="bgShp" presStyleIdx="1" presStyleCnt="5"/>
      <dgm:spPr>
        <a:solidFill>
          <a:srgbClr val="F4F4F4"/>
        </a:solidFill>
      </dgm:spPr>
    </dgm:pt>
    <dgm:pt modelId="{31B93CED-C9D4-42B2-A996-A569432C8787}" type="pres">
      <dgm:prSet presAssocID="{F8F90714-CA38-4370-A3E9-8557C1CFC0F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8B76B7B-12BA-474D-B15B-958E59608DA9}" type="pres">
      <dgm:prSet presAssocID="{F8F90714-CA38-4370-A3E9-8557C1CFC0FF}" presName="spaceRect" presStyleCnt="0"/>
      <dgm:spPr/>
    </dgm:pt>
    <dgm:pt modelId="{C8E785EB-EF3D-423B-9353-A260CD2F255B}" type="pres">
      <dgm:prSet presAssocID="{F8F90714-CA38-4370-A3E9-8557C1CFC0FF}" presName="parTx" presStyleLbl="revTx" presStyleIdx="1" presStyleCnt="5">
        <dgm:presLayoutVars>
          <dgm:chMax val="0"/>
          <dgm:chPref val="0"/>
        </dgm:presLayoutVars>
      </dgm:prSet>
      <dgm:spPr/>
    </dgm:pt>
    <dgm:pt modelId="{FF41D8C2-0541-4BED-AE12-E70700533293}" type="pres">
      <dgm:prSet presAssocID="{80D838C1-F45D-4987-8E00-EC99E973101A}" presName="sibTrans" presStyleCnt="0"/>
      <dgm:spPr/>
    </dgm:pt>
    <dgm:pt modelId="{8B3E9A6F-AFF1-4211-9F8B-36C4E0958910}" type="pres">
      <dgm:prSet presAssocID="{FE938B44-7ECF-4820-9D3C-469C2D68053C}" presName="compNode" presStyleCnt="0"/>
      <dgm:spPr/>
    </dgm:pt>
    <dgm:pt modelId="{F0D1A561-C42E-4B8C-B051-A18F2545480E}" type="pres">
      <dgm:prSet presAssocID="{FE938B44-7ECF-4820-9D3C-469C2D68053C}" presName="bgRect" presStyleLbl="bgShp" presStyleIdx="2" presStyleCnt="5"/>
      <dgm:spPr>
        <a:solidFill>
          <a:srgbClr val="F4F4F4"/>
        </a:solidFill>
      </dgm:spPr>
    </dgm:pt>
    <dgm:pt modelId="{1A5DD209-EA68-4D5E-A25B-9FE0B46100BB}" type="pres">
      <dgm:prSet presAssocID="{FE938B44-7ECF-4820-9D3C-469C2D68053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granaggi"/>
        </a:ext>
      </dgm:extLst>
    </dgm:pt>
    <dgm:pt modelId="{020F1FD1-43FF-4AF3-AF92-CA70A1E9BB5B}" type="pres">
      <dgm:prSet presAssocID="{FE938B44-7ECF-4820-9D3C-469C2D68053C}" presName="spaceRect" presStyleCnt="0"/>
      <dgm:spPr/>
    </dgm:pt>
    <dgm:pt modelId="{A5C2F639-B364-436B-8530-FE9AB6876C5B}" type="pres">
      <dgm:prSet presAssocID="{FE938B44-7ECF-4820-9D3C-469C2D68053C}" presName="parTx" presStyleLbl="revTx" presStyleIdx="2" presStyleCnt="5">
        <dgm:presLayoutVars>
          <dgm:chMax val="0"/>
          <dgm:chPref val="0"/>
        </dgm:presLayoutVars>
      </dgm:prSet>
      <dgm:spPr/>
    </dgm:pt>
    <dgm:pt modelId="{D7B87744-F855-4D8B-80D3-930DB85D0A01}" type="pres">
      <dgm:prSet presAssocID="{CD8DCE40-3D3E-4E7F-BB00-773847DE262D}" presName="sibTrans" presStyleCnt="0"/>
      <dgm:spPr/>
    </dgm:pt>
    <dgm:pt modelId="{16CF422D-71FC-4E8D-856A-19478D5F7F10}" type="pres">
      <dgm:prSet presAssocID="{0413416D-001B-4EEF-8F79-31059C33EFD7}" presName="compNode" presStyleCnt="0"/>
      <dgm:spPr/>
    </dgm:pt>
    <dgm:pt modelId="{642899FE-3BE6-46C0-BA41-0F32B0E95E48}" type="pres">
      <dgm:prSet presAssocID="{0413416D-001B-4EEF-8F79-31059C33EFD7}" presName="bgRect" presStyleLbl="bgShp" presStyleIdx="3" presStyleCnt="5"/>
      <dgm:spPr>
        <a:solidFill>
          <a:srgbClr val="F4F4F4"/>
        </a:solidFill>
      </dgm:spPr>
    </dgm:pt>
    <dgm:pt modelId="{02279C72-7A64-49FF-9327-2362A2DBCBEA}" type="pres">
      <dgm:prSet presAssocID="{0413416D-001B-4EEF-8F79-31059C33EFD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D881D4-FA2C-4CC7-9358-68C10E1CE31F}" type="pres">
      <dgm:prSet presAssocID="{0413416D-001B-4EEF-8F79-31059C33EFD7}" presName="spaceRect" presStyleCnt="0"/>
      <dgm:spPr/>
    </dgm:pt>
    <dgm:pt modelId="{FB46C8AC-54EA-47B1-8F0E-430ABC79197F}" type="pres">
      <dgm:prSet presAssocID="{0413416D-001B-4EEF-8F79-31059C33EFD7}" presName="parTx" presStyleLbl="revTx" presStyleIdx="3" presStyleCnt="5">
        <dgm:presLayoutVars>
          <dgm:chMax val="0"/>
          <dgm:chPref val="0"/>
        </dgm:presLayoutVars>
      </dgm:prSet>
      <dgm:spPr/>
    </dgm:pt>
    <dgm:pt modelId="{152001CB-23D0-476E-979D-04ACFE0D3993}" type="pres">
      <dgm:prSet presAssocID="{2A5EA328-F31A-44F1-B183-555C650E1CD6}" presName="sibTrans" presStyleCnt="0"/>
      <dgm:spPr/>
    </dgm:pt>
    <dgm:pt modelId="{3E4D0D73-0B39-49DE-AA64-85B6B3C4B5A7}" type="pres">
      <dgm:prSet presAssocID="{BFA8A4EA-C3F6-4F28-8196-41C8022249CB}" presName="compNode" presStyleCnt="0"/>
      <dgm:spPr/>
    </dgm:pt>
    <dgm:pt modelId="{3D1CE37F-9A2A-47E6-88B7-D2D215298CD9}" type="pres">
      <dgm:prSet presAssocID="{BFA8A4EA-C3F6-4F28-8196-41C8022249CB}" presName="bgRect" presStyleLbl="bgShp" presStyleIdx="4" presStyleCnt="5"/>
      <dgm:spPr>
        <a:solidFill>
          <a:srgbClr val="F4F4F4"/>
        </a:solidFill>
      </dgm:spPr>
    </dgm:pt>
    <dgm:pt modelId="{4C57AFD1-8C4D-460B-AA0D-E32EF2855ED5}" type="pres">
      <dgm:prSet presAssocID="{BFA8A4EA-C3F6-4F28-8196-41C8022249C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tola"/>
        </a:ext>
      </dgm:extLst>
    </dgm:pt>
    <dgm:pt modelId="{E0BB2F52-4A43-4FBB-88D0-BE9A6A4AB31F}" type="pres">
      <dgm:prSet presAssocID="{BFA8A4EA-C3F6-4F28-8196-41C8022249CB}" presName="spaceRect" presStyleCnt="0"/>
      <dgm:spPr/>
    </dgm:pt>
    <dgm:pt modelId="{466C307E-51A2-4E67-BE25-19470CD60D5C}" type="pres">
      <dgm:prSet presAssocID="{BFA8A4EA-C3F6-4F28-8196-41C8022249C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E078602-3CAE-4440-A71D-297365048BA4}" srcId="{14E78564-233D-4E99-B1F4-D26D169C831D}" destId="{F8F90714-CA38-4370-A3E9-8557C1CFC0FF}" srcOrd="1" destOrd="0" parTransId="{DF1193BA-C865-406C-94D7-DF71D4A54DF4}" sibTransId="{80D838C1-F45D-4987-8E00-EC99E973101A}"/>
    <dgm:cxn modelId="{E18A1A03-D7C8-440E-A2A2-295D94EE2BCB}" srcId="{14E78564-233D-4E99-B1F4-D26D169C831D}" destId="{0413416D-001B-4EEF-8F79-31059C33EFD7}" srcOrd="3" destOrd="0" parTransId="{47134EEA-E691-446D-89E1-8DE2D72ACAF4}" sibTransId="{2A5EA328-F31A-44F1-B183-555C650E1CD6}"/>
    <dgm:cxn modelId="{C53A7337-935C-47E1-A406-776CC21EF5FB}" type="presOf" srcId="{0413416D-001B-4EEF-8F79-31059C33EFD7}" destId="{FB46C8AC-54EA-47B1-8F0E-430ABC79197F}" srcOrd="0" destOrd="0" presId="urn:microsoft.com/office/officeart/2018/2/layout/IconVerticalSolidList"/>
    <dgm:cxn modelId="{05CA0041-8517-4E4C-9A59-742CAC3F5F32}" type="presOf" srcId="{FE938B44-7ECF-4820-9D3C-469C2D68053C}" destId="{A5C2F639-B364-436B-8530-FE9AB6876C5B}" srcOrd="0" destOrd="0" presId="urn:microsoft.com/office/officeart/2018/2/layout/IconVerticalSolidList"/>
    <dgm:cxn modelId="{D85B6842-4AEC-4098-A318-AA84DC58C8E7}" type="presOf" srcId="{14E78564-233D-4E99-B1F4-D26D169C831D}" destId="{F4582D32-8A4B-4B75-AC9A-C6B117F7F1B7}" srcOrd="0" destOrd="0" presId="urn:microsoft.com/office/officeart/2018/2/layout/IconVerticalSolidList"/>
    <dgm:cxn modelId="{35C81746-91F9-4581-BC65-3DAE4E9C0A50}" type="presOf" srcId="{0967101D-AAAD-4381-B54B-B57DEBB60AF9}" destId="{B9F82407-CDAE-4BD1-9856-9E5AABEEE63C}" srcOrd="0" destOrd="0" presId="urn:microsoft.com/office/officeart/2018/2/layout/IconVerticalSolidList"/>
    <dgm:cxn modelId="{E0A4F884-A711-471C-A723-5C191FAF4051}" type="presOf" srcId="{BFA8A4EA-C3F6-4F28-8196-41C8022249CB}" destId="{466C307E-51A2-4E67-BE25-19470CD60D5C}" srcOrd="0" destOrd="0" presId="urn:microsoft.com/office/officeart/2018/2/layout/IconVerticalSolidList"/>
    <dgm:cxn modelId="{404AF6A3-5008-4BFD-A131-308ED7FFCB2C}" srcId="{14E78564-233D-4E99-B1F4-D26D169C831D}" destId="{FE938B44-7ECF-4820-9D3C-469C2D68053C}" srcOrd="2" destOrd="0" parTransId="{089A659E-EB37-45D2-BFCF-DE6F47F0577D}" sibTransId="{CD8DCE40-3D3E-4E7F-BB00-773847DE262D}"/>
    <dgm:cxn modelId="{67D860AF-B71E-4584-8272-2B5D031B9877}" srcId="{14E78564-233D-4E99-B1F4-D26D169C831D}" destId="{BFA8A4EA-C3F6-4F28-8196-41C8022249CB}" srcOrd="4" destOrd="0" parTransId="{2247D5CC-8806-4E3E-BCC3-6D6EEC1672EC}" sibTransId="{47419D4C-FE20-454C-8F3A-25C2CC567EDE}"/>
    <dgm:cxn modelId="{20A16DC7-2966-459B-9C3E-0626A6F5479E}" srcId="{14E78564-233D-4E99-B1F4-D26D169C831D}" destId="{0967101D-AAAD-4381-B54B-B57DEBB60AF9}" srcOrd="0" destOrd="0" parTransId="{3EC14DE4-FE05-41B0-8051-C17ABBFEA952}" sibTransId="{18DC684E-46D7-4EDA-AB3C-A04A4101CF3F}"/>
    <dgm:cxn modelId="{788E2AE1-FA89-4787-9955-D287D8EDAB44}" type="presOf" srcId="{F8F90714-CA38-4370-A3E9-8557C1CFC0FF}" destId="{C8E785EB-EF3D-423B-9353-A260CD2F255B}" srcOrd="0" destOrd="0" presId="urn:microsoft.com/office/officeart/2018/2/layout/IconVerticalSolidList"/>
    <dgm:cxn modelId="{B28B8610-90B0-42CC-8999-9688F5166834}" type="presParOf" srcId="{F4582D32-8A4B-4B75-AC9A-C6B117F7F1B7}" destId="{372BE75B-C99C-4CAF-BBCE-8EAC08B4EF08}" srcOrd="0" destOrd="0" presId="urn:microsoft.com/office/officeart/2018/2/layout/IconVerticalSolidList"/>
    <dgm:cxn modelId="{B8F50803-0783-48F1-B589-98714E9BCC8D}" type="presParOf" srcId="{372BE75B-C99C-4CAF-BBCE-8EAC08B4EF08}" destId="{3DE1FD4B-AEE2-4504-9003-D37221028497}" srcOrd="0" destOrd="0" presId="urn:microsoft.com/office/officeart/2018/2/layout/IconVerticalSolidList"/>
    <dgm:cxn modelId="{1834C0AB-5042-4827-8194-324EBE42C04E}" type="presParOf" srcId="{372BE75B-C99C-4CAF-BBCE-8EAC08B4EF08}" destId="{01684C2C-0F29-4489-845E-CBB71C90F613}" srcOrd="1" destOrd="0" presId="urn:microsoft.com/office/officeart/2018/2/layout/IconVerticalSolidList"/>
    <dgm:cxn modelId="{30A3C5EB-FAA6-4678-BC9C-DC0C78ECF53E}" type="presParOf" srcId="{372BE75B-C99C-4CAF-BBCE-8EAC08B4EF08}" destId="{8E47B01F-C812-4021-B82F-0B48FC483D78}" srcOrd="2" destOrd="0" presId="urn:microsoft.com/office/officeart/2018/2/layout/IconVerticalSolidList"/>
    <dgm:cxn modelId="{00B1AFA3-3C2B-4722-B438-926597F6FB51}" type="presParOf" srcId="{372BE75B-C99C-4CAF-BBCE-8EAC08B4EF08}" destId="{B9F82407-CDAE-4BD1-9856-9E5AABEEE63C}" srcOrd="3" destOrd="0" presId="urn:microsoft.com/office/officeart/2018/2/layout/IconVerticalSolidList"/>
    <dgm:cxn modelId="{F5F2FBC3-B20C-428C-A275-0879CF002D1F}" type="presParOf" srcId="{F4582D32-8A4B-4B75-AC9A-C6B117F7F1B7}" destId="{20D3460F-2B8B-4FF5-98CA-FD5BFBA2AA32}" srcOrd="1" destOrd="0" presId="urn:microsoft.com/office/officeart/2018/2/layout/IconVerticalSolidList"/>
    <dgm:cxn modelId="{859E3D30-8A5C-423D-92C9-2A63343EC69D}" type="presParOf" srcId="{F4582D32-8A4B-4B75-AC9A-C6B117F7F1B7}" destId="{77BFA5FE-EAFC-4202-A5DF-3075DE972E0F}" srcOrd="2" destOrd="0" presId="urn:microsoft.com/office/officeart/2018/2/layout/IconVerticalSolidList"/>
    <dgm:cxn modelId="{FD30ADB8-05AC-4103-A00E-E6888AE445A4}" type="presParOf" srcId="{77BFA5FE-EAFC-4202-A5DF-3075DE972E0F}" destId="{A3124478-8CEC-44ED-B385-70D3DEF98930}" srcOrd="0" destOrd="0" presId="urn:microsoft.com/office/officeart/2018/2/layout/IconVerticalSolidList"/>
    <dgm:cxn modelId="{93C6E243-2455-4C7C-A193-F5DB84297027}" type="presParOf" srcId="{77BFA5FE-EAFC-4202-A5DF-3075DE972E0F}" destId="{31B93CED-C9D4-42B2-A996-A569432C8787}" srcOrd="1" destOrd="0" presId="urn:microsoft.com/office/officeart/2018/2/layout/IconVerticalSolidList"/>
    <dgm:cxn modelId="{11198B11-D521-4FF7-8FEC-16AE6E137EA2}" type="presParOf" srcId="{77BFA5FE-EAFC-4202-A5DF-3075DE972E0F}" destId="{28B76B7B-12BA-474D-B15B-958E59608DA9}" srcOrd="2" destOrd="0" presId="urn:microsoft.com/office/officeart/2018/2/layout/IconVerticalSolidList"/>
    <dgm:cxn modelId="{1AE552CF-5CAA-4AB3-9CA3-D38330CC5A5D}" type="presParOf" srcId="{77BFA5FE-EAFC-4202-A5DF-3075DE972E0F}" destId="{C8E785EB-EF3D-423B-9353-A260CD2F255B}" srcOrd="3" destOrd="0" presId="urn:microsoft.com/office/officeart/2018/2/layout/IconVerticalSolidList"/>
    <dgm:cxn modelId="{C7B7252B-C6EC-41DA-9A17-EFAE5F636138}" type="presParOf" srcId="{F4582D32-8A4B-4B75-AC9A-C6B117F7F1B7}" destId="{FF41D8C2-0541-4BED-AE12-E70700533293}" srcOrd="3" destOrd="0" presId="urn:microsoft.com/office/officeart/2018/2/layout/IconVerticalSolidList"/>
    <dgm:cxn modelId="{93A039C0-FF15-4AA6-BA43-187F887CF4C4}" type="presParOf" srcId="{F4582D32-8A4B-4B75-AC9A-C6B117F7F1B7}" destId="{8B3E9A6F-AFF1-4211-9F8B-36C4E0958910}" srcOrd="4" destOrd="0" presId="urn:microsoft.com/office/officeart/2018/2/layout/IconVerticalSolidList"/>
    <dgm:cxn modelId="{D364E30A-6229-4F34-9E47-35A12CDDF42F}" type="presParOf" srcId="{8B3E9A6F-AFF1-4211-9F8B-36C4E0958910}" destId="{F0D1A561-C42E-4B8C-B051-A18F2545480E}" srcOrd="0" destOrd="0" presId="urn:microsoft.com/office/officeart/2018/2/layout/IconVerticalSolidList"/>
    <dgm:cxn modelId="{DFFC331D-E518-4739-8FF5-1E67169EB28D}" type="presParOf" srcId="{8B3E9A6F-AFF1-4211-9F8B-36C4E0958910}" destId="{1A5DD209-EA68-4D5E-A25B-9FE0B46100BB}" srcOrd="1" destOrd="0" presId="urn:microsoft.com/office/officeart/2018/2/layout/IconVerticalSolidList"/>
    <dgm:cxn modelId="{17479CDF-5228-46E6-A5B2-D9109DFA5BAA}" type="presParOf" srcId="{8B3E9A6F-AFF1-4211-9F8B-36C4E0958910}" destId="{020F1FD1-43FF-4AF3-AF92-CA70A1E9BB5B}" srcOrd="2" destOrd="0" presId="urn:microsoft.com/office/officeart/2018/2/layout/IconVerticalSolidList"/>
    <dgm:cxn modelId="{CD72FB74-0590-42A4-A311-142A79577899}" type="presParOf" srcId="{8B3E9A6F-AFF1-4211-9F8B-36C4E0958910}" destId="{A5C2F639-B364-436B-8530-FE9AB6876C5B}" srcOrd="3" destOrd="0" presId="urn:microsoft.com/office/officeart/2018/2/layout/IconVerticalSolidList"/>
    <dgm:cxn modelId="{F31BA230-00B9-48C7-9D5B-58B5BEE11BF5}" type="presParOf" srcId="{F4582D32-8A4B-4B75-AC9A-C6B117F7F1B7}" destId="{D7B87744-F855-4D8B-80D3-930DB85D0A01}" srcOrd="5" destOrd="0" presId="urn:microsoft.com/office/officeart/2018/2/layout/IconVerticalSolidList"/>
    <dgm:cxn modelId="{5FCDF930-0222-46E7-9FAC-E767F0392047}" type="presParOf" srcId="{F4582D32-8A4B-4B75-AC9A-C6B117F7F1B7}" destId="{16CF422D-71FC-4E8D-856A-19478D5F7F10}" srcOrd="6" destOrd="0" presId="urn:microsoft.com/office/officeart/2018/2/layout/IconVerticalSolidList"/>
    <dgm:cxn modelId="{8828C478-CC68-4AC8-8F6B-52D0DEF6BD5F}" type="presParOf" srcId="{16CF422D-71FC-4E8D-856A-19478D5F7F10}" destId="{642899FE-3BE6-46C0-BA41-0F32B0E95E48}" srcOrd="0" destOrd="0" presId="urn:microsoft.com/office/officeart/2018/2/layout/IconVerticalSolidList"/>
    <dgm:cxn modelId="{19F75776-4598-450F-9865-4137635AC77E}" type="presParOf" srcId="{16CF422D-71FC-4E8D-856A-19478D5F7F10}" destId="{02279C72-7A64-49FF-9327-2362A2DBCBEA}" srcOrd="1" destOrd="0" presId="urn:microsoft.com/office/officeart/2018/2/layout/IconVerticalSolidList"/>
    <dgm:cxn modelId="{D35B21CF-E1DC-4FC2-8E57-55785AA2A384}" type="presParOf" srcId="{16CF422D-71FC-4E8D-856A-19478D5F7F10}" destId="{41D881D4-FA2C-4CC7-9358-68C10E1CE31F}" srcOrd="2" destOrd="0" presId="urn:microsoft.com/office/officeart/2018/2/layout/IconVerticalSolidList"/>
    <dgm:cxn modelId="{9CC8067E-9456-488D-BA2D-CEF494A95ACB}" type="presParOf" srcId="{16CF422D-71FC-4E8D-856A-19478D5F7F10}" destId="{FB46C8AC-54EA-47B1-8F0E-430ABC79197F}" srcOrd="3" destOrd="0" presId="urn:microsoft.com/office/officeart/2018/2/layout/IconVerticalSolidList"/>
    <dgm:cxn modelId="{B5B6960A-84B8-4873-8F3C-F530BC7CD8AF}" type="presParOf" srcId="{F4582D32-8A4B-4B75-AC9A-C6B117F7F1B7}" destId="{152001CB-23D0-476E-979D-04ACFE0D3993}" srcOrd="7" destOrd="0" presId="urn:microsoft.com/office/officeart/2018/2/layout/IconVerticalSolidList"/>
    <dgm:cxn modelId="{823C8007-2B97-43C3-B70C-FC12CAA3B5DD}" type="presParOf" srcId="{F4582D32-8A4B-4B75-AC9A-C6B117F7F1B7}" destId="{3E4D0D73-0B39-49DE-AA64-85B6B3C4B5A7}" srcOrd="8" destOrd="0" presId="urn:microsoft.com/office/officeart/2018/2/layout/IconVerticalSolidList"/>
    <dgm:cxn modelId="{078A5DB4-EB20-414A-A260-26765CC8CF4C}" type="presParOf" srcId="{3E4D0D73-0B39-49DE-AA64-85B6B3C4B5A7}" destId="{3D1CE37F-9A2A-47E6-88B7-D2D215298CD9}" srcOrd="0" destOrd="0" presId="urn:microsoft.com/office/officeart/2018/2/layout/IconVerticalSolidList"/>
    <dgm:cxn modelId="{596A7E4E-244B-4889-92FB-38B0A592BE79}" type="presParOf" srcId="{3E4D0D73-0B39-49DE-AA64-85B6B3C4B5A7}" destId="{4C57AFD1-8C4D-460B-AA0D-E32EF2855ED5}" srcOrd="1" destOrd="0" presId="urn:microsoft.com/office/officeart/2018/2/layout/IconVerticalSolidList"/>
    <dgm:cxn modelId="{4F4CF2DE-C41A-423E-93D4-E5A617A32240}" type="presParOf" srcId="{3E4D0D73-0B39-49DE-AA64-85B6B3C4B5A7}" destId="{E0BB2F52-4A43-4FBB-88D0-BE9A6A4AB31F}" srcOrd="2" destOrd="0" presId="urn:microsoft.com/office/officeart/2018/2/layout/IconVerticalSolidList"/>
    <dgm:cxn modelId="{2E331322-E807-4FF8-B2EB-91D6F72CD2E5}" type="presParOf" srcId="{3E4D0D73-0B39-49DE-AA64-85B6B3C4B5A7}" destId="{466C307E-51A2-4E67-BE25-19470CD60D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1FD4B-AEE2-4504-9003-D37221028497}">
      <dsp:nvSpPr>
        <dsp:cNvPr id="0" name=""/>
        <dsp:cNvSpPr/>
      </dsp:nvSpPr>
      <dsp:spPr>
        <a:xfrm>
          <a:off x="0" y="5373"/>
          <a:ext cx="10747375" cy="523994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684C2C-0F29-4489-845E-CBB71C90F613}">
      <dsp:nvSpPr>
        <dsp:cNvPr id="0" name=""/>
        <dsp:cNvSpPr/>
      </dsp:nvSpPr>
      <dsp:spPr>
        <a:xfrm>
          <a:off x="158508" y="123272"/>
          <a:ext cx="288478" cy="2881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82407-CDAE-4BD1-9856-9E5AABEEE63C}">
      <dsp:nvSpPr>
        <dsp:cNvPr id="0" name=""/>
        <dsp:cNvSpPr/>
      </dsp:nvSpPr>
      <dsp:spPr>
        <a:xfrm>
          <a:off x="605494" y="5373"/>
          <a:ext cx="10042405" cy="704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9" tIns="74519" rIns="74519" bIns="745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A JSON file </a:t>
          </a:r>
          <a:r>
            <a:rPr lang="it-IT" sz="2400" kern="1200" dirty="0" err="1"/>
            <a:t>replaces</a:t>
          </a:r>
          <a:r>
            <a:rPr lang="it-IT" sz="2400" kern="1200" dirty="0"/>
            <a:t> the CRUD </a:t>
          </a:r>
          <a:r>
            <a:rPr lang="it-IT" sz="2400" kern="1200" dirty="0" err="1"/>
            <a:t>layer</a:t>
          </a:r>
          <a:r>
            <a:rPr lang="it-IT" sz="2400" kern="1200" dirty="0"/>
            <a:t> </a:t>
          </a:r>
          <a:r>
            <a:rPr lang="it-IT" sz="2400" kern="1200" dirty="0" err="1"/>
            <a:t>you</a:t>
          </a:r>
          <a:r>
            <a:rPr lang="it-IT" sz="2400" kern="1200" dirty="0"/>
            <a:t> </a:t>
          </a:r>
          <a:r>
            <a:rPr lang="it-IT" sz="2400" kern="1200" dirty="0" err="1"/>
            <a:t>keep</a:t>
          </a:r>
          <a:r>
            <a:rPr lang="it-IT" sz="2400" kern="1200" dirty="0"/>
            <a:t> </a:t>
          </a:r>
          <a:r>
            <a:rPr lang="it-IT" sz="2400" kern="1200" dirty="0" err="1"/>
            <a:t>rewriting</a:t>
          </a:r>
          <a:r>
            <a:rPr lang="it-IT" sz="2400" kern="1200" dirty="0"/>
            <a:t>.</a:t>
          </a:r>
          <a:endParaRPr lang="en-US" sz="2400" kern="1200" dirty="0"/>
        </a:p>
      </dsp:txBody>
      <dsp:txXfrm>
        <a:off x="605494" y="5373"/>
        <a:ext cx="10042405" cy="704117"/>
      </dsp:txXfrm>
    </dsp:sp>
    <dsp:sp modelId="{A3124478-8CEC-44ED-B385-70D3DEF98930}">
      <dsp:nvSpPr>
        <dsp:cNvPr id="0" name=""/>
        <dsp:cNvSpPr/>
      </dsp:nvSpPr>
      <dsp:spPr>
        <a:xfrm>
          <a:off x="0" y="885520"/>
          <a:ext cx="10747375" cy="523994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93CED-C9D4-42B2-A996-A569432C8787}">
      <dsp:nvSpPr>
        <dsp:cNvPr id="0" name=""/>
        <dsp:cNvSpPr/>
      </dsp:nvSpPr>
      <dsp:spPr>
        <a:xfrm>
          <a:off x="158508" y="1003418"/>
          <a:ext cx="288478" cy="2881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785EB-EF3D-423B-9353-A260CD2F255B}">
      <dsp:nvSpPr>
        <dsp:cNvPr id="0" name=""/>
        <dsp:cNvSpPr/>
      </dsp:nvSpPr>
      <dsp:spPr>
        <a:xfrm>
          <a:off x="605494" y="885520"/>
          <a:ext cx="10042405" cy="704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9" tIns="74519" rIns="74519" bIns="745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One </a:t>
          </a:r>
          <a:r>
            <a:rPr lang="it-IT" sz="2400" kern="1200" dirty="0" err="1"/>
            <a:t>configuration</a:t>
          </a:r>
          <a:r>
            <a:rPr lang="it-IT" sz="2400" kern="1200" dirty="0"/>
            <a:t> </a:t>
          </a:r>
          <a:r>
            <a:rPr lang="it-IT" sz="2400" kern="1200" dirty="0" err="1"/>
            <a:t>serves</a:t>
          </a:r>
          <a:r>
            <a:rPr lang="it-IT" sz="2400" kern="1200" dirty="0"/>
            <a:t> REST, </a:t>
          </a:r>
          <a:r>
            <a:rPr lang="it-IT" sz="2400" kern="1200" dirty="0" err="1"/>
            <a:t>GraphQL</a:t>
          </a:r>
          <a:r>
            <a:rPr lang="it-IT" sz="2400" kern="1200" dirty="0"/>
            <a:t> and MCP with one </a:t>
          </a:r>
          <a:r>
            <a:rPr lang="it-IT" sz="2400" kern="1200" dirty="0" err="1"/>
            <a:t>permission</a:t>
          </a:r>
          <a:r>
            <a:rPr lang="it-IT" sz="2400" kern="1200" dirty="0"/>
            <a:t> model.</a:t>
          </a:r>
          <a:endParaRPr lang="en-US" sz="2400" kern="1200" dirty="0"/>
        </a:p>
      </dsp:txBody>
      <dsp:txXfrm>
        <a:off x="605494" y="885520"/>
        <a:ext cx="10042405" cy="704117"/>
      </dsp:txXfrm>
    </dsp:sp>
    <dsp:sp modelId="{F0D1A561-C42E-4B8C-B051-A18F2545480E}">
      <dsp:nvSpPr>
        <dsp:cNvPr id="0" name=""/>
        <dsp:cNvSpPr/>
      </dsp:nvSpPr>
      <dsp:spPr>
        <a:xfrm>
          <a:off x="0" y="1765666"/>
          <a:ext cx="10747375" cy="523994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DD209-EA68-4D5E-A25B-9FE0B46100BB}">
      <dsp:nvSpPr>
        <dsp:cNvPr id="0" name=""/>
        <dsp:cNvSpPr/>
      </dsp:nvSpPr>
      <dsp:spPr>
        <a:xfrm>
          <a:off x="158508" y="1883565"/>
          <a:ext cx="288478" cy="2881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2F639-B364-436B-8530-FE9AB6876C5B}">
      <dsp:nvSpPr>
        <dsp:cNvPr id="0" name=""/>
        <dsp:cNvSpPr/>
      </dsp:nvSpPr>
      <dsp:spPr>
        <a:xfrm>
          <a:off x="605494" y="1765666"/>
          <a:ext cx="10042405" cy="704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9" tIns="74519" rIns="74519" bIns="745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2.0 </a:t>
          </a:r>
          <a:r>
            <a:rPr lang="it-IT" sz="2400" kern="1200" dirty="0" err="1"/>
            <a:t>is</a:t>
          </a:r>
          <a:r>
            <a:rPr lang="it-IT" sz="2400" kern="1200" dirty="0"/>
            <a:t> </a:t>
          </a:r>
          <a:r>
            <a:rPr lang="it-IT" sz="2400" kern="1200" dirty="0" err="1"/>
            <a:t>about</a:t>
          </a:r>
          <a:r>
            <a:rPr lang="it-IT" sz="2400" kern="1200" dirty="0"/>
            <a:t> agents and </a:t>
          </a:r>
          <a:r>
            <a:rPr lang="it-IT" sz="2400" kern="1200" dirty="0" err="1"/>
            <a:t>automation</a:t>
          </a:r>
          <a:r>
            <a:rPr lang="it-IT" sz="2400" kern="1200" dirty="0"/>
            <a:t>: auto-</a:t>
          </a:r>
          <a:r>
            <a:rPr lang="it-IT" sz="2400" kern="1200" dirty="0" err="1"/>
            <a:t>config</a:t>
          </a:r>
          <a:r>
            <a:rPr lang="it-IT" sz="2400" kern="1200" dirty="0"/>
            <a:t>, OBO, custom MCP tools, </a:t>
          </a:r>
          <a:r>
            <a:rPr lang="it-IT" sz="2400" kern="1200" dirty="0" err="1"/>
            <a:t>traced</a:t>
          </a:r>
          <a:r>
            <a:rPr lang="it-IT" sz="2400" kern="1200" dirty="0"/>
            <a:t> calls.</a:t>
          </a:r>
          <a:endParaRPr lang="en-US" sz="2400" kern="1200" dirty="0"/>
        </a:p>
      </dsp:txBody>
      <dsp:txXfrm>
        <a:off x="605494" y="1765666"/>
        <a:ext cx="10042405" cy="704117"/>
      </dsp:txXfrm>
    </dsp:sp>
    <dsp:sp modelId="{642899FE-3BE6-46C0-BA41-0F32B0E95E48}">
      <dsp:nvSpPr>
        <dsp:cNvPr id="0" name=""/>
        <dsp:cNvSpPr/>
      </dsp:nvSpPr>
      <dsp:spPr>
        <a:xfrm>
          <a:off x="0" y="2645812"/>
          <a:ext cx="10747375" cy="523994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79C72-7A64-49FF-9327-2362A2DBCBEA}">
      <dsp:nvSpPr>
        <dsp:cNvPr id="0" name=""/>
        <dsp:cNvSpPr/>
      </dsp:nvSpPr>
      <dsp:spPr>
        <a:xfrm>
          <a:off x="158508" y="2763711"/>
          <a:ext cx="288478" cy="2881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C8AC-54EA-47B1-8F0E-430ABC79197F}">
      <dsp:nvSpPr>
        <dsp:cNvPr id="0" name=""/>
        <dsp:cNvSpPr/>
      </dsp:nvSpPr>
      <dsp:spPr>
        <a:xfrm>
          <a:off x="605494" y="2645812"/>
          <a:ext cx="10042405" cy="704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9" tIns="74519" rIns="74519" bIns="745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One </a:t>
          </a:r>
          <a:r>
            <a:rPr lang="it-IT" sz="2400" kern="1200" dirty="0" err="1"/>
            <a:t>instance</a:t>
          </a:r>
          <a:r>
            <a:rPr lang="it-IT" sz="2400" kern="1200" dirty="0"/>
            <a:t> can front SQL Server, Azure SQL and </a:t>
          </a:r>
          <a:r>
            <a:rPr lang="it-IT" sz="2400" kern="1200" dirty="0" err="1"/>
            <a:t>Fabric</a:t>
          </a:r>
          <a:r>
            <a:rPr lang="it-IT" sz="2400" kern="1200" dirty="0"/>
            <a:t> </a:t>
          </a:r>
          <a:r>
            <a:rPr lang="it-IT" sz="2400" kern="1200" dirty="0" err="1"/>
            <a:t>at</a:t>
          </a:r>
          <a:r>
            <a:rPr lang="it-IT" sz="2400" kern="1200" dirty="0"/>
            <a:t> once.</a:t>
          </a:r>
          <a:endParaRPr lang="en-US" sz="2400" kern="1200" dirty="0"/>
        </a:p>
      </dsp:txBody>
      <dsp:txXfrm>
        <a:off x="605494" y="2645812"/>
        <a:ext cx="10042405" cy="704117"/>
      </dsp:txXfrm>
    </dsp:sp>
    <dsp:sp modelId="{3D1CE37F-9A2A-47E6-88B7-D2D215298CD9}">
      <dsp:nvSpPr>
        <dsp:cNvPr id="0" name=""/>
        <dsp:cNvSpPr/>
      </dsp:nvSpPr>
      <dsp:spPr>
        <a:xfrm>
          <a:off x="0" y="3525959"/>
          <a:ext cx="10747375" cy="523994"/>
        </a:xfrm>
        <a:prstGeom prst="roundRect">
          <a:avLst>
            <a:gd name="adj" fmla="val 10000"/>
          </a:avLst>
        </a:prstGeom>
        <a:solidFill>
          <a:srgbClr val="F4F4F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57AFD1-8C4D-460B-AA0D-E32EF2855ED5}">
      <dsp:nvSpPr>
        <dsp:cNvPr id="0" name=""/>
        <dsp:cNvSpPr/>
      </dsp:nvSpPr>
      <dsp:spPr>
        <a:xfrm>
          <a:off x="158508" y="3643857"/>
          <a:ext cx="288478" cy="2881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307E-51A2-4E67-BE25-19470CD60D5C}">
      <dsp:nvSpPr>
        <dsp:cNvPr id="0" name=""/>
        <dsp:cNvSpPr/>
      </dsp:nvSpPr>
      <dsp:spPr>
        <a:xfrm>
          <a:off x="605494" y="3525959"/>
          <a:ext cx="10042405" cy="704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519" tIns="74519" rIns="74519" bIns="7451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 err="1"/>
            <a:t>It</a:t>
          </a:r>
          <a:r>
            <a:rPr lang="it-IT" sz="2400" kern="1200" dirty="0"/>
            <a:t> </a:t>
          </a:r>
          <a:r>
            <a:rPr lang="it-IT" sz="2400" kern="1200" dirty="0" err="1"/>
            <a:t>is</a:t>
          </a:r>
          <a:r>
            <a:rPr lang="it-IT" sz="2400" kern="1200" dirty="0"/>
            <a:t> a </a:t>
          </a:r>
          <a:r>
            <a:rPr lang="it-IT" sz="2400" kern="1200" dirty="0" err="1"/>
            <a:t>stateless</a:t>
          </a:r>
          <a:r>
            <a:rPr lang="it-IT" sz="2400" kern="1200" dirty="0"/>
            <a:t> container: </a:t>
          </a:r>
          <a:r>
            <a:rPr lang="it-IT" sz="2400" kern="1200" dirty="0" err="1"/>
            <a:t>wherever</a:t>
          </a:r>
          <a:r>
            <a:rPr lang="it-IT" sz="2400" kern="1200" dirty="0"/>
            <a:t> </a:t>
          </a:r>
          <a:r>
            <a:rPr lang="it-IT" sz="2400" kern="1200" dirty="0" err="1"/>
            <a:t>you</a:t>
          </a:r>
          <a:r>
            <a:rPr lang="it-IT" sz="2400" kern="1200" dirty="0"/>
            <a:t> </a:t>
          </a:r>
          <a:r>
            <a:rPr lang="it-IT" sz="2400" kern="1200" dirty="0" err="1"/>
            <a:t>run</a:t>
          </a:r>
          <a:r>
            <a:rPr lang="it-IT" sz="2400" kern="1200" dirty="0"/>
            <a:t> containers </a:t>
          </a:r>
          <a:r>
            <a:rPr lang="it-IT" sz="2400" kern="1200" dirty="0" err="1"/>
            <a:t>today</a:t>
          </a:r>
          <a:r>
            <a:rPr lang="it-IT" sz="2400" kern="1200" dirty="0"/>
            <a:t>, </a:t>
          </a:r>
          <a:r>
            <a:rPr lang="it-IT" sz="2400" kern="1200" dirty="0" err="1"/>
            <a:t>you</a:t>
          </a:r>
          <a:r>
            <a:rPr lang="it-IT" sz="2400" kern="1200" dirty="0"/>
            <a:t> can </a:t>
          </a:r>
          <a:r>
            <a:rPr lang="it-IT" sz="2400" kern="1200" dirty="0" err="1"/>
            <a:t>run</a:t>
          </a:r>
          <a:r>
            <a:rPr lang="it-IT" sz="2400" kern="1200" dirty="0"/>
            <a:t> </a:t>
          </a:r>
          <a:r>
            <a:rPr lang="it-IT" sz="2400" kern="1200" dirty="0" err="1"/>
            <a:t>this</a:t>
          </a:r>
          <a:r>
            <a:rPr lang="it-IT" sz="2400" kern="1200" dirty="0"/>
            <a:t> by Friday.</a:t>
          </a:r>
          <a:endParaRPr lang="en-US" sz="2400" kern="1200" dirty="0"/>
        </a:p>
      </dsp:txBody>
      <dsp:txXfrm>
        <a:off x="605494" y="3525959"/>
        <a:ext cx="10042405" cy="704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24/10/2026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minutes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build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works,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to the cloud in a container —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line of code.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tool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API builder, DAB for short.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source,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Azure SQL team,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June 2026.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	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Danilo Dominici,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independent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work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Microsoft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data project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API: a REST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handful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authorisation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model, a deployment pipeline,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burden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volunteered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API builder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single JSON file — and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turns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MCP server for AI agents.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an 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Server, an Azure SQL Database and a SQL database in Microsoft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Microsoft Entra ID,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item-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policies;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container running in Azure Container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AWS. 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demos,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1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working recipe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copy —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JSON are on the slides and in the repository.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And a deployment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tool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toy.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assume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T-SQL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roughly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works. I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assume .NET, and I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assume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Cosmos DB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MongoDB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sources.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 supports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out of the scope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193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705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last data API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shipped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work.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Boilerplate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controller, a DTO, a mapper,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filtering.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glue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Token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one consumer, filtering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Reimplemented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Monday. The API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itself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redeployed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the consumer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mismatch in production.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tracing, health probes, caching, and a build pipeline — for code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 JSON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uncomfortable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last API,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code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(pause —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time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twenty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plumbing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plumbing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456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open-source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configuration-driven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JSON file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MCP endpoints over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code generator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scaffolded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repository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schema browser: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Zero lines of API code. Three endpoint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MIT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premium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per-call pricing —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end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talk.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people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underestimate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card: REST for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front-end team, MCP for the AI agents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policies. One place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01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B3B5-F38A-54A9-F37C-E3CCC9BA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35EF2D-E70A-D634-1DD6-B55D0C09F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BBC3B1-7577-C47B-8DE0-61C8FD5E4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Consumers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/api, 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middle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container. Inside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one: consumers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schema. You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names,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RBAC and item-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Then the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builder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turns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T-SQL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caching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yourself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data sources. Note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once, and in demo 3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scaling out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just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session state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sticky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5648E3-72A1-3402-DC6E-FC6E0A4D5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69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sources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minimum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SQL Server 2016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Azure SQL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SQL database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Synapse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pools,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11, MySQL 8, and Cosmos DB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container support.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genuinely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rule. Azure, AWS, GCP, Oracle Cloud,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centre.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caveats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minimum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Server 2014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out. And the feature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caching and MCP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SQL family. Check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promise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MySQL.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746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file.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part people screenshot, so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841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mental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data-source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database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Notice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literal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 @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@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akv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Azure Key Vault.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puts a password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on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Cache. CORS. Host mode. Authentication provider.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Here,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Policymapped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dbo.Policies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/api/policies,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users.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setting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host.mode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Swagger,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playground and verbose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 production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disappear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Forgetting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switch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single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mistake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don’t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CLI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schema-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JSON.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scaffolds.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update and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configurechange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afterwards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validate checks the file.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validate.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malformed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deployment.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new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2.0 —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MCP over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 in a security review.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include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lists.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AI agent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authorisation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Role-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actions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item-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policies: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OData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-style predicate,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broker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their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policy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predicate in the WHERE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filter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fetched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claims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token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row-level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unchanged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998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surface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for free. Collection, single item by key,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update,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upsert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delete. Plus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Swagger UI.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operators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OData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-like: $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$filter, $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orderby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$first, $after 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worried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filters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queries.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178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data,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mirror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key,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database.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query,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N+1.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sum,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min, max,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SQL family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separate service in front of the database.</a:t>
            </a:r>
          </a:p>
          <a:p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theory. Let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one.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098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 in June 2026.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ago,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84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cards. Three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MCP tools, custom tools,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calls.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Simpler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defaults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new authentication provider,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pre-wired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hand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740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schema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pull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include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.%,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dbo.internal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%, name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 template,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and a cache template. The patterns are re-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start, so a new matching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-simulate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database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match. Put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"so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leaks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schema."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patterns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Microsoft SQL sources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44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in 2.0: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to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to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upside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on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risk, and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system.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second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--show-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permissionsprints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inherited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generate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 and diff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releases.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up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diff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incident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149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new authentication provider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Unauthenticated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makes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default for new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anonymous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no JWT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inspected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—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provider first.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trap: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Even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gateway in front of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re-scaffold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2.0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carefully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suddenly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 logs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until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broken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providers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unchanged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Entra ID, a custom JWT issuer, App Service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EasyAuth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simulator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961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favourite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in 2.0.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itself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one connection pool.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row-level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and audit logs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service account,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-Of, DAB takes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caller's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exchanges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database token. The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 user. Row-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 and auditing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Entra ID, an app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a SQL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Entra tokens.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costs, and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caching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per-user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connection pool per user,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pooling benefit. And a token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exchange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compliance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agent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service"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feature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462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1.7,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MCP server. In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custom tools and full tracing.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 tools: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create, update, delete,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procedure, aggregate. An agent calls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tools; DAB builds the T-SQL. Every call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RBAC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policies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in 2.0: set custom-tool on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-procedure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 the agent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call by name. Your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an agent, with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design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enterprise-viable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deliberately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NL2SQL.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SQL. Models are non-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queries people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spot.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tools over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yes.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627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twenty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seconds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slashes,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group endpoints under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contrived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names.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permission-aware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fields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 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/{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enumerates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production.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PUT and PATCH: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upsert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key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one setting.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dwelling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permission-aware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Your API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consumer.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584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 DBA audience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footnote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first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middle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able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doing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database."</a:t>
            </a:r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telemetry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pre-wired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standard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flow —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Jaeger, Application Insights, whatever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OTLP.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DAB starts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skips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in 2.0: MCP tool calls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alongside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One dashboard covers human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agent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auditors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first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health endpoint with per-data-source and per-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checks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-time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a small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appreciate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DAB puts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-&lt;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 in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sessions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DMVs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6323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L1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L2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cache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 L1L2,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checks L1,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L2,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database,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consequences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second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serve from L2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L1,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recycled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 starts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share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cache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SSMS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cache and 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-Of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59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part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loudest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reaction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servers.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755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databases. You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top-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lists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files,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source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Rules. Every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data-source and an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top-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honoured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settings in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names and REST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files.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collision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loudly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server: policy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forbids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servers; one of the systems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SQL; the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join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sources.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You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endpoint,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model,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client, or in the agent.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large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046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deserves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trip people up.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database in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database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else in the SQL family. The catch: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Entra authentication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SQL logins.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a service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-container flow in the VS Code extension,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Lakehouse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endpoints are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Two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notes: drop the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server name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rejected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and use Authentication=Active Directory Default.</a:t>
            </a:r>
          </a:p>
          <a:p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Synapse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dedicated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pools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dwsql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 set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toy: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itself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component of Microsoft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138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public image,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mcr.microsoft.com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-databases/data-api-builder.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port 5000.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Whatever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containers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DAB.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one container, a public IP or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orchestrator.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demo.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 Apps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scale to zero,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in. AKS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AKS. App Service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estate. On AWS: ECS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Fargate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App Runner. And 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premises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building.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3828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steps.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build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the secret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file.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build an image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base image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 /App/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dab-config.json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build in Azure —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Docker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 create with the image, port 5000, a DNS label, and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check /health, and open /api/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openapi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the public name.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of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are demo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shortcuts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name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admin-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registry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production, use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database, pull secrets with @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akv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()from Key Vault, put the container in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VNet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gateway, and switch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 to production.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mounting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an Azure Files share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baking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image. Both work.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image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pipeline: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immutable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artefact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one tag,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rollback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777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image,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 ECS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Fargate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task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container port 5000, an ALB target group, a health check on /health, and the connection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Secrets Manager. Scale on CPU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App Runner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point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image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 and scaling with no load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part.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genuinely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story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 AWS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Azure SQL,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back to a SQL login or a service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client secret. Private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AWS VPC and Azure SQL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firewall rules, Private Link or a VPN. And an API in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reading a database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design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egress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attached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decide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deliberately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else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endpoints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byte-for-byte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283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talk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CRUD,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workflows.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business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 multi-step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state machine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else.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cross-source joins in a single call. No DDL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deliberately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consumer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query can express,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writing a service.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Rough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know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 hour: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key or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startup.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geography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tables-only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SQL-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2.0. And the feature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genuinely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source.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pitch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DAB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nobody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Keep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services, or in the agent —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serve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8278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One: a JSON file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CRUD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rewriting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Two: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REST,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MCP, with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Three: 2.0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agents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auto-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-of, custom MCP tools,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tool calls.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front SQL Server, Azure SQL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once. Five: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containers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Friday.</a:t>
            </a:r>
          </a:p>
          <a:p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50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 This Session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Slide on all presentations. 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The speaker should not edit, move or delete this slide.</a:t>
            </a:r>
            <a:endParaRPr lang="en-IE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1281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42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A8D52-BA5C-9696-E582-91A420C6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600421-5F52-85FF-098E-40B1AEED3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DF027B-BF04-86EB-77F9-A3E0D295A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1BBE40-15DD-3FDC-4E06-5B68F36B4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650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5CC0-D22D-E56E-DC0E-4F1C45A7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BD9B60-C184-0A25-39E9-2CA17AD7D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DF4787-CF22-7B3A-59BE-3E893FD6D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926B9D-B0BB-6B41-370D-2EA3B8F6E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5171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4FCC-28E6-50D7-B1BC-0044AC14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E871A3F-78D5-264E-5ED7-07866D3EC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62B5AA-84D1-7939-63D5-2EFDC8A39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FA161A-1710-C400-526F-83C60D18D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088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B9EA-AFBA-814A-1D9B-8B1C9BAF3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094041A-4260-23C5-E186-6E888A8C9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9A53B8-6486-FCF7-AF5A-0AB27D35A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7F1AB2-5D21-104C-8C8C-8D53931AE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687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148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31152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  <p:sldLayoutId id="214748369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857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95644A-9A8D-52E8-85C4-E4700598AD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080557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212365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Connecting the dots: using Data API Builder to expose your SQL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3400" b="1" dirty="0">
                <a:solidFill>
                  <a:srgbClr val="BCA045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DANILO DOMINICI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2400" dirty="0">
                <a:solidFill>
                  <a:schemeClr val="bg2"/>
                </a:solidFill>
                <a:latin typeface="Arial" panose="020B0604020202020204" pitchFamily="34" charset="0"/>
                <a:ea typeface="Calibri" charset="0"/>
                <a:cs typeface="Arial" panose="020B0604020202020204" pitchFamily="34" charset="0"/>
              </a:rPr>
              <a:t>INDEPENDENT CONSULTANT, ITALY</a:t>
            </a:r>
          </a:p>
        </p:txBody>
      </p:sp>
      <p:pic>
        <p:nvPicPr>
          <p:cNvPr id="9" name="Segnaposto immagine 8">
            <a:extLst>
              <a:ext uri="{FF2B5EF4-FFF2-40B4-BE49-F238E27FC236}">
                <a16:creationId xmlns:a16="http://schemas.microsoft.com/office/drawing/2014/main" id="{82B92296-801A-257E-70CB-1B6644F89A5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130" y="1587834"/>
            <a:ext cx="1700881" cy="17007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IE" sz="2000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not record or livestream this session</a:t>
            </a:r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00939E-FF4D-5A32-D059-5DCC6A86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you’ll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leave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BDCEB06-EAB2-3187-8182-8E3B21916BD0}"/>
              </a:ext>
            </a:extLst>
          </p:cNvPr>
          <p:cNvSpPr>
            <a:spLocks noGrp="1"/>
          </p:cNvSpPr>
          <p:nvPr/>
        </p:nvSpPr>
        <p:spPr>
          <a:xfrm>
            <a:off x="997839" y="1757160"/>
            <a:ext cx="3048000" cy="2520041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E034691-11EA-55CA-59FC-383A4D1531C7}"/>
              </a:ext>
            </a:extLst>
          </p:cNvPr>
          <p:cNvSpPr>
            <a:spLocks noGrp="1"/>
          </p:cNvSpPr>
          <p:nvPr/>
        </p:nvSpPr>
        <p:spPr>
          <a:xfrm>
            <a:off x="118833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F718467-40EB-6365-9BE5-240FFE57FB7B}"/>
              </a:ext>
            </a:extLst>
          </p:cNvPr>
          <p:cNvSpPr>
            <a:spLocks noGrp="1"/>
          </p:cNvSpPr>
          <p:nvPr/>
        </p:nvSpPr>
        <p:spPr>
          <a:xfrm>
            <a:off x="1188339" y="2663393"/>
            <a:ext cx="2667000" cy="16138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mental model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here DAB fits between databases and consumers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48A5E20-7D70-DF58-0284-57E7E1ACD007}"/>
              </a:ext>
            </a:extLst>
          </p:cNvPr>
          <p:cNvSpPr>
            <a:spLocks noGrp="1"/>
          </p:cNvSpPr>
          <p:nvPr/>
        </p:nvSpPr>
        <p:spPr>
          <a:xfrm>
            <a:off x="4522089" y="1768819"/>
            <a:ext cx="3048000" cy="2520042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877B370-D395-F206-0504-995D60B31899}"/>
              </a:ext>
            </a:extLst>
          </p:cNvPr>
          <p:cNvSpPr>
            <a:spLocks noGrp="1"/>
          </p:cNvSpPr>
          <p:nvPr/>
        </p:nvSpPr>
        <p:spPr>
          <a:xfrm>
            <a:off x="471258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0C91547-1FD0-36D7-FBE9-FACE23C68C8D}"/>
              </a:ext>
            </a:extLst>
          </p:cNvPr>
          <p:cNvSpPr>
            <a:spLocks noGrp="1"/>
          </p:cNvSpPr>
          <p:nvPr/>
        </p:nvSpPr>
        <p:spPr>
          <a:xfrm>
            <a:off x="4712589" y="2663392"/>
            <a:ext cx="2667000" cy="161380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working recipe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CLI commands and JSON for SQL Server, </a:t>
            </a:r>
            <a:r>
              <a:rPr lang="it-IT" sz="16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it-IT"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 and Fabric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2A65AC7-9B23-1398-F83D-023E26D5E003}"/>
              </a:ext>
            </a:extLst>
          </p:cNvPr>
          <p:cNvSpPr>
            <a:spLocks noGrp="1"/>
          </p:cNvSpPr>
          <p:nvPr/>
        </p:nvSpPr>
        <p:spPr>
          <a:xfrm>
            <a:off x="8046339" y="1757158"/>
            <a:ext cx="3048000" cy="2520043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7A1198D-3280-B9C8-2230-4A1B24E56291}"/>
              </a:ext>
            </a:extLst>
          </p:cNvPr>
          <p:cNvSpPr>
            <a:spLocks noGrp="1"/>
          </p:cNvSpPr>
          <p:nvPr/>
        </p:nvSpPr>
        <p:spPr>
          <a:xfrm>
            <a:off x="8236839" y="2110943"/>
            <a:ext cx="76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483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A136DB4-2C14-D23A-A858-50C99B1FAEAA}"/>
              </a:ext>
            </a:extLst>
          </p:cNvPr>
          <p:cNvSpPr>
            <a:spLocks noGrp="1"/>
          </p:cNvSpPr>
          <p:nvPr/>
        </p:nvSpPr>
        <p:spPr>
          <a:xfrm>
            <a:off x="8236839" y="2663393"/>
            <a:ext cx="2667000" cy="16138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deployment path</a:t>
            </a:r>
            <a:br>
              <a:rPr lang="it-IT" sz="20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</a:t>
            </a:r>
            <a:r>
              <a:rPr sz="16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he same container image in Azure Container Instances and AWS</a:t>
            </a:r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647F20E1-1F28-B696-AF03-F7D06AB9C393}"/>
              </a:ext>
            </a:extLst>
          </p:cNvPr>
          <p:cNvSpPr/>
          <p:nvPr/>
        </p:nvSpPr>
        <p:spPr>
          <a:xfrm>
            <a:off x="997839" y="4522019"/>
            <a:ext cx="10096500" cy="1613808"/>
          </a:xfrm>
          <a:prstGeom prst="roundRect">
            <a:avLst>
              <a:gd name="adj" fmla="val 3636"/>
            </a:avLst>
          </a:prstGeom>
          <a:solidFill>
            <a:srgbClr val="E7EAF6"/>
          </a:solidFill>
          <a:ln w="12700">
            <a:solidFill>
              <a:srgbClr val="E7EAF6"/>
            </a:solidFill>
            <a:prstDash val="solid"/>
          </a:ln>
          <a:effectLst>
            <a:outerShdw blurRad="101600" dist="25400" dir="5400000" algn="bl" rotWithShape="0">
              <a:srgbClr val="8890B8">
                <a:alpha val="2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3B521279-C52D-32F9-2529-DA1EBAD1F131}"/>
              </a:ext>
            </a:extLst>
          </p:cNvPr>
          <p:cNvSpPr txBox="1"/>
          <p:nvPr/>
        </p:nvSpPr>
        <p:spPr>
          <a:xfrm>
            <a:off x="1235583" y="4723187"/>
            <a:ext cx="9641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knowledge — and what we will not cover</a:t>
            </a:r>
            <a:endParaRPr lang="en-US" sz="1500" dirty="0"/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70922997-C0F7-97C1-21AE-9DECC442DE0B}"/>
              </a:ext>
            </a:extLst>
          </p:cNvPr>
          <p:cNvSpPr txBox="1"/>
          <p:nvPr/>
        </p:nvSpPr>
        <p:spPr>
          <a:xfrm>
            <a:off x="1235583" y="5180387"/>
            <a:ext cx="9768078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T-SQL, basic HTTP/JSON, what a container is. No .NET or GraphQL experience needed.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covered: Cosmos DB / MongoDB sources, Static Web Apps database connections, deep GraphQL schema design.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open source (MIT) and free — there is no premium tier to buy at the end of this talk.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0553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3E50FE2-64BE-F2DA-E84B-921C689FA3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1 - WHY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3A36C8A-7729-E75B-8DB3-4C616B69074C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Data API builder exists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C1F74DD-81D8-3A1A-7D60-5086B2D94D0C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part of every data project nobody wants to own</a:t>
            </a:r>
          </a:p>
        </p:txBody>
      </p:sp>
    </p:spTree>
    <p:extLst>
      <p:ext uri="{BB962C8B-B14F-4D97-AF65-F5344CB8AC3E}">
        <p14:creationId xmlns:p14="http://schemas.microsoft.com/office/powerpoint/2010/main" val="294016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8ADFED-AD91-B945-42EF-09ECC860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CRUD API tax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plumbing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keep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rewriting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4EC763-AE55-17B4-583F-673E4EA1A4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Boilerplate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controllers,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DTOs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mappers,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pagination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sorting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filtering.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Again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Security </a:t>
            </a:r>
            <a:r>
              <a:rPr lang="it-IT" sz="2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glue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token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checks,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column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masking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row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filters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reimplemented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per service.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Drift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the database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Monday; the API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catches up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next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sprint.</a:t>
            </a:r>
          </a:p>
          <a:p>
            <a:r>
              <a:rPr lang="it-IT" sz="2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Operations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logging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tracing, health probes, caching, and CI/CD for code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moves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rows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75D7D2E-AF09-B914-2BDD-0406C5C6943A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2140A6F-A573-5C9A-EBBE-657DC88949D6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DAB’s bet: the plumbing is a solved problem and should be configuration, not code.</a:t>
            </a:r>
          </a:p>
        </p:txBody>
      </p:sp>
    </p:spTree>
    <p:extLst>
      <p:ext uri="{BB962C8B-B14F-4D97-AF65-F5344CB8AC3E}">
        <p14:creationId xmlns:p14="http://schemas.microsoft.com/office/powerpoint/2010/main" val="283561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22E4F6D-F2F3-89E2-3E58-9802C059B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DAB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is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86E2B9-5074-E73E-682E-DFE5BA999C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An open-source,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configuration-driven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engine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serves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REST,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MCP over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existing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objects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Stateless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container, a sidecar, or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CLI.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code generator: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scaffolded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project to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maintain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7982703-4195-0642-8CCA-3AD5FC09B8A1}"/>
              </a:ext>
            </a:extLst>
          </p:cNvPr>
          <p:cNvSpPr>
            <a:spLocks noGrp="1"/>
          </p:cNvSpPr>
          <p:nvPr/>
        </p:nvSpPr>
        <p:spPr>
          <a:xfrm>
            <a:off x="979266" y="4106360"/>
            <a:ext cx="2286000" cy="6667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8AD7B1F-8771-4D6B-6C8B-7C01B420D69C}"/>
              </a:ext>
            </a:extLst>
          </p:cNvPr>
          <p:cNvSpPr>
            <a:spLocks noGrp="1"/>
          </p:cNvSpPr>
          <p:nvPr/>
        </p:nvSpPr>
        <p:spPr>
          <a:xfrm>
            <a:off x="1074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JSON config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7E74C33-22D0-CA5F-87EB-16E8F14567D7}"/>
              </a:ext>
            </a:extLst>
          </p:cNvPr>
          <p:cNvSpPr>
            <a:spLocks noGrp="1"/>
          </p:cNvSpPr>
          <p:nvPr/>
        </p:nvSpPr>
        <p:spPr>
          <a:xfrm>
            <a:off x="3646266" y="4106360"/>
            <a:ext cx="2286000" cy="6667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2A8AD2D-8DCC-1E91-280B-39C7D61A734B}"/>
              </a:ext>
            </a:extLst>
          </p:cNvPr>
          <p:cNvSpPr>
            <a:spLocks noGrp="1"/>
          </p:cNvSpPr>
          <p:nvPr/>
        </p:nvSpPr>
        <p:spPr>
          <a:xfrm>
            <a:off x="3741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483F"/>
                </a:solidFill>
                <a:latin typeface="Arial"/>
                <a:ea typeface="Arial"/>
                <a:cs typeface="Arial"/>
              </a:rPr>
              <a:t>0 lines of API code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5C9DED-A60F-51F6-F3DF-2A4A1BB6B8A1}"/>
              </a:ext>
            </a:extLst>
          </p:cNvPr>
          <p:cNvSpPr>
            <a:spLocks noGrp="1"/>
          </p:cNvSpPr>
          <p:nvPr/>
        </p:nvSpPr>
        <p:spPr>
          <a:xfrm>
            <a:off x="6313266" y="4106360"/>
            <a:ext cx="2286000" cy="6667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CC27183-49AD-F446-0FDA-4BC70B8542B3}"/>
              </a:ext>
            </a:extLst>
          </p:cNvPr>
          <p:cNvSpPr>
            <a:spLocks noGrp="1"/>
          </p:cNvSpPr>
          <p:nvPr/>
        </p:nvSpPr>
        <p:spPr>
          <a:xfrm>
            <a:off x="6408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endpoint types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DE70E3F-A3C7-105F-CFA4-EE18F0ECC18B}"/>
              </a:ext>
            </a:extLst>
          </p:cNvPr>
          <p:cNvSpPr>
            <a:spLocks noGrp="1"/>
          </p:cNvSpPr>
          <p:nvPr/>
        </p:nvSpPr>
        <p:spPr>
          <a:xfrm>
            <a:off x="8980266" y="4106360"/>
            <a:ext cx="2286000" cy="6667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FEEEC8A-32F5-BBF1-3348-E6641794B33C}"/>
              </a:ext>
            </a:extLst>
          </p:cNvPr>
          <p:cNvSpPr>
            <a:spLocks noGrp="1"/>
          </p:cNvSpPr>
          <p:nvPr/>
        </p:nvSpPr>
        <p:spPr>
          <a:xfrm>
            <a:off x="9075516" y="427781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0483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483F"/>
                </a:solidFill>
                <a:latin typeface="Arial"/>
                <a:ea typeface="Arial"/>
                <a:cs typeface="Arial"/>
              </a:rPr>
              <a:t>MIT open source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27A3282-1F1E-C2A7-E72F-DBEC4613D4D8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77E2D15-C420-92EA-9C91-CA7CC4077514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entity model, one permission model, three surfaces: REST for integrations, GraphQL for front ends, MCP for agents.</a:t>
            </a:r>
          </a:p>
        </p:txBody>
      </p:sp>
    </p:spTree>
    <p:extLst>
      <p:ext uri="{BB962C8B-B14F-4D97-AF65-F5344CB8AC3E}">
        <p14:creationId xmlns:p14="http://schemas.microsoft.com/office/powerpoint/2010/main" val="207939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8DC2-D822-78D1-502B-3E2D953E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B0AD6B6-0B5E-B3CE-BD9C-2046B9FC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Architecture</a:t>
            </a:r>
            <a:endParaRPr lang="it-IT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861C6947-6004-D314-269D-721391BB5890}"/>
              </a:ext>
            </a:extLst>
          </p:cNvPr>
          <p:cNvSpPr/>
          <p:nvPr/>
        </p:nvSpPr>
        <p:spPr>
          <a:xfrm>
            <a:off x="609600" y="2047673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DBD6D034-62B1-2691-0DB4-BEBABA100974}"/>
              </a:ext>
            </a:extLst>
          </p:cNvPr>
          <p:cNvSpPr txBox="1"/>
          <p:nvPr/>
        </p:nvSpPr>
        <p:spPr>
          <a:xfrm>
            <a:off x="792480" y="2157401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</a:t>
            </a:r>
            <a:endParaRPr lang="en-US" sz="14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C422A506-4B1C-DE73-49E1-CF7C9B62E66D}"/>
              </a:ext>
            </a:extLst>
          </p:cNvPr>
          <p:cNvSpPr txBox="1"/>
          <p:nvPr/>
        </p:nvSpPr>
        <p:spPr>
          <a:xfrm>
            <a:off x="792480" y="247744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endParaRPr lang="en-US" sz="14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DE400AAB-2CA4-81F9-4897-6FEB4426962D}"/>
              </a:ext>
            </a:extLst>
          </p:cNvPr>
          <p:cNvSpPr/>
          <p:nvPr/>
        </p:nvSpPr>
        <p:spPr>
          <a:xfrm>
            <a:off x="3352800" y="2486585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590E6B91-A795-0B79-0CF3-4FDAB77BCB40}"/>
              </a:ext>
            </a:extLst>
          </p:cNvPr>
          <p:cNvSpPr/>
          <p:nvPr/>
        </p:nvSpPr>
        <p:spPr>
          <a:xfrm>
            <a:off x="609600" y="3190673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5043DE0-517B-1BDF-CFDB-905FB7CFC760}"/>
              </a:ext>
            </a:extLst>
          </p:cNvPr>
          <p:cNvSpPr txBox="1"/>
          <p:nvPr/>
        </p:nvSpPr>
        <p:spPr>
          <a:xfrm>
            <a:off x="792480" y="3300401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client</a:t>
            </a:r>
            <a:endParaRPr lang="en-US" sz="14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8E43A21-1242-0958-D0D2-F7A9E3FE9EC6}"/>
              </a:ext>
            </a:extLst>
          </p:cNvPr>
          <p:cNvSpPr txBox="1"/>
          <p:nvPr/>
        </p:nvSpPr>
        <p:spPr>
          <a:xfrm>
            <a:off x="792480" y="362044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/graphql</a:t>
            </a:r>
            <a:endParaRPr lang="en-US" sz="14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08F342-AEE6-A63D-8E95-8603C6FF8DB7}"/>
              </a:ext>
            </a:extLst>
          </p:cNvPr>
          <p:cNvSpPr/>
          <p:nvPr/>
        </p:nvSpPr>
        <p:spPr>
          <a:xfrm>
            <a:off x="3352800" y="3629585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65DEA2BA-257D-5E41-9C4F-5851A621EB7B}"/>
              </a:ext>
            </a:extLst>
          </p:cNvPr>
          <p:cNvSpPr/>
          <p:nvPr/>
        </p:nvSpPr>
        <p:spPr>
          <a:xfrm>
            <a:off x="609600" y="4333673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BEB9F0F3-E38C-BDDA-EB1B-5DFB8ABC6D2B}"/>
              </a:ext>
            </a:extLst>
          </p:cNvPr>
          <p:cNvSpPr txBox="1"/>
          <p:nvPr/>
        </p:nvSpPr>
        <p:spPr>
          <a:xfrm>
            <a:off x="792480" y="4443401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(MCP)</a:t>
            </a:r>
            <a:endParaRPr lang="en-US" sz="14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3C73C7DC-F78C-5F7B-B43F-9A2A5016A3C2}"/>
              </a:ext>
            </a:extLst>
          </p:cNvPr>
          <p:cNvSpPr txBox="1"/>
          <p:nvPr/>
        </p:nvSpPr>
        <p:spPr>
          <a:xfrm>
            <a:off x="792480" y="4763441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4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DDBAC45-8F6E-65D7-79B0-18700E1CC362}"/>
              </a:ext>
            </a:extLst>
          </p:cNvPr>
          <p:cNvSpPr/>
          <p:nvPr/>
        </p:nvSpPr>
        <p:spPr>
          <a:xfrm>
            <a:off x="3352800" y="4772585"/>
            <a:ext cx="685800" cy="0"/>
          </a:xfrm>
          <a:prstGeom prst="line">
            <a:avLst/>
          </a:prstGeom>
          <a:noFill/>
          <a:ln w="25400">
            <a:solidFill>
              <a:srgbClr val="E08A2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0C6F20EB-FA42-F8E4-CF6D-205B373389AC}"/>
              </a:ext>
            </a:extLst>
          </p:cNvPr>
          <p:cNvSpPr/>
          <p:nvPr/>
        </p:nvSpPr>
        <p:spPr>
          <a:xfrm>
            <a:off x="4175760" y="2047673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4183C"/>
          </a:solidFill>
          <a:ln w="12700">
            <a:solidFill>
              <a:srgbClr val="1418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27D088E6-6D6D-B384-ECEF-789E554E106C}"/>
              </a:ext>
            </a:extLst>
          </p:cNvPr>
          <p:cNvSpPr txBox="1"/>
          <p:nvPr/>
        </p:nvSpPr>
        <p:spPr>
          <a:xfrm>
            <a:off x="4358640" y="2230553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API builder</a:t>
            </a:r>
            <a:endParaRPr lang="en-US" sz="20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4257175D-C6C5-ECC6-E637-23B52FDE2B2E}"/>
              </a:ext>
            </a:extLst>
          </p:cNvPr>
          <p:cNvSpPr txBox="1"/>
          <p:nvPr/>
        </p:nvSpPr>
        <p:spPr>
          <a:xfrm>
            <a:off x="4358640" y="2596313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container</a:t>
            </a:r>
            <a:endParaRPr lang="en-US" sz="1200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F20F5E20-38BA-E980-EA19-58E6B1A22845}"/>
              </a:ext>
            </a:extLst>
          </p:cNvPr>
          <p:cNvSpPr/>
          <p:nvPr/>
        </p:nvSpPr>
        <p:spPr>
          <a:xfrm>
            <a:off x="4358640" y="3007793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414A88C9-1324-9FFB-736F-6BC65A989BD0}"/>
              </a:ext>
            </a:extLst>
          </p:cNvPr>
          <p:cNvSpPr txBox="1"/>
          <p:nvPr/>
        </p:nvSpPr>
        <p:spPr>
          <a:xfrm>
            <a:off x="4495800" y="3007793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abstraction layer</a:t>
            </a:r>
            <a:endParaRPr lang="en-US" sz="12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B9193BD6-4354-7981-8E9F-A75AF7B379A2}"/>
              </a:ext>
            </a:extLst>
          </p:cNvPr>
          <p:cNvSpPr/>
          <p:nvPr/>
        </p:nvSpPr>
        <p:spPr>
          <a:xfrm>
            <a:off x="4358640" y="3583865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13096715-6AEF-D52D-3059-FD2BA3ACB122}"/>
              </a:ext>
            </a:extLst>
          </p:cNvPr>
          <p:cNvSpPr txBox="1"/>
          <p:nvPr/>
        </p:nvSpPr>
        <p:spPr>
          <a:xfrm>
            <a:off x="4495800" y="3583865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item-level policies</a:t>
            </a:r>
            <a:endParaRPr lang="en-US" sz="1200" dirty="0"/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258731C2-7C11-D133-0F25-37581529198E}"/>
              </a:ext>
            </a:extLst>
          </p:cNvPr>
          <p:cNvSpPr/>
          <p:nvPr/>
        </p:nvSpPr>
        <p:spPr>
          <a:xfrm>
            <a:off x="4358640" y="4159937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8D47EBCC-4134-2EE1-EA90-B66744DA44C9}"/>
              </a:ext>
            </a:extLst>
          </p:cNvPr>
          <p:cNvSpPr txBox="1"/>
          <p:nvPr/>
        </p:nvSpPr>
        <p:spPr>
          <a:xfrm>
            <a:off x="4495800" y="4159937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 (deterministic T-SQL)</a:t>
            </a:r>
            <a:endParaRPr lang="en-US" sz="1200" dirty="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99C4F283-83D4-DF26-8BFD-A2C86EA63B60}"/>
              </a:ext>
            </a:extLst>
          </p:cNvPr>
          <p:cNvSpPr/>
          <p:nvPr/>
        </p:nvSpPr>
        <p:spPr>
          <a:xfrm>
            <a:off x="4358640" y="4736009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232A5C"/>
          </a:solidFill>
          <a:ln w="12700">
            <a:solidFill>
              <a:srgbClr val="232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65AE897E-C39E-5A47-86C6-73D95E335D8E}"/>
              </a:ext>
            </a:extLst>
          </p:cNvPr>
          <p:cNvSpPr txBox="1"/>
          <p:nvPr/>
        </p:nvSpPr>
        <p:spPr>
          <a:xfrm>
            <a:off x="4495800" y="473600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L1 / L2 · OpenTelemetry</a:t>
            </a:r>
            <a:endParaRPr lang="en-US" sz="1200" dirty="0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AE1DD8EF-1F4E-9700-00A7-1905DBCA9525}"/>
              </a:ext>
            </a:extLst>
          </p:cNvPr>
          <p:cNvSpPr/>
          <p:nvPr/>
        </p:nvSpPr>
        <p:spPr>
          <a:xfrm>
            <a:off x="8153400" y="2413433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D247260D-3990-86CE-4F3F-D6C818D27997}"/>
              </a:ext>
            </a:extLst>
          </p:cNvPr>
          <p:cNvSpPr/>
          <p:nvPr/>
        </p:nvSpPr>
        <p:spPr>
          <a:xfrm>
            <a:off x="8884920" y="2047673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E8A5923E-571A-BE41-35D2-51CB290654C7}"/>
              </a:ext>
            </a:extLst>
          </p:cNvPr>
          <p:cNvSpPr txBox="1"/>
          <p:nvPr/>
        </p:nvSpPr>
        <p:spPr>
          <a:xfrm>
            <a:off x="9022080" y="2047673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(on-prem / VM)</a:t>
            </a:r>
            <a:endParaRPr lang="en-US" sz="1400" dirty="0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530D6627-30A8-F789-BE56-3441EC9E2548}"/>
              </a:ext>
            </a:extLst>
          </p:cNvPr>
          <p:cNvSpPr/>
          <p:nvPr/>
        </p:nvSpPr>
        <p:spPr>
          <a:xfrm>
            <a:off x="8153400" y="3282113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5F3D174F-D8F0-F9EE-B914-B777AD967914}"/>
              </a:ext>
            </a:extLst>
          </p:cNvPr>
          <p:cNvSpPr/>
          <p:nvPr/>
        </p:nvSpPr>
        <p:spPr>
          <a:xfrm>
            <a:off x="8884920" y="2916353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DD5D828-D40A-0286-6F3B-95C42514A0AA}"/>
              </a:ext>
            </a:extLst>
          </p:cNvPr>
          <p:cNvSpPr txBox="1"/>
          <p:nvPr/>
        </p:nvSpPr>
        <p:spPr>
          <a:xfrm>
            <a:off x="9022080" y="2916353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 &amp; MI</a:t>
            </a:r>
            <a:endParaRPr lang="en-US" sz="1400" dirty="0"/>
          </a:p>
        </p:txBody>
      </p:sp>
      <p:sp>
        <p:nvSpPr>
          <p:cNvPr id="48" name="Shape 34">
            <a:extLst>
              <a:ext uri="{FF2B5EF4-FFF2-40B4-BE49-F238E27FC236}">
                <a16:creationId xmlns:a16="http://schemas.microsoft.com/office/drawing/2014/main" id="{5C789B1C-C34A-4342-EB5A-BC845E7DB09A}"/>
              </a:ext>
            </a:extLst>
          </p:cNvPr>
          <p:cNvSpPr/>
          <p:nvPr/>
        </p:nvSpPr>
        <p:spPr>
          <a:xfrm>
            <a:off x="8153400" y="4150793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C13D2C21-2A59-53CD-EC54-9A6988958AD7}"/>
              </a:ext>
            </a:extLst>
          </p:cNvPr>
          <p:cNvSpPr/>
          <p:nvPr/>
        </p:nvSpPr>
        <p:spPr>
          <a:xfrm>
            <a:off x="8884920" y="3785033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F1F3F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EC9F414B-0F48-FCEB-0134-B64DDDF12703}"/>
              </a:ext>
            </a:extLst>
          </p:cNvPr>
          <p:cNvSpPr txBox="1"/>
          <p:nvPr/>
        </p:nvSpPr>
        <p:spPr>
          <a:xfrm>
            <a:off x="9022080" y="3785033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in Fabric</a:t>
            </a:r>
            <a:endParaRPr lang="en-US" sz="1400" dirty="0"/>
          </a:p>
        </p:txBody>
      </p:sp>
      <p:sp>
        <p:nvSpPr>
          <p:cNvPr id="51" name="Shape 37">
            <a:extLst>
              <a:ext uri="{FF2B5EF4-FFF2-40B4-BE49-F238E27FC236}">
                <a16:creationId xmlns:a16="http://schemas.microsoft.com/office/drawing/2014/main" id="{C5AE7774-7D9A-B0B7-52BD-76FB719D723D}"/>
              </a:ext>
            </a:extLst>
          </p:cNvPr>
          <p:cNvSpPr/>
          <p:nvPr/>
        </p:nvSpPr>
        <p:spPr>
          <a:xfrm>
            <a:off x="8153400" y="5019473"/>
            <a:ext cx="640080" cy="0"/>
          </a:xfrm>
          <a:prstGeom prst="line">
            <a:avLst/>
          </a:prstGeom>
          <a:noFill/>
          <a:ln w="25400">
            <a:solidFill>
              <a:srgbClr val="1F8F80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38">
            <a:extLst>
              <a:ext uri="{FF2B5EF4-FFF2-40B4-BE49-F238E27FC236}">
                <a16:creationId xmlns:a16="http://schemas.microsoft.com/office/drawing/2014/main" id="{EB67E77F-46D3-35F2-60DE-BE411EC66827}"/>
              </a:ext>
            </a:extLst>
          </p:cNvPr>
          <p:cNvSpPr/>
          <p:nvPr/>
        </p:nvSpPr>
        <p:spPr>
          <a:xfrm>
            <a:off x="8884920" y="4653713"/>
            <a:ext cx="2788920" cy="731520"/>
          </a:xfrm>
          <a:prstGeom prst="roundRect">
            <a:avLst>
              <a:gd name="adj" fmla="val 10000"/>
            </a:avLst>
          </a:prstGeom>
          <a:solidFill>
            <a:srgbClr val="E7EAF6"/>
          </a:solidFill>
          <a:ln w="12700">
            <a:solidFill>
              <a:srgbClr val="E7EA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89A53D1F-53F5-79F4-C21D-B4732A2C54BB}"/>
              </a:ext>
            </a:extLst>
          </p:cNvPr>
          <p:cNvSpPr txBox="1"/>
          <p:nvPr/>
        </p:nvSpPr>
        <p:spPr>
          <a:xfrm>
            <a:off x="9022080" y="4653713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MySQL · Cosmos DB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5218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86A090E-4BC1-752B-30BF-7B728686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Run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engine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anywhere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containers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BFEFFC9-5B33-39E9-F03F-9466310AEB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Sources: 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Server 2016+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 DB/MI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Synapse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dedicated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PostgreSQL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11+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MySQL 8+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Cosmos DB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393C724-32F0-8BB3-8E3D-626DEC2BDA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Deployment: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Azure: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Container Apps, AKS, App Service.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AWS / GCP / OCI: ECS/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EKS, App Runner, Cloud Run.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premises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Docker,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or the bare CLI.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start.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950BB85-4E87-B579-0151-AC400F13B5BE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442F6F2-73A2-B9EE-873C-67EAF59CA107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availability differs by source. The SQL family has the richest GraphQL aggregation, stored procedure, caching and MCP support.</a:t>
            </a:r>
          </a:p>
        </p:txBody>
      </p:sp>
    </p:spTree>
    <p:extLst>
      <p:ext uri="{BB962C8B-B14F-4D97-AF65-F5344CB8AC3E}">
        <p14:creationId xmlns:p14="http://schemas.microsoft.com/office/powerpoint/2010/main" val="73283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64EC-5FA9-837E-0D3E-3F5CD315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7377D6-2D3F-18FF-356A-A5E425D2A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2 - CONFIG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23AE0C6-BB11-1990-75D8-67CBA1EA42A8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165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Anatomy</a:t>
            </a:r>
            <a:r>
              <a:rPr lang="it-IT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of a </a:t>
            </a:r>
            <a:r>
              <a:rPr lang="it-IT" sz="165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</a:t>
            </a:r>
            <a:endParaRPr lang="it-IT" sz="165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1678D68-5D50-B9DE-C086-32145A483AB5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file,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six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commands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surfaces</a:t>
            </a:r>
            <a:endParaRPr lang="it-IT" sz="34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58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6BAA6579-A4A6-496E-B02F-5CE34EBBA4E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28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Titolo 19">
            <a:extLst>
              <a:ext uri="{FF2B5EF4-FFF2-40B4-BE49-F238E27FC236}">
                <a16:creationId xmlns:a16="http://schemas.microsoft.com/office/drawing/2014/main" id="{E062FFEB-3E0D-60A2-4F3B-AAE2DDE0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dab-config.json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C485E7BC-94FD-C4B8-44A8-A5CC30FF5D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3976687" cy="4235450"/>
          </a:xfrm>
        </p:spPr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Runtime controls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surfaces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cache, CORS and authentication.</a:t>
            </a:r>
          </a:p>
          <a:p>
            <a:r>
              <a:rPr lang="it-IT" dirty="0" err="1"/>
              <a:t>Entities</a:t>
            </a:r>
            <a:r>
              <a:rPr lang="it-IT" dirty="0"/>
              <a:t> alias </a:t>
            </a:r>
            <a:r>
              <a:rPr lang="it-IT" dirty="0" err="1"/>
              <a:t>tables</a:t>
            </a:r>
            <a:r>
              <a:rPr lang="it-IT" dirty="0"/>
              <a:t>, </a:t>
            </a:r>
            <a:r>
              <a:rPr lang="it-IT" dirty="0" err="1"/>
              <a:t>views</a:t>
            </a:r>
            <a:r>
              <a:rPr lang="it-IT" dirty="0"/>
              <a:t> and </a:t>
            </a:r>
            <a:r>
              <a:rPr lang="it-IT" dirty="0" err="1"/>
              <a:t>stored</a:t>
            </a:r>
            <a:r>
              <a:rPr lang="it-IT" dirty="0"/>
              <a:t> </a:t>
            </a:r>
            <a:r>
              <a:rPr lang="it-IT" dirty="0" err="1"/>
              <a:t>procedures</a:t>
            </a:r>
            <a:endParaRPr lang="it-IT" dirty="0"/>
          </a:p>
          <a:p>
            <a:r>
              <a:rPr lang="it-IT" dirty="0" err="1"/>
              <a:t>Permissions</a:t>
            </a:r>
            <a:r>
              <a:rPr lang="it-IT" dirty="0"/>
              <a:t> decide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can do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DB16290-BE5B-4200-96E8-1F3AE0D8C46F}"/>
              </a:ext>
            </a:extLst>
          </p:cNvPr>
          <p:cNvSpPr>
            <a:spLocks noGrp="1"/>
          </p:cNvSpPr>
          <p:nvPr/>
        </p:nvSpPr>
        <p:spPr>
          <a:xfrm>
            <a:off x="4714875" y="1513609"/>
            <a:ext cx="6858000" cy="4422053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it-IT" dirty="0"/>
              <a:t>&lt;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B99119EC-4180-1A26-292D-610B81A45714}"/>
              </a:ext>
            </a:extLst>
          </p:cNvPr>
          <p:cNvSpPr>
            <a:spLocks noGrp="1"/>
          </p:cNvSpPr>
          <p:nvPr/>
        </p:nvSpPr>
        <p:spPr>
          <a:xfrm>
            <a:off x="4943475" y="1723159"/>
            <a:ext cx="6381750" cy="4074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"data-source": {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"database-type":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mssql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"connection-string": "@env('SQL_CONN')"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,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"runtime": {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"rest": { "enabled": true },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graphql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": { "enabled": true },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mcp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": { "enabled": true }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,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"entities": {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"Policy": { </a:t>
            </a:r>
            <a:b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"source": { 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"object":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dbo.Policies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"type": "table"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}, 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"rest": { "path": "policies" }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65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ECF996C-A078-4B2D-A3DD-31DAC6278EB1}"/>
              </a:ext>
            </a:extLst>
          </p:cNvPr>
          <p:cNvSpPr>
            <a:spLocks noGrp="1"/>
          </p:cNvSpPr>
          <p:nvPr/>
        </p:nvSpPr>
        <p:spPr>
          <a:xfrm>
            <a:off x="757989" y="3689288"/>
            <a:ext cx="10727573" cy="231140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B3E6D61-8830-4BAE-80FD-BFC5B3258D72}"/>
              </a:ext>
            </a:extLst>
          </p:cNvPr>
          <p:cNvSpPr>
            <a:spLocks noGrp="1"/>
          </p:cNvSpPr>
          <p:nvPr/>
        </p:nvSpPr>
        <p:spPr>
          <a:xfrm>
            <a:off x="1060704" y="4033465"/>
            <a:ext cx="9936480" cy="17795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init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--database-type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mssql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--connection-string "@env('SQL_CONN')"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add Policy --source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dbo.Policies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--permissions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reader:read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update Policy --permissions "writer:*"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configure 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runtime.cache.enabled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true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validate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start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EF965CC-894C-45F0-A579-2C057EB46CC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286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8" name="Titolo 17">
            <a:extLst>
              <a:ext uri="{FF2B5EF4-FFF2-40B4-BE49-F238E27FC236}">
                <a16:creationId xmlns:a16="http://schemas.microsoft.com/office/drawing/2014/main" id="{184B4392-E65C-01ED-D58E-DC43E3A6A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Six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commands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cover 95% of the work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1942F153-07E9-DCB9-C574-8BEEBA75CE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CLI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schema-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JSON,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scriptable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belongs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CI.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New in 2.0: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-simulate, --show-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--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mcp-stdio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31832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D7A6269-A1D2-1EB6-FF18-A2BB4C94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Entities</a:t>
            </a:r>
            <a:r>
              <a:rPr lang="it-IT" dirty="0"/>
              <a:t>, </a:t>
            </a:r>
            <a:r>
              <a:rPr lang="it-IT" dirty="0" err="1"/>
              <a:t>roles</a:t>
            </a:r>
            <a:r>
              <a:rPr lang="it-IT" dirty="0"/>
              <a:t> and policies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4C995D-52C1-23C8-F53C-82AF1EC66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Publish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views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nothing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else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reachable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Rename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objects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columns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fields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include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exclude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Descriptions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semantic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hints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agents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over MCP.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based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authorization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controls create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update / delete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execute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Item-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level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policies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inject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OData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-style predicate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WHERE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clause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Claims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flow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session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context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so database RLS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still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works.</a:t>
            </a:r>
          </a:p>
          <a:p>
            <a:endParaRPr lang="it-IT" sz="2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22E007B7-0FF2-4FBB-BDB2-81ED22223E00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85AB761-EA3F-01AA-FA8F-0E4F434A0B49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SECURITY MODEL</a:t>
            </a:r>
          </a:p>
        </p:txBody>
      </p:sp>
    </p:spTree>
    <p:extLst>
      <p:ext uri="{BB962C8B-B14F-4D97-AF65-F5344CB8AC3E}">
        <p14:creationId xmlns:p14="http://schemas.microsoft.com/office/powerpoint/2010/main" val="3999121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F9C1246-53E2-CA9E-1199-050908E9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REST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6B6BC0-172C-70C1-8962-6F4AB78F3C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/api/Policy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collection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/api/Policy/id/42 — single item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POST /api/Policy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insert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PATCH / PUT /api/Policy/id/42 — update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upsert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DELETE /api/Policy/id/42 — delete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GET /api/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document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+ Swagger UI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1069ADC-8A29-8CEA-5DB7-F31BE759D6E8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0881E05-DFB7-8C23-0FCD-70E119036A7E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BA18DAF-E95C-89FD-5B92-44270223A31F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AE74CF7-0025-7011-59C1-6DBA83D11698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$select · $filter · $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orderby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$first · $after — OData-like syntax translated into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parameterised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queries, not 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205026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494FB6C-65EE-61A4-6065-D2A615011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Relationships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without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N+1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BB35A23-53E4-4DDA-3973-5F33E42E3E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Relationships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declared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nested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single query.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sum,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min, max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count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groupBy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the SQL family.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75314A9-3C28-226A-BCEB-2863BC0591E3}"/>
              </a:ext>
            </a:extLst>
          </p:cNvPr>
          <p:cNvSpPr>
            <a:spLocks noGrp="1"/>
          </p:cNvSpPr>
          <p:nvPr/>
        </p:nvSpPr>
        <p:spPr>
          <a:xfrm>
            <a:off x="2895599" y="4700587"/>
            <a:ext cx="6537767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query {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policies(filter: { status: { eq: "active" } })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{ items { id product premium broker { name city } } }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6B962B5-D5AE-0549-F2C7-E519838D1EB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DD91C95-1056-C483-E73C-B044BF7A45CB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GRAPHQL</a:t>
            </a:r>
          </a:p>
        </p:txBody>
      </p:sp>
    </p:spTree>
    <p:extLst>
      <p:ext uri="{BB962C8B-B14F-4D97-AF65-F5344CB8AC3E}">
        <p14:creationId xmlns:p14="http://schemas.microsoft.com/office/powerpoint/2010/main" val="1589241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6B85548-4FCE-9CB1-86AA-90BE875E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1: SQL Server 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premises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zero to API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C1152D7-AE3C-607A-5296-A6FF39DB460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0AEE27A-8D08-4091-860B-AFE25DC29C36}"/>
              </a:ext>
            </a:extLst>
          </p:cNvPr>
          <p:cNvSpPr>
            <a:spLocks noGrp="1"/>
          </p:cNvSpPr>
          <p:nvPr/>
        </p:nvSpPr>
        <p:spPr>
          <a:xfrm>
            <a:off x="742950" y="4824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997EB1E-753C-C2B3-1809-755D27F1B272}"/>
              </a:ext>
            </a:extLst>
          </p:cNvPr>
          <p:cNvSpPr>
            <a:spLocks noGrp="1"/>
          </p:cNvSpPr>
          <p:nvPr/>
        </p:nvSpPr>
        <p:spPr>
          <a:xfrm>
            <a:off x="552450" y="1918063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C504F04-AD2F-1F1A-3BED-7FC69569F3FE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833046-5C43-7F0D-3B10-18B69EEAF085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EA1053E-8BF9-C267-0693-3B669DF8E1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docker run SQL Server 2022 with a small insurance schema.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2B0F896-8306-6BC0-F72E-74AFA1D3AAB9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3B67DA5-4A31-F9E6-803F-94535047B625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init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dab add Policy / Broker /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vw_PolicySummary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sp_RenewPolicy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  <a:endParaRPr lang="it-IT" sz="1600" b="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endParaRPr lang="it-IT" sz="16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endParaRPr sz="1600" b="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7AB8D98-71AF-F94D-89AD-0E0EBB4E3820}"/>
              </a:ext>
            </a:extLst>
          </p:cNvPr>
          <p:cNvSpPr>
            <a:spLocks noGrp="1"/>
          </p:cNvSpPr>
          <p:nvPr/>
        </p:nvSpPr>
        <p:spPr>
          <a:xfrm>
            <a:off x="838200" y="3908897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C496CAF-BF91-7C70-FC6E-2297753B195B}"/>
              </a:ext>
            </a:extLst>
          </p:cNvPr>
          <p:cNvSpPr>
            <a:spLocks noGrp="1"/>
          </p:cNvSpPr>
          <p:nvPr/>
        </p:nvSpPr>
        <p:spPr>
          <a:xfrm>
            <a:off x="1066800" y="3851747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start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1055A74-1541-5FFD-D813-ED465B724354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76EF162-3E17-5DD5-AA87-991FE447A760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AF84E72-ABAD-7376-19A9-B32F29A02057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 five minutes from empty folder to working REST + </a:t>
            </a: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GraphQL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API. </a:t>
            </a:r>
            <a:br>
              <a:rPr lang="it-IT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br>
              <a:rPr lang="it-IT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database was already there: nothing migrated, nothing generated.</a:t>
            </a:r>
          </a:p>
        </p:txBody>
      </p:sp>
    </p:spTree>
    <p:extLst>
      <p:ext uri="{BB962C8B-B14F-4D97-AF65-F5344CB8AC3E}">
        <p14:creationId xmlns:p14="http://schemas.microsoft.com/office/powerpoint/2010/main" val="251508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0D84-B627-C6C0-C41C-E0353EF1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D28F88A-01CD-E996-7880-06894330E9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3 – WHAT’S NEW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8291144-7068-4AEB-FE6D-0CD74F6A7C95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165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What’s</a:t>
            </a:r>
            <a:r>
              <a:rPr lang="it-IT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new in 2.0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A4679E0-BEF8-F3BE-E42D-F982F56634B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since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June 2026 — agents and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automation</a:t>
            </a:r>
            <a:endParaRPr lang="it-IT" sz="34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376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68AD2-477C-3C08-C1DC-F2FC510D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Nine </a:t>
            </a:r>
            <a:r>
              <a:rPr lang="it-IT" dirty="0" err="1"/>
              <a:t>things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in </a:t>
            </a:r>
            <a:r>
              <a:rPr lang="it-IT" dirty="0" err="1"/>
              <a:t>version</a:t>
            </a:r>
            <a:r>
              <a:rPr lang="it-IT" dirty="0"/>
              <a:t> 2.0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B506EC-A83C-05D7-C757-0AFC2EEBC8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configuration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pattern-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based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entities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evaluated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Behalf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-Of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the database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end user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Custom MCP tools ·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agent tools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Unauthenticated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provider ·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simpler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default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named-role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endParaRPr lang="it-IT" sz="24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endParaRPr lang="it-IT" sz="20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sz="200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81B3C7-BA05-B3D1-F869-5222FECD6C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Advanced REST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slashes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allowed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endParaRPr lang="it-IT" sz="24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Permission-aware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a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can call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OpenTelemetry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default ·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traces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REST,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MCP</a:t>
            </a:r>
          </a:p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compression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optimal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none</a:t>
            </a:r>
          </a:p>
          <a:p>
            <a:endParaRPr lang="it-IT" sz="20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96A6FA9-01A2-87BB-EF01-5775972BA53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32E3289-6152-FD5E-DE6C-62B0DD3DE1F5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RELEASE 2.0</a:t>
            </a:r>
          </a:p>
        </p:txBody>
      </p:sp>
    </p:spTree>
    <p:extLst>
      <p:ext uri="{BB962C8B-B14F-4D97-AF65-F5344CB8AC3E}">
        <p14:creationId xmlns:p14="http://schemas.microsoft.com/office/powerpoint/2010/main" val="441663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119FA05-D6E0-97D0-145E-E1946FFD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 hand-writing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blocks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large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schemas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37C2B6F-0BA9-F9A2-7F25-A94E912F2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55038" y="1700213"/>
            <a:ext cx="3730525" cy="4235450"/>
          </a:xfrm>
        </p:spPr>
        <p:txBody>
          <a:bodyPr/>
          <a:lstStyle/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 300-table schema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being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5,000-line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Patterns are re-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evaluated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start; new matches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appear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automatically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Microsoft SQL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in 2.0.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Views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still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add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sz="2400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F4376AA-6FCD-2DCC-C3AC-EEE34DEB0DC1}"/>
              </a:ext>
            </a:extLst>
          </p:cNvPr>
          <p:cNvSpPr>
            <a:spLocks noGrp="1"/>
          </p:cNvSpPr>
          <p:nvPr/>
        </p:nvSpPr>
        <p:spPr>
          <a:xfrm>
            <a:off x="757990" y="2601913"/>
            <a:ext cx="6858000" cy="333375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524D18F-60DC-293E-6AE6-9B0B62340C98}"/>
              </a:ext>
            </a:extLst>
          </p:cNvPr>
          <p:cNvSpPr>
            <a:spLocks noGrp="1"/>
          </p:cNvSpPr>
          <p:nvPr/>
        </p:nvSpPr>
        <p:spPr>
          <a:xfrm>
            <a:off x="986590" y="2811463"/>
            <a:ext cx="6381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auto-config my-def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patterns.include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.%"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--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patterns.exclude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"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dbo.internal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%"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--</a:t>
            </a:r>
            <a:r>
              <a:rPr lang="it-IT"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patterns.name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"{schema}_{</a:t>
            </a:r>
            <a:r>
              <a:rPr lang="it-IT"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object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}"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dab auto-config-simulate  # preview before you </a:t>
            </a:r>
          </a:p>
        </p:txBody>
      </p:sp>
    </p:spTree>
    <p:extLst>
      <p:ext uri="{BB962C8B-B14F-4D97-AF65-F5344CB8AC3E}">
        <p14:creationId xmlns:p14="http://schemas.microsoft.com/office/powerpoint/2010/main" val="3994440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E6D0F7C4-C36D-371E-68AE-1ADEE66B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makes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inspectable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A32EA8B-E023-2850-0D6D-987FB45AA3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944547"/>
            <a:ext cx="3889959" cy="3991116"/>
          </a:xfrm>
        </p:spPr>
        <p:txBody>
          <a:bodyPr/>
          <a:lstStyle/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named-role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Define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once on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broader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it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explicitly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inheritance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stops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there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configure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--show-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turns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hidden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reasoning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0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reviewable</a:t>
            </a:r>
            <a:r>
              <a:rPr lang="it-IT" sz="20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output.</a:t>
            </a:r>
          </a:p>
          <a:p>
            <a:endParaRPr lang="it-IT" sz="20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DC2AE40-0ADA-5365-9B1A-8CA0F7CC3C2F}"/>
              </a:ext>
            </a:extLst>
          </p:cNvPr>
          <p:cNvSpPr>
            <a:spLocks noGrp="1"/>
          </p:cNvSpPr>
          <p:nvPr/>
        </p:nvSpPr>
        <p:spPr>
          <a:xfrm>
            <a:off x="4628147" y="2601913"/>
            <a:ext cx="6858000" cy="3333750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BB275E9-A06B-04E9-5539-AD6912D9F7B4}"/>
              </a:ext>
            </a:extLst>
          </p:cNvPr>
          <p:cNvSpPr>
            <a:spLocks noGrp="1"/>
          </p:cNvSpPr>
          <p:nvPr/>
        </p:nvSpPr>
        <p:spPr>
          <a:xfrm>
            <a:off x="4856747" y="2811463"/>
            <a:ext cx="6381750" cy="285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Entity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: Book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Role: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anonymous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    | Actions: Read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Role: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authenticated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| Actions: Read (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inherited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from: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anonymous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Unconfigured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roles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inherit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from: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anonymous</a:t>
            </a:r>
            <a:endParaRPr lang="it-IT" sz="160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endParaRPr lang="it-IT" sz="160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Entity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: Order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Role: admin            | Actions: Create, Read, Update, Delete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Role: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anonymous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    | Actions: Read</a:t>
            </a:r>
          </a:p>
          <a:p>
            <a:pPr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Role: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authenticated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| Actions: Read (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inherited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from: </a:t>
            </a:r>
            <a:r>
              <a:rPr lang="it-IT" sz="160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anonymous</a:t>
            </a: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9462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41277B1-346B-14CE-7241-4536A037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Unauthenticated</a:t>
            </a:r>
            <a:r>
              <a:rPr lang="it-IT" dirty="0"/>
              <a:t> provider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E783686-FFEC-45DD-7ECF-00C5C3867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Unauthenticated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anonymous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 Good for demos 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internal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behind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gateway.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EntraId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validates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Microsoft Entra tokens;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come from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claims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Custom JWT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any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issuer, audience, issuer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signing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AppService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EasyAuth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trusts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platform-injected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header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Simulator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fakes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development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mode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83FF029-F7A3-BC5A-DE93-5E4F5D07FD60}"/>
              </a:ext>
            </a:extLst>
          </p:cNvPr>
          <p:cNvSpPr>
            <a:spLocks noGrp="1"/>
          </p:cNvSpPr>
          <p:nvPr/>
        </p:nvSpPr>
        <p:spPr>
          <a:xfrm>
            <a:off x="552450" y="5733568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75AAC19-24DD-0B0D-5149-1E626F24F4CE}"/>
              </a:ext>
            </a:extLst>
          </p:cNvPr>
          <p:cNvSpPr>
            <a:spLocks noGrp="1"/>
          </p:cNvSpPr>
          <p:nvPr/>
        </p:nvSpPr>
        <p:spPr>
          <a:xfrm>
            <a:off x="762000" y="5876443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Important: with Unauthenticated, authenticated and custom roles never activate — even if something in front of DAB authenticated the caller.</a:t>
            </a:r>
          </a:p>
        </p:txBody>
      </p:sp>
    </p:spTree>
    <p:extLst>
      <p:ext uri="{BB962C8B-B14F-4D97-AF65-F5344CB8AC3E}">
        <p14:creationId xmlns:p14="http://schemas.microsoft.com/office/powerpoint/2010/main" val="1604080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8168C83A-E114-03F3-BDD4-FCF6F447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On-</a:t>
            </a:r>
            <a:r>
              <a:rPr lang="it-IT" dirty="0" err="1"/>
              <a:t>Behalf</a:t>
            </a:r>
            <a:r>
              <a:rPr lang="it-IT" dirty="0"/>
              <a:t>-Of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155826E-6C64-5A76-FF41-0F5F275AC6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2916819"/>
            <a:ext cx="10747375" cy="3018843"/>
          </a:xfrm>
        </p:spPr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User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signs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gets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JWT. DAB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token. Azure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authenticates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end user. RLS and audit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trails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person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mssql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user-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delegated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EntraId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database-audience, app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registration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SQL Entra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acceptance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Trade-off: cache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disabled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one connection pool per user, token-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exchange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latency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6C1E029-64A4-8651-4339-409D4FDCB14D}"/>
              </a:ext>
            </a:extLst>
          </p:cNvPr>
          <p:cNvSpPr>
            <a:spLocks noGrp="1"/>
          </p:cNvSpPr>
          <p:nvPr/>
        </p:nvSpPr>
        <p:spPr>
          <a:xfrm>
            <a:off x="757990" y="1791785"/>
            <a:ext cx="1905000" cy="857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99F8BB6-3707-91CE-3F45-DC41A3506177}"/>
              </a:ext>
            </a:extLst>
          </p:cNvPr>
          <p:cNvSpPr>
            <a:spLocks noGrp="1"/>
          </p:cNvSpPr>
          <p:nvPr/>
        </p:nvSpPr>
        <p:spPr>
          <a:xfrm>
            <a:off x="853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76B23C5-F591-0290-F3CA-3E3EAE53EE9E}"/>
              </a:ext>
            </a:extLst>
          </p:cNvPr>
          <p:cNvSpPr>
            <a:spLocks noGrp="1"/>
          </p:cNvSpPr>
          <p:nvPr/>
        </p:nvSpPr>
        <p:spPr>
          <a:xfrm>
            <a:off x="2758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06206D8-F483-8A44-C4A0-12A0CA9359DF}"/>
              </a:ext>
            </a:extLst>
          </p:cNvPr>
          <p:cNvSpPr>
            <a:spLocks noGrp="1"/>
          </p:cNvSpPr>
          <p:nvPr/>
        </p:nvSpPr>
        <p:spPr>
          <a:xfrm>
            <a:off x="3424990" y="1791785"/>
            <a:ext cx="1905000" cy="8572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361B6F8-4304-918D-C9CD-98C82922B918}"/>
              </a:ext>
            </a:extLst>
          </p:cNvPr>
          <p:cNvSpPr>
            <a:spLocks noGrp="1"/>
          </p:cNvSpPr>
          <p:nvPr/>
        </p:nvSpPr>
        <p:spPr>
          <a:xfrm>
            <a:off x="3520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DAB · OBO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130D557A-AAAE-C49C-80E4-2A2929CBEECB}"/>
              </a:ext>
            </a:extLst>
          </p:cNvPr>
          <p:cNvSpPr>
            <a:spLocks noGrp="1"/>
          </p:cNvSpPr>
          <p:nvPr/>
        </p:nvSpPr>
        <p:spPr>
          <a:xfrm>
            <a:off x="5425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253593F-B2E3-77BD-CF6D-DAF9F2B82C61}"/>
              </a:ext>
            </a:extLst>
          </p:cNvPr>
          <p:cNvSpPr>
            <a:spLocks noGrp="1"/>
          </p:cNvSpPr>
          <p:nvPr/>
        </p:nvSpPr>
        <p:spPr>
          <a:xfrm>
            <a:off x="6091990" y="1791785"/>
            <a:ext cx="1905000" cy="8572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E68FC90-6CD9-DB8F-3BCD-D182922AEFC8}"/>
              </a:ext>
            </a:extLst>
          </p:cNvPr>
          <p:cNvSpPr>
            <a:spLocks noGrp="1"/>
          </p:cNvSpPr>
          <p:nvPr/>
        </p:nvSpPr>
        <p:spPr>
          <a:xfrm>
            <a:off x="6187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SQL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D22A5CC-F16D-C88C-1597-568DCB99E20B}"/>
              </a:ext>
            </a:extLst>
          </p:cNvPr>
          <p:cNvSpPr>
            <a:spLocks noGrp="1"/>
          </p:cNvSpPr>
          <p:nvPr/>
        </p:nvSpPr>
        <p:spPr>
          <a:xfrm>
            <a:off x="8092240" y="2039435"/>
            <a:ext cx="523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CA5E683-9D8E-8977-349E-F0A316097A0A}"/>
              </a:ext>
            </a:extLst>
          </p:cNvPr>
          <p:cNvSpPr>
            <a:spLocks noGrp="1"/>
          </p:cNvSpPr>
          <p:nvPr/>
        </p:nvSpPr>
        <p:spPr>
          <a:xfrm>
            <a:off x="8758990" y="1791785"/>
            <a:ext cx="1905000" cy="857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1489468-430F-2D26-3A54-C97C63BA0924}"/>
              </a:ext>
            </a:extLst>
          </p:cNvPr>
          <p:cNvSpPr>
            <a:spLocks noGrp="1"/>
          </p:cNvSpPr>
          <p:nvPr/>
        </p:nvSpPr>
        <p:spPr>
          <a:xfrm>
            <a:off x="8854240" y="2115635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RLS / AUDIT</a:t>
            </a:r>
          </a:p>
        </p:txBody>
      </p:sp>
    </p:spTree>
    <p:extLst>
      <p:ext uri="{BB962C8B-B14F-4D97-AF65-F5344CB8AC3E}">
        <p14:creationId xmlns:p14="http://schemas.microsoft.com/office/powerpoint/2010/main" val="1354943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833AE03-2BC1-6822-69AD-15C5B767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MCP Server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4411A48-9C82-8E1F-56F5-C1FB558444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describe_entities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read_records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create_record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update_record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delete_record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execute_entity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aggregate_records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builds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deterministic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T-SQL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through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RBAC and policies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REST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New in 2.0: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stored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procedures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can be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registered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named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custom tools.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Transports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streamable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HTTP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stdio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B85889-EE30-FBBD-1B6E-C63D40CC6E14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F51DCCE-8DCF-396E-9F8A-577FEC855A3B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not NL2SQL? Models are non-deterministic; typed tools keep permissions, caching and traces in the same control plane.</a:t>
            </a:r>
          </a:p>
        </p:txBody>
      </p:sp>
    </p:spTree>
    <p:extLst>
      <p:ext uri="{BB962C8B-B14F-4D97-AF65-F5344CB8AC3E}">
        <p14:creationId xmlns:p14="http://schemas.microsoft.com/office/powerpoint/2010/main" val="3155087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39CE26B-70BA-7F56-F932-C417CE9F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REST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1FF42F2-9846-E27E-0440-0C1508F98C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Advanced REST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/api/shopping-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cart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/item and /api/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invoice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/item can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coexist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Permission-aware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openapi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/{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role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} shows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reachable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methods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fields.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Keyless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PUT / PATCH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upsert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generates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omitted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compression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optimal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none.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582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15464EB-4652-168E-EF12-B5FD862F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Observability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before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first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8FB982-BBDD-9AD8-520E-0898A53C3D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Sinks: OTLP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Grafana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Jaeger, Application Insights, Log Analytics,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structured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file logs.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returns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status,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version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app name; per-source and per-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checks can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add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response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-time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thresholds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MCP tool calls share trace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with REST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GraphQL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lvl="1"/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000AD1A-134B-238F-9F67-3CF8F7DFA698}"/>
              </a:ext>
            </a:extLst>
          </p:cNvPr>
          <p:cNvSpPr>
            <a:spLocks noGrp="1"/>
          </p:cNvSpPr>
          <p:nvPr/>
        </p:nvSpPr>
        <p:spPr>
          <a:xfrm>
            <a:off x="706437" y="4224759"/>
            <a:ext cx="6858000" cy="1710904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230F0C8-98E2-DC8A-E18E-1A715F532CBF}"/>
              </a:ext>
            </a:extLst>
          </p:cNvPr>
          <p:cNvSpPr>
            <a:spLocks noGrp="1"/>
          </p:cNvSpPr>
          <p:nvPr/>
        </p:nvSpPr>
        <p:spPr>
          <a:xfrm>
            <a:off x="935037" y="4376057"/>
            <a:ext cx="6629400" cy="12929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"telemetry": {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"open-telemetry": {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"enabled": true, 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"endpoint": "@env('OTEL_EXPORTER_OTLP_ENDPOINT')" 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0595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0ED320C5-F757-C84C-371B-D8E4E33E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Caching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scales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without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hiding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user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context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4429E47-EA92-E6E6-77B5-68C6D1CF40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3343275"/>
            <a:ext cx="10747375" cy="2592388"/>
          </a:xfrm>
        </p:spPr>
        <p:txBody>
          <a:bodyPr/>
          <a:lstStyle/>
          <a:p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L1 in-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memory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L2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Redis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database. Misses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result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back to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both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layers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L2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provides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shared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cache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across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replicas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warm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restarts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environment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partitions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Caching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applies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REST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invalidates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through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DAB, and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opt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-in per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entity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OBO and caching do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mix: per-user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results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must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be </a:t>
            </a:r>
            <a:r>
              <a:rPr lang="it-IT" sz="24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shared</a:t>
            </a:r>
            <a:r>
              <a:rPr lang="it-IT" sz="24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sz="2400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sz="24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CC64D6B-3ACB-C764-F551-BC0D54D1A17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809750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BD10B9D-7AB3-AE14-368A-DC6D71B723CF}"/>
              </a:ext>
            </a:extLst>
          </p:cNvPr>
          <p:cNvSpPr>
            <a:spLocks noGrp="1"/>
          </p:cNvSpPr>
          <p:nvPr/>
        </p:nvSpPr>
        <p:spPr>
          <a:xfrm>
            <a:off x="742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04A6842-B202-6AB6-4997-3E18D1BC2FDE}"/>
              </a:ext>
            </a:extLst>
          </p:cNvPr>
          <p:cNvSpPr>
            <a:spLocks noGrp="1"/>
          </p:cNvSpPr>
          <p:nvPr/>
        </p:nvSpPr>
        <p:spPr>
          <a:xfrm>
            <a:off x="2552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CFF688D-D9F2-9FE9-EFCD-49E7244860B4}"/>
              </a:ext>
            </a:extLst>
          </p:cNvPr>
          <p:cNvSpPr>
            <a:spLocks noGrp="1"/>
          </p:cNvSpPr>
          <p:nvPr/>
        </p:nvSpPr>
        <p:spPr>
          <a:xfrm>
            <a:off x="3333750" y="2476500"/>
            <a:ext cx="1809750" cy="704850"/>
          </a:xfrm>
          <a:prstGeom prst="rect">
            <a:avLst/>
          </a:prstGeom>
          <a:solidFill>
            <a:srgbClr val="0078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E4FBB2D-4464-CA63-CF87-6E5780EB8EB7}"/>
              </a:ext>
            </a:extLst>
          </p:cNvPr>
          <p:cNvSpPr>
            <a:spLocks noGrp="1"/>
          </p:cNvSpPr>
          <p:nvPr/>
        </p:nvSpPr>
        <p:spPr>
          <a:xfrm>
            <a:off x="3409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MEMORY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78EDA5C-AE1F-ED41-CB7D-8176E5B33CE8}"/>
              </a:ext>
            </a:extLst>
          </p:cNvPr>
          <p:cNvSpPr>
            <a:spLocks noGrp="1"/>
          </p:cNvSpPr>
          <p:nvPr/>
        </p:nvSpPr>
        <p:spPr>
          <a:xfrm>
            <a:off x="5219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4AAE361-FDE3-C258-CA48-B577C39B1250}"/>
              </a:ext>
            </a:extLst>
          </p:cNvPr>
          <p:cNvSpPr>
            <a:spLocks noGrp="1"/>
          </p:cNvSpPr>
          <p:nvPr/>
        </p:nvSpPr>
        <p:spPr>
          <a:xfrm>
            <a:off x="6000750" y="2476500"/>
            <a:ext cx="1809750" cy="70485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DD687A2-6FE3-E331-5C44-148D439F16E9}"/>
              </a:ext>
            </a:extLst>
          </p:cNvPr>
          <p:cNvSpPr>
            <a:spLocks noGrp="1"/>
          </p:cNvSpPr>
          <p:nvPr/>
        </p:nvSpPr>
        <p:spPr>
          <a:xfrm>
            <a:off x="6076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L2 REDIS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15D069B-1092-6316-3F73-0914A7BA6C4D}"/>
              </a:ext>
            </a:extLst>
          </p:cNvPr>
          <p:cNvSpPr>
            <a:spLocks noGrp="1"/>
          </p:cNvSpPr>
          <p:nvPr/>
        </p:nvSpPr>
        <p:spPr>
          <a:xfrm>
            <a:off x="7886700" y="2667000"/>
            <a:ext cx="666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727967B-0CB7-B5B9-14DB-03AB1DC783CF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1809750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02B7B79-5266-F137-8E1A-757D714A43AA}"/>
              </a:ext>
            </a:extLst>
          </p:cNvPr>
          <p:cNvSpPr>
            <a:spLocks noGrp="1"/>
          </p:cNvSpPr>
          <p:nvPr/>
        </p:nvSpPr>
        <p:spPr>
          <a:xfrm>
            <a:off x="8743950" y="271462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pic>
        <p:nvPicPr>
          <p:cNvPr id="17" name="Immagine 16" descr="logo-256x256.png">
            <a:extLst>
              <a:ext uri="{FF2B5EF4-FFF2-40B4-BE49-F238E27FC236}">
                <a16:creationId xmlns:a16="http://schemas.microsoft.com/office/drawing/2014/main" id="{51636420-0C0E-E6D0-5CAE-E56F5145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551" y="1393825"/>
            <a:ext cx="1073150" cy="107315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D6DEC662-B3C6-F630-6E7B-1A052C37D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1542085"/>
            <a:ext cx="931189" cy="7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3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4E349102-6DEE-EC25-D001-EC2641BB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2: Azure SQL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E860454-8014-EBCF-F1EB-5B3F2CD13C5B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31DA792-F82D-165D-8CA5-DC221E15D94E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8E9CB5-B8CC-8545-42E2-73E0ADFE9F88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490C66E-04ED-5D72-C4B8-9638624693B4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Point the same config at Azure SQL;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988A6E1-FFD0-2D91-6C51-584C441E26A6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37AC5CB-0709-49F9-BA21-E400851C30D7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D5C5960-0075-7F8A-5E29-0F75293AFEAC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JSON, different data source. The policy lands inside generated T-SQL; claims reach SESSION_CONTEXT.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B51073D-64AC-A3C3-B44B-02991A61FEC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82D51A9C-E860-5458-F377-B998111C4589}"/>
              </a:ext>
            </a:extLst>
          </p:cNvPr>
          <p:cNvSpPr>
            <a:spLocks noGrp="1"/>
          </p:cNvSpPr>
          <p:nvPr/>
        </p:nvSpPr>
        <p:spPr>
          <a:xfrm>
            <a:off x="742950" y="4824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066478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4AE9-161C-0E6C-D0AF-62E44C8B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EA239D-CB13-DCD5-F65C-4AB2E50B30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4 – HYBRID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B3278DD-AE7B-5FEF-1DB5-67F29E3C10CD}"/>
              </a:ext>
            </a:extLst>
          </p:cNvPr>
          <p:cNvSpPr>
            <a:spLocks noGrp="1"/>
          </p:cNvSpPr>
          <p:nvPr/>
        </p:nvSpPr>
        <p:spPr>
          <a:xfrm>
            <a:off x="704850" y="3905250"/>
            <a:ext cx="762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Multi-source </a:t>
            </a:r>
            <a:r>
              <a:rPr lang="it-IT" sz="165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configs</a:t>
            </a:r>
            <a:r>
              <a:rPr lang="it-IT" sz="16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and Microsoft </a:t>
            </a:r>
            <a:r>
              <a:rPr lang="it-IT" sz="165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Fabric</a:t>
            </a:r>
            <a:endParaRPr lang="it-IT" sz="165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73A803A-2FE2-D073-447C-2AB560FDF305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012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API,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several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databases</a:t>
            </a:r>
          </a:p>
        </p:txBody>
      </p:sp>
    </p:spTree>
    <p:extLst>
      <p:ext uri="{BB962C8B-B14F-4D97-AF65-F5344CB8AC3E}">
        <p14:creationId xmlns:p14="http://schemas.microsoft.com/office/powerpoint/2010/main" val="2606246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06B95B1-5D60-0A0C-8C98-8C40299C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Multi-source </a:t>
            </a:r>
            <a:r>
              <a:rPr lang="it-IT" dirty="0" err="1"/>
              <a:t>configuration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26889F-DA5D-5BEA-E22F-9B320FA005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 cross-source joins: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composition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happens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the client/agent.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Useful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linked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servers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viable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data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spans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clouds/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tenants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or consumers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 cross-source joins: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composition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happens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the client/agent.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7EE3F5E-B896-9C79-8C39-B4D824FD11F0}"/>
              </a:ext>
            </a:extLst>
          </p:cNvPr>
          <p:cNvSpPr>
            <a:spLocks noGrp="1"/>
          </p:cNvSpPr>
          <p:nvPr/>
        </p:nvSpPr>
        <p:spPr>
          <a:xfrm>
            <a:off x="757990" y="3735421"/>
            <a:ext cx="9339322" cy="2200241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2758BE8-46EF-BD24-74B9-D593F3C90107}"/>
              </a:ext>
            </a:extLst>
          </p:cNvPr>
          <p:cNvSpPr>
            <a:spLocks noGrp="1"/>
          </p:cNvSpPr>
          <p:nvPr/>
        </p:nvSpPr>
        <p:spPr>
          <a:xfrm>
            <a:off x="996115" y="3910519"/>
            <a:ext cx="9101196" cy="176578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"data-source-files": [</a:t>
            </a: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	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lang="it-IT" sz="160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config.onprem.json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config.azuresql.json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", </a:t>
            </a:r>
            <a:b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</a:br>
            <a:r>
              <a:rPr lang="it-IT"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config.fabric.json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"</a:t>
            </a:r>
            <a:endParaRPr lang="it-IT"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]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Top-level runtime enables REST,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GraphQL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and MCP for all child files.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Every child needs data-source + entities; names and paths must be unique.</a:t>
            </a:r>
          </a:p>
        </p:txBody>
      </p:sp>
    </p:spTree>
    <p:extLst>
      <p:ext uri="{BB962C8B-B14F-4D97-AF65-F5344CB8AC3E}">
        <p14:creationId xmlns:p14="http://schemas.microsoft.com/office/powerpoint/2010/main" val="2376350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41CA119-C5EF-0DF9-3CE0-816125EC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Microsoft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8444217-0769-B472-B2AB-DFDFA34FB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database in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mssql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→ Entra authentication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no SQL logins.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Warehouse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Lakehouse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endpoint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Synapse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dedicated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pool →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dwsql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Lakehouse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 endpoint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nature: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expect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reads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aggregations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writes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Use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service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principal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local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SQL-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container flow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will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work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here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33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D95C3174-76F0-4208-EC88-2C424890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3: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Fabric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+ multi-source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hybrid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API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6857A75-89C0-7C97-0C9E-09D7F3986BC7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7859C08-79D6-EE4C-E680-65319A1FC21F}"/>
              </a:ext>
            </a:extLst>
          </p:cNvPr>
          <p:cNvSpPr>
            <a:spLocks noGrp="1"/>
          </p:cNvSpPr>
          <p:nvPr/>
        </p:nvSpPr>
        <p:spPr>
          <a:xfrm>
            <a:off x="742950" y="4824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LIVE DEMO</a:t>
            </a:r>
            <a:endParaRPr lang="it-IT"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E322B33-00A5-D3A5-4F41-F2D2292E1880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06930B-CAEF-CFE8-4489-28836B1F2E3F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CF437A3-6EEB-DCA9-2203-2B6C23193EF0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04076CE-ABB8-E0A6-8AAE-91B8A1F0939F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Three child configs: on-prem SQL Server, Azure SQL, Fabric SQL database.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EE36C34-FCF9-B6FB-BB53-85D09AE5D937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C5EAF54-6B3C-86C3-EB9A-B5F99C9DFE0B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One top-level file with data-source-files and one runtime block.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7627D20-B317-8D4A-F035-57F3EC2DCF7F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A0E80A1-A588-F9FE-E521-1FFF961BAB03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dab validate → dab start → /api/Policy, /api/Broker, /api/SalesFact.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29A4DEB-99AB-A1E7-57D4-745010432BB4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6200" cy="76200"/>
          </a:xfrm>
          <a:prstGeom prst="rect">
            <a:avLst/>
          </a:prstGeom>
          <a:solidFill>
            <a:srgbClr val="BCA0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BD1B48E-245C-9E20-0847-B3A8E6E3EF9E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reports named sources, status and timing. Trigger a deliberate name collision.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C656DE7-E776-5F03-7F6C-77608C2FB3FE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537D40E-5826-27E7-2E81-769D2C399013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376E1CE-1535-2E7E-45A7-2892640657D4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databases, one OpenAPI document. A friendly startup failure beats a production 500.</a:t>
            </a:r>
          </a:p>
        </p:txBody>
      </p:sp>
    </p:spTree>
    <p:extLst>
      <p:ext uri="{BB962C8B-B14F-4D97-AF65-F5344CB8AC3E}">
        <p14:creationId xmlns:p14="http://schemas.microsoft.com/office/powerpoint/2010/main" val="1239173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58832-2F37-E601-EAE1-2C96A481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BE9EE08-D8EE-CB05-52FD-5D60764EC8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5 – MCP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FDE6B95-08A2-C511-A326-71D272BCB367}"/>
              </a:ext>
            </a:extLst>
          </p:cNvPr>
          <p:cNvSpPr>
            <a:spLocks noGrp="1"/>
          </p:cNvSpPr>
          <p:nvPr/>
        </p:nvSpPr>
        <p:spPr>
          <a:xfrm>
            <a:off x="685799" y="2762250"/>
            <a:ext cx="10541643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 DAB from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favorite agent</a:t>
            </a:r>
          </a:p>
        </p:txBody>
      </p:sp>
    </p:spTree>
    <p:extLst>
      <p:ext uri="{BB962C8B-B14F-4D97-AF65-F5344CB8AC3E}">
        <p14:creationId xmlns:p14="http://schemas.microsoft.com/office/powerpoint/2010/main" val="4207105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677B-759D-45F1-BFD5-13445A28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805C2ED-74D7-DBF9-7B0B-A6C81AEA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4: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querying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database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natural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language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E8B9252-27AF-E1E2-C7C8-C72E0DD0904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49FEB9E-A90F-143A-81ED-B0C5CD50D4CC}"/>
              </a:ext>
            </a:extLst>
          </p:cNvPr>
          <p:cNvSpPr>
            <a:spLocks noGrp="1"/>
          </p:cNvSpPr>
          <p:nvPr/>
        </p:nvSpPr>
        <p:spPr>
          <a:xfrm>
            <a:off x="742950" y="4824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LIVE DEMO</a:t>
            </a:r>
            <a:endParaRPr lang="it-IT"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870B09F-A612-3144-DD83-47B4AF2FC36E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95C8BFD-A705-05A1-6E8A-5D2A367E34C7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278D06D-84EC-84CA-138C-2E5CA309A123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125B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F5ED5CE-B464-055B-3D90-E6381FB4DD2E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app (React/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Typescript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) 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that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calls MCP </a:t>
            </a:r>
            <a:r>
              <a:rPr lang="it-IT" sz="1600" b="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exposed</a:t>
            </a:r>
            <a:r>
              <a:rPr lang="it-IT"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DAB</a:t>
            </a:r>
            <a:r>
              <a:rPr sz="1600" b="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CA89501-77B9-D300-7E0E-62FFB3707215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A51108F-7315-F01F-9FEB-63BF583032AC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validate → </a:t>
            </a: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dab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start → /api/</a:t>
            </a:r>
            <a:r>
              <a:rPr lang="it-IT" sz="1600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PolicySummary</a:t>
            </a:r>
            <a:r>
              <a:rPr lang="it-IT" sz="1600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8DEA4D5-A06B-272F-85A1-AFEADA9C0371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C45D8C73-655A-9085-627C-A945C10A94DD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62D8BC2-F742-8DA3-C2DF-A55C482471CF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databases, one OpenAPI document. A friendly startup failure beats a production 500.</a:t>
            </a:r>
          </a:p>
        </p:txBody>
      </p:sp>
    </p:spTree>
    <p:extLst>
      <p:ext uri="{BB962C8B-B14F-4D97-AF65-F5344CB8AC3E}">
        <p14:creationId xmlns:p14="http://schemas.microsoft.com/office/powerpoint/2010/main" val="435363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ADF7-16EA-AD33-CF32-3C34D6BC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2A8A3C-0398-EC44-4D7C-E0AA0A0412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6 – SHIP IT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AEE61AD-B168-397E-2168-51D81B81B90E}"/>
              </a:ext>
            </a:extLst>
          </p:cNvPr>
          <p:cNvSpPr>
            <a:spLocks noGrp="1"/>
          </p:cNvSpPr>
          <p:nvPr/>
        </p:nvSpPr>
        <p:spPr>
          <a:xfrm>
            <a:off x="685799" y="2762250"/>
            <a:ext cx="10541643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</a:t>
            </a:r>
            <a:r>
              <a:rPr lang="it-IT" sz="34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sz="34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container image, in Azure and on AWS</a:t>
            </a:r>
          </a:p>
        </p:txBody>
      </p:sp>
    </p:spTree>
    <p:extLst>
      <p:ext uri="{BB962C8B-B14F-4D97-AF65-F5344CB8AC3E}">
        <p14:creationId xmlns:p14="http://schemas.microsoft.com/office/powerpoint/2010/main" val="649704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B463D7-1053-7C3A-E0A1-96771A7C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Pick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host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C40E99-92AA-DDB7-82E3-13302DAF7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fastest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path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demos,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internal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APIs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pilots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 Container Apps — scale to zero,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revisions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AKS — full control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already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run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4816127-5312-5A81-2BBB-4A81BA269A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App Service — container or code with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EasyAuth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integration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AWS ECS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App Runner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public image,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different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task/secret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wiring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Docker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Kubernetes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image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no cloud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9572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AA7F2C4-2465-58DC-C01F-1082EC31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ACI recipe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AA1DBE84-919A-B36D-22B2-002E40B058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Keep the secret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outside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image.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Prefer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or @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akv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() from Key Vault.</a:t>
            </a:r>
          </a:p>
          <a:p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3535592-0FEB-9A55-E0D3-A832FC3E987B}"/>
              </a:ext>
            </a:extLst>
          </p:cNvPr>
          <p:cNvSpPr>
            <a:spLocks noGrp="1"/>
          </p:cNvSpPr>
          <p:nvPr/>
        </p:nvSpPr>
        <p:spPr>
          <a:xfrm>
            <a:off x="706437" y="3970115"/>
            <a:ext cx="10779126" cy="1965547"/>
          </a:xfrm>
          <a:prstGeom prst="rect">
            <a:avLst/>
          </a:prstGeom>
          <a:solidFill>
            <a:srgbClr val="073D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4B7E32B-A40D-D13C-8FE8-0B3650695C4A}"/>
              </a:ext>
            </a:extLst>
          </p:cNvPr>
          <p:cNvSpPr>
            <a:spLocks noGrp="1"/>
          </p:cNvSpPr>
          <p:nvPr/>
        </p:nvSpPr>
        <p:spPr>
          <a:xfrm>
            <a:off x="935036" y="4201610"/>
            <a:ext cx="10327131" cy="14673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FROM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mcr.microsoft.com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/azure-databases/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data-api-builder:latest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COPY 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config.json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/App/dab-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config.json</a:t>
            </a:r>
            <a:endParaRPr sz="1600" b="0" dirty="0">
              <a:solidFill>
                <a:srgbClr val="EAF6F1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az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acr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build --registry $ACR --image dab:1 .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az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 container create ... --ports 5000 --environment-variables "DATABASE_CONNECTION_STRING=$CONN"</a:t>
            </a:r>
          </a:p>
          <a:p>
            <a:pPr algn="l">
              <a:defRPr sz="1050" b="0">
                <a:solidFill>
                  <a:srgbClr val="EAF6F1"/>
                </a:solidFill>
                <a:latin typeface="Courier New"/>
                <a:ea typeface="Courier New"/>
                <a:cs typeface="Courier New"/>
              </a:defRPr>
            </a:pP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curl http://&lt;</a:t>
            </a:r>
            <a:r>
              <a:rPr sz="1600" b="0" dirty="0" err="1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fqdn</a:t>
            </a:r>
            <a:r>
              <a:rPr sz="1600" b="0" dirty="0">
                <a:solidFill>
                  <a:srgbClr val="EAF6F1"/>
                </a:solidFill>
                <a:latin typeface="Courier New"/>
                <a:ea typeface="Courier New"/>
                <a:cs typeface="Courier New"/>
              </a:rPr>
              <a:t>&gt;:5000/health  →  { "status": "healthy", "version": "2.0.x" }</a:t>
            </a:r>
          </a:p>
        </p:txBody>
      </p:sp>
    </p:spTree>
    <p:extLst>
      <p:ext uri="{BB962C8B-B14F-4D97-AF65-F5344CB8AC3E}">
        <p14:creationId xmlns:p14="http://schemas.microsoft.com/office/powerpoint/2010/main" val="1168945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F4FC0A2-B919-AC51-72EE-828A339F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same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image on AWS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7A4D4BD-C566-5A4E-8118-25066CCEE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ECS /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Fargate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mirror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into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ECR,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expose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port 5000, health-check /health,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inject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Secrets Manager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values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App Runner: point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image for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automatic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HTTPS and scaling.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changes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AWS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no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managed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for Azure SQL; use SQL login or service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principal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from Secrets Manager.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Networking and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egress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become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explicit design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decisions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Everything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else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entities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, endpoints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byte-for-byte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identical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0076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761C75A-01BD-8E14-A730-3F68A5A8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Demo 5: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deploy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Azure Container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Instances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DB8E44D-61DE-8749-2B52-369C4B23EA54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6667500" cy="31432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8BB4978-FB19-14F4-9114-04F1A3389720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5B4F"/>
                </a:solidFill>
                <a:latin typeface="Arial"/>
                <a:ea typeface="Arial"/>
                <a:cs typeface="Arial"/>
              </a:rPr>
              <a:t>RUN SHEET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0C8143D-F0E2-C11F-2029-6DDB992E872D}"/>
              </a:ext>
            </a:extLst>
          </p:cNvPr>
          <p:cNvSpPr>
            <a:spLocks noGrp="1"/>
          </p:cNvSpPr>
          <p:nvPr/>
        </p:nvSpPr>
        <p:spPr>
          <a:xfrm>
            <a:off x="838200" y="26670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60BA1F4-0A9D-DF73-7F7D-A90CF61F1583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Build with az acr build; keep the connection string outside the image.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3EACD17-E487-166A-77F8-AA50843F9D8F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76200" cy="76200"/>
          </a:xfrm>
          <a:prstGeom prst="rect">
            <a:avLst/>
          </a:prstGeom>
          <a:solidFill>
            <a:srgbClr val="D6C8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4D726F9-6D03-3423-DE61-80C441D0765A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az container create → curl /health → open /api/openapi.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B15CC7E-07C1-6D70-F077-AEFDE8C6CB1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743286E-3F0C-BA01-E447-68E9639CEB3E}"/>
              </a:ext>
            </a:extLst>
          </p:cNvPr>
          <p:cNvSpPr>
            <a:spLocks noGrp="1"/>
          </p:cNvSpPr>
          <p:nvPr/>
        </p:nvSpPr>
        <p:spPr>
          <a:xfrm>
            <a:off x="1066800" y="36766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Flip host mode to production and show Swagger disappear.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1E30C7B-D165-04B4-F87F-62E0C5D55451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76200" cy="7620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45D7E3D-89BC-2C4B-7719-C8821170BA56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58674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12312E"/>
                </a:solidFill>
                <a:latin typeface="Arial"/>
                <a:ea typeface="Arial"/>
                <a:cs typeface="Arial"/>
              </a:rPr>
              <a:t>Point an MCP client at /mcp; walk through the same ECS task definition.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A191F86-71F1-782A-6B59-2A671BFF11A4}"/>
              </a:ext>
            </a:extLst>
          </p:cNvPr>
          <p:cNvSpPr>
            <a:spLocks noGrp="1"/>
          </p:cNvSpPr>
          <p:nvPr/>
        </p:nvSpPr>
        <p:spPr>
          <a:xfrm>
            <a:off x="7848600" y="1905000"/>
            <a:ext cx="3333750" cy="31432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60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9B5B1CA-66EA-97CA-1A28-F1BA1FCB675A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6C84B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D6C84B"/>
                </a:solidFill>
                <a:latin typeface="Arial"/>
                <a:ea typeface="Arial"/>
                <a:cs typeface="Arial"/>
              </a:rPr>
              <a:t>POINT TO MAKE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1221105-D26E-C2B6-9F16-612609CB8EA1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257175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a JSON file to a public API in roughly three minutes. Production host mode is the most forgotten switch.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4F9DB72-AF10-7307-B166-FA0ADF53178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rect">
            <a:avLst/>
          </a:prstGeom>
          <a:solidFill>
            <a:srgbClr val="E600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8657E6A-485E-6E45-D068-A85A17881966}"/>
              </a:ext>
            </a:extLst>
          </p:cNvPr>
          <p:cNvSpPr>
            <a:spLocks noGrp="1"/>
          </p:cNvSpPr>
          <p:nvPr/>
        </p:nvSpPr>
        <p:spPr>
          <a:xfrm>
            <a:off x="742950" y="4824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005B4F"/>
                </a:solidFill>
                <a:latin typeface="Arial"/>
                <a:ea typeface="Arial"/>
                <a:cs typeface="Arial"/>
              </a:rPr>
              <a:t>LIVE DEMO</a:t>
            </a:r>
            <a:endParaRPr lang="it-IT"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  <a:p>
            <a:pPr algn="l">
              <a:defRPr sz="825" b="1">
                <a:solidFill>
                  <a:srgbClr val="005B4F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005B4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8301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Demo5.mov">
            <a:hlinkClick r:id="" action="ppaction://media"/>
            <a:extLst>
              <a:ext uri="{FF2B5EF4-FFF2-40B4-BE49-F238E27FC236}">
                <a16:creationId xmlns:a16="http://schemas.microsoft.com/office/drawing/2014/main" id="{1C9125B7-C68E-73C9-6E8B-0D170458F5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4818" y="0"/>
            <a:ext cx="9762364" cy="63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4DE9217F-51BA-EC14-842B-D92891B65324}"/>
              </a:ext>
            </a:extLst>
          </p:cNvPr>
          <p:cNvSpPr>
            <a:spLocks noGrp="1"/>
          </p:cNvSpPr>
          <p:nvPr/>
        </p:nvSpPr>
        <p:spPr>
          <a:xfrm>
            <a:off x="773422" y="4067175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5043784-78E7-B666-8A52-DDE351F4F75F}"/>
              </a:ext>
            </a:extLst>
          </p:cNvPr>
          <p:cNvSpPr>
            <a:spLocks noGrp="1"/>
          </p:cNvSpPr>
          <p:nvPr/>
        </p:nvSpPr>
        <p:spPr>
          <a:xfrm>
            <a:off x="757989" y="2914892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F9A0F02-AA48-51A8-9690-690C908EA1F3}"/>
              </a:ext>
            </a:extLst>
          </p:cNvPr>
          <p:cNvSpPr>
            <a:spLocks noGrp="1"/>
          </p:cNvSpPr>
          <p:nvPr/>
        </p:nvSpPr>
        <p:spPr>
          <a:xfrm>
            <a:off x="757989" y="1733551"/>
            <a:ext cx="10728157" cy="704850"/>
          </a:xfrm>
          <a:prstGeom prst="rect">
            <a:avLst/>
          </a:prstGeom>
          <a:solidFill>
            <a:srgbClr val="E9F1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sz="1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8BA631F-20C5-B092-C2DD-B2059413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The production checklist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short —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if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honest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EF28288-5EF3-ED9A-83C8-E45B1B8BAA03}"/>
              </a:ext>
            </a:extLst>
          </p:cNvPr>
          <p:cNvSpPr>
            <a:spLocks noGrp="1"/>
          </p:cNvSpPr>
          <p:nvPr/>
        </p:nvSpPr>
        <p:spPr>
          <a:xfrm>
            <a:off x="1214061" y="2028825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D8195CE-DB29-309D-2B36-B33F0D5A00F1}"/>
              </a:ext>
            </a:extLst>
          </p:cNvPr>
          <p:cNvSpPr>
            <a:spLocks noGrp="1"/>
          </p:cNvSpPr>
          <p:nvPr/>
        </p:nvSpPr>
        <p:spPr>
          <a:xfrm>
            <a:off x="2875256" y="1885950"/>
            <a:ext cx="788799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host.mode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=production ·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real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provider · explicit CORS · @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env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/@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akv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secrets · review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effective</a:t>
            </a:r>
            <a:r>
              <a:rPr lang="it-IT"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permissions</a:t>
            </a:r>
            <a:endParaRPr lang="it-IT" sz="1400" b="1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B096639-1606-1553-C53D-2E07CF118377}"/>
              </a:ext>
            </a:extLst>
          </p:cNvPr>
          <p:cNvSpPr>
            <a:spLocks noGrp="1"/>
          </p:cNvSpPr>
          <p:nvPr/>
        </p:nvSpPr>
        <p:spPr>
          <a:xfrm>
            <a:off x="1329883" y="31813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46AA73-7478-3804-F8BC-976785784E16}"/>
              </a:ext>
            </a:extLst>
          </p:cNvPr>
          <p:cNvSpPr>
            <a:spLocks noGrp="1"/>
          </p:cNvSpPr>
          <p:nvPr/>
        </p:nvSpPr>
        <p:spPr>
          <a:xfrm>
            <a:off x="2875256" y="3048000"/>
            <a:ext cx="7887994" cy="5717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least-privilege database user · item policies or RLS · publish only intended columns · cache TTLs match writes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7167900-E1BA-B1B1-46A6-6BA51AFB7DB8}"/>
              </a:ext>
            </a:extLst>
          </p:cNvPr>
          <p:cNvSpPr>
            <a:spLocks noGrp="1"/>
          </p:cNvSpPr>
          <p:nvPr/>
        </p:nvSpPr>
        <p:spPr>
          <a:xfrm>
            <a:off x="1109964" y="43305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E60087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E6008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5C91CC3-5C6C-C8F2-32CE-A228D1857B95}"/>
              </a:ext>
            </a:extLst>
          </p:cNvPr>
          <p:cNvSpPr>
            <a:spLocks noGrp="1"/>
          </p:cNvSpPr>
          <p:nvPr/>
        </p:nvSpPr>
        <p:spPr>
          <a:xfrm>
            <a:off x="2875256" y="4190999"/>
            <a:ext cx="7887994" cy="581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312E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/health on platform probe · </a:t>
            </a:r>
            <a:r>
              <a:rPr sz="1400" b="1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OTel</a:t>
            </a:r>
            <a:r>
              <a:rPr sz="1400" b="1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traces flowing · dab validate in pipeline · pin image tag · load-test realistic filters</a:t>
            </a:r>
          </a:p>
        </p:txBody>
      </p:sp>
    </p:spTree>
    <p:extLst>
      <p:ext uri="{BB962C8B-B14F-4D97-AF65-F5344CB8AC3E}">
        <p14:creationId xmlns:p14="http://schemas.microsoft.com/office/powerpoint/2010/main" val="8876257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C4B46B-33EB-4D25-9B09-6863D7CD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When</a:t>
            </a:r>
            <a:r>
              <a:rPr lang="it-IT" dirty="0"/>
              <a:t> DAB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wrong</a:t>
            </a:r>
            <a:r>
              <a:rPr lang="it-IT" dirty="0"/>
              <a:t> </a:t>
            </a:r>
            <a:r>
              <a:rPr lang="it-IT" dirty="0" err="1"/>
              <a:t>answer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B9E3D7-036F-A94B-0E4B-A202D4C10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API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 workflow,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data access.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cross-source joins in one call.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need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DDL from the API; MCP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deliberately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DML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Not a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fit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when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the consumer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contract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cannot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expressed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by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your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query model.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Rough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edges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primary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keys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required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some SQL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types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not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serialisable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; auto-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config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is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tables-only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and SQL-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only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in 2.0.</a:t>
            </a:r>
          </a:p>
          <a:p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A64890A4-1C3E-F7E0-DF6D-184FA755F6A5}"/>
              </a:ext>
            </a:extLst>
          </p:cNvPr>
          <p:cNvSpPr>
            <a:spLocks noGrp="1"/>
          </p:cNvSpPr>
          <p:nvPr/>
        </p:nvSpPr>
        <p:spPr>
          <a:xfrm>
            <a:off x="552450" y="5467350"/>
            <a:ext cx="11087100" cy="552450"/>
          </a:xfrm>
          <a:prstGeom prst="rect">
            <a:avLst/>
          </a:prstGeom>
          <a:solidFill>
            <a:srgbClr val="005B4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123EF65-A594-3398-5A34-454A80EC2C8D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66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DAB is not a replacement for your application. It replaces the layer nobody wanted to write: generic CRUD endpoints, security glue and observability.</a:t>
            </a:r>
          </a:p>
        </p:txBody>
      </p:sp>
    </p:spTree>
    <p:extLst>
      <p:ext uri="{BB962C8B-B14F-4D97-AF65-F5344CB8AC3E}">
        <p14:creationId xmlns:p14="http://schemas.microsoft.com/office/powerpoint/2010/main" val="2617451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8C7BE0-A89E-3B41-A056-ABEAFA29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Resources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FA4184-DE40-B26C-F160-73F5634991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Documentation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learn.microsoft.com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/data-api-builder</a:t>
            </a:r>
          </a:p>
          <a:p>
            <a:pPr lvl="1"/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What’s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new in 2.0 ·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whats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-new/version-2-0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Security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hardening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: https://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learn.microsoft.com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/en-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us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/data-api-builder/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quickstart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microsoft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sql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-security</a:t>
            </a: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Feature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availability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· /feature-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availability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pPr lvl="1"/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SQL MCP Server · 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mcp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overview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Code and community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github.com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/Azure/data-api-builder</a:t>
            </a:r>
          </a:p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Container image ·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mcr.microsoft.com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azure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-databases/data-api-builder</a:t>
            </a:r>
          </a:p>
          <a:p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Author’s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code: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github.com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ddominici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/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presentations</a:t>
            </a:r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9219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14DDEF-E8F6-41A2-3B8C-64378827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Five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things</a:t>
            </a:r>
            <a: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  <a:t> to take </a:t>
            </a:r>
            <a:r>
              <a:rPr lang="it-IT" dirty="0" err="1">
                <a:solidFill>
                  <a:srgbClr val="12312E"/>
                </a:solidFill>
                <a:latin typeface="Arial"/>
                <a:ea typeface="Arial"/>
                <a:cs typeface="Arial"/>
              </a:rPr>
              <a:t>away</a:t>
            </a:r>
            <a:br>
              <a:rPr lang="it-IT" dirty="0">
                <a:solidFill>
                  <a:srgbClr val="12312E"/>
                </a:solidFill>
                <a:latin typeface="Arial"/>
                <a:ea typeface="Arial"/>
                <a:cs typeface="Arial"/>
              </a:rPr>
            </a:br>
            <a:endParaRPr lang="it-IT" dirty="0"/>
          </a:p>
        </p:txBody>
      </p:sp>
      <p:graphicFrame>
        <p:nvGraphicFramePr>
          <p:cNvPr id="5" name="Segnaposto testo 2">
            <a:extLst>
              <a:ext uri="{FF2B5EF4-FFF2-40B4-BE49-F238E27FC236}">
                <a16:creationId xmlns:a16="http://schemas.microsoft.com/office/drawing/2014/main" id="{9F66B19D-4712-B642-6986-EFEA1CF18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022293"/>
              </p:ext>
            </p:extLst>
          </p:nvPr>
        </p:nvGraphicFramePr>
        <p:xfrm>
          <a:off x="738188" y="1700213"/>
          <a:ext cx="10747375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2717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3558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6540-2D8D-80AE-1BB6-2674F958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C1D725-8167-3F28-7E0E-19472ABD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cs typeface="Arial"/>
              </a:rPr>
              <a:t>Q&amp;A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59CCA1-1173-0C0D-4C2B-6EE10E0047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b="1" dirty="0"/>
              <a:t>"How </a:t>
            </a:r>
            <a:r>
              <a:rPr lang="it-IT" b="1" dirty="0" err="1"/>
              <a:t>does</a:t>
            </a:r>
            <a:r>
              <a:rPr lang="it-IT" b="1" dirty="0"/>
              <a:t> performance compare with a hand-</a:t>
            </a:r>
            <a:r>
              <a:rPr lang="it-IT" b="1" dirty="0" err="1"/>
              <a:t>written</a:t>
            </a:r>
            <a:r>
              <a:rPr lang="it-IT" b="1" dirty="0"/>
              <a:t> API?"</a:t>
            </a:r>
            <a:r>
              <a:rPr lang="it-IT" dirty="0"/>
              <a:t> The </a:t>
            </a:r>
            <a:r>
              <a:rPr lang="it-IT" dirty="0" err="1"/>
              <a:t>generated</a:t>
            </a:r>
            <a:r>
              <a:rPr lang="it-IT" dirty="0"/>
              <a:t> SQL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parameterised</a:t>
            </a:r>
            <a:r>
              <a:rPr lang="it-IT" dirty="0"/>
              <a:t> and </a:t>
            </a:r>
            <a:r>
              <a:rPr lang="it-IT" dirty="0" err="1"/>
              <a:t>shaped</a:t>
            </a:r>
            <a:r>
              <a:rPr lang="it-IT" dirty="0"/>
              <a:t> by the query builder; the overhead </a:t>
            </a:r>
            <a:r>
              <a:rPr lang="it-IT" dirty="0" err="1"/>
              <a:t>is</a:t>
            </a:r>
            <a:r>
              <a:rPr lang="it-IT" dirty="0"/>
              <a:t> a middle </a:t>
            </a:r>
            <a:r>
              <a:rPr lang="it-IT" dirty="0" err="1"/>
              <a:t>tier's</a:t>
            </a:r>
            <a:r>
              <a:rPr lang="it-IT" dirty="0"/>
              <a:t> HTTP and </a:t>
            </a:r>
            <a:r>
              <a:rPr lang="it-IT" dirty="0" err="1"/>
              <a:t>serialisation</a:t>
            </a:r>
            <a:r>
              <a:rPr lang="it-IT" dirty="0"/>
              <a:t> cost,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pay</a:t>
            </a:r>
            <a:r>
              <a:rPr lang="it-IT" dirty="0"/>
              <a:t> for a custom API </a:t>
            </a:r>
            <a:r>
              <a:rPr lang="it-IT" dirty="0" err="1"/>
              <a:t>too</a:t>
            </a:r>
            <a:r>
              <a:rPr lang="it-IT" dirty="0"/>
              <a:t>. The </a:t>
            </a:r>
            <a:r>
              <a:rPr lang="it-IT" dirty="0" err="1"/>
              <a:t>wins</a:t>
            </a:r>
            <a:r>
              <a:rPr lang="it-IT" dirty="0"/>
              <a:t> come from caching and from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having</a:t>
            </a:r>
            <a:r>
              <a:rPr lang="it-IT" dirty="0"/>
              <a:t> N+1 patterns in </a:t>
            </a:r>
            <a:r>
              <a:rPr lang="it-IT" dirty="0" err="1"/>
              <a:t>nested</a:t>
            </a:r>
            <a:r>
              <a:rPr lang="it-IT" dirty="0"/>
              <a:t> </a:t>
            </a:r>
            <a:r>
              <a:rPr lang="it-IT" dirty="0" err="1"/>
              <a:t>reads</a:t>
            </a:r>
            <a:r>
              <a:rPr lang="it-IT" dirty="0"/>
              <a:t>. The </a:t>
            </a:r>
            <a:r>
              <a:rPr lang="it-IT" dirty="0" err="1"/>
              <a:t>losses</a:t>
            </a:r>
            <a:r>
              <a:rPr lang="it-IT" dirty="0"/>
              <a:t> come from queries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hand-</a:t>
            </a:r>
            <a:r>
              <a:rPr lang="it-IT" dirty="0" err="1"/>
              <a:t>tuned</a:t>
            </a:r>
            <a:r>
              <a:rPr lang="it-IT" dirty="0"/>
              <a:t>. </a:t>
            </a:r>
            <a:r>
              <a:rPr lang="it-IT" dirty="0" err="1"/>
              <a:t>Measure</a:t>
            </a:r>
            <a:r>
              <a:rPr lang="it-IT" dirty="0"/>
              <a:t> with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 $filter patterns, and </a:t>
            </a:r>
            <a:r>
              <a:rPr lang="it-IT" dirty="0" err="1"/>
              <a:t>remember</a:t>
            </a:r>
            <a:r>
              <a:rPr lang="it-IT" dirty="0"/>
              <a:t> DAB </a:t>
            </a:r>
            <a:r>
              <a:rPr lang="it-IT" dirty="0" err="1"/>
              <a:t>cannot</a:t>
            </a:r>
            <a:r>
              <a:rPr lang="it-IT" dirty="0"/>
              <a:t> </a:t>
            </a:r>
            <a:r>
              <a:rPr lang="it-IT" dirty="0" err="1"/>
              <a:t>invent</a:t>
            </a:r>
            <a:r>
              <a:rPr lang="it-IT" dirty="0"/>
              <a:t> an index.</a:t>
            </a:r>
          </a:p>
        </p:txBody>
      </p:sp>
    </p:spTree>
    <p:extLst>
      <p:ext uri="{BB962C8B-B14F-4D97-AF65-F5344CB8AC3E}">
        <p14:creationId xmlns:p14="http://schemas.microsoft.com/office/powerpoint/2010/main" val="3639132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F9BA7-7427-C122-DAE2-0C4D4AA14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9758F5-653D-274C-4FB5-70542765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cs typeface="Arial"/>
              </a:rPr>
              <a:t>Q&amp;A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4A6844B-DCB8-92A7-B269-3E4D189D4E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b="1" dirty="0"/>
              <a:t>"Does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replace</a:t>
            </a:r>
            <a:r>
              <a:rPr lang="it-IT" b="1" dirty="0"/>
              <a:t> </a:t>
            </a:r>
            <a:r>
              <a:rPr lang="it-IT" b="1" dirty="0" err="1"/>
              <a:t>stored</a:t>
            </a:r>
            <a:r>
              <a:rPr lang="it-IT" b="1" dirty="0"/>
              <a:t> </a:t>
            </a:r>
            <a:r>
              <a:rPr lang="it-IT" b="1" dirty="0" err="1"/>
              <a:t>procedures</a:t>
            </a:r>
            <a:r>
              <a:rPr lang="it-IT" b="1" dirty="0"/>
              <a:t>?"</a:t>
            </a:r>
            <a:r>
              <a:rPr lang="it-IT" dirty="0"/>
              <a:t> No —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exposes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. A </a:t>
            </a:r>
            <a:r>
              <a:rPr lang="it-IT" dirty="0" err="1"/>
              <a:t>stored</a:t>
            </a:r>
            <a:r>
              <a:rPr lang="it-IT" dirty="0"/>
              <a:t> procedure </a:t>
            </a:r>
            <a:r>
              <a:rPr lang="it-IT" dirty="0" err="1"/>
              <a:t>is</a:t>
            </a:r>
            <a:r>
              <a:rPr lang="it-IT" dirty="0"/>
              <a:t> a first-class </a:t>
            </a:r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, and in 2.0 </a:t>
            </a:r>
            <a:r>
              <a:rPr lang="it-IT" dirty="0" err="1"/>
              <a:t>it</a:t>
            </a:r>
            <a:r>
              <a:rPr lang="it-IT" dirty="0"/>
              <a:t> can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become</a:t>
            </a:r>
            <a:r>
              <a:rPr lang="it-IT" dirty="0"/>
              <a:t> a </a:t>
            </a:r>
            <a:r>
              <a:rPr lang="it-IT" dirty="0" err="1"/>
              <a:t>named</a:t>
            </a:r>
            <a:r>
              <a:rPr lang="it-IT" dirty="0"/>
              <a:t> MCP tool.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anything</a:t>
            </a:r>
            <a:r>
              <a:rPr lang="it-IT" dirty="0"/>
              <a:t>, DAB makes </a:t>
            </a:r>
            <a:r>
              <a:rPr lang="it-IT" dirty="0" err="1"/>
              <a:t>stored</a:t>
            </a:r>
            <a:r>
              <a:rPr lang="it-IT" dirty="0"/>
              <a:t> </a:t>
            </a:r>
            <a:r>
              <a:rPr lang="it-IT" dirty="0" err="1"/>
              <a:t>procedures</a:t>
            </a:r>
            <a:r>
              <a:rPr lang="it-IT" dirty="0"/>
              <a:t> more </a:t>
            </a:r>
            <a:r>
              <a:rPr lang="it-IT" dirty="0" err="1"/>
              <a:t>valuable</a:t>
            </a:r>
            <a:r>
              <a:rPr lang="it-IT" dirty="0"/>
              <a:t>: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become</a:t>
            </a:r>
            <a:r>
              <a:rPr lang="it-IT" dirty="0"/>
              <a:t> the business-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behind</a:t>
            </a:r>
            <a:r>
              <a:rPr lang="it-IT" dirty="0"/>
              <a:t> a </a:t>
            </a:r>
            <a:r>
              <a:rPr lang="it-IT" dirty="0" err="1"/>
              <a:t>generated</a:t>
            </a:r>
            <a:r>
              <a:rPr lang="it-IT" dirty="0"/>
              <a:t> API.</a:t>
            </a:r>
          </a:p>
        </p:txBody>
      </p:sp>
    </p:spTree>
    <p:extLst>
      <p:ext uri="{BB962C8B-B14F-4D97-AF65-F5344CB8AC3E}">
        <p14:creationId xmlns:p14="http://schemas.microsoft.com/office/powerpoint/2010/main" val="1225932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0F38-2460-3B99-4668-0E1ECA49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3C8C7F-7F23-C36D-9070-5771C406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cs typeface="Arial"/>
              </a:rPr>
              <a:t>Q&amp;A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9AB0F5F-161A-D4AE-DC0A-941D6AFD8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b="1" dirty="0"/>
              <a:t>"</a:t>
            </a:r>
            <a:r>
              <a:rPr lang="it-IT" b="1" dirty="0" err="1"/>
              <a:t>Is</a:t>
            </a:r>
            <a:r>
              <a:rPr lang="it-IT" b="1" dirty="0"/>
              <a:t> the MCP server safe to </a:t>
            </a:r>
            <a:r>
              <a:rPr lang="it-IT" b="1" dirty="0" err="1"/>
              <a:t>expose</a:t>
            </a:r>
            <a:r>
              <a:rPr lang="it-IT" b="1" dirty="0"/>
              <a:t>?"</a:t>
            </a:r>
            <a:r>
              <a:rPr lang="it-IT" dirty="0"/>
              <a:t> 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safer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</a:t>
            </a:r>
            <a:r>
              <a:rPr lang="it-IT" dirty="0" err="1"/>
              <a:t>alternatives</a:t>
            </a:r>
            <a:r>
              <a:rPr lang="it-IT" dirty="0"/>
              <a:t>, </a:t>
            </a:r>
            <a:r>
              <a:rPr lang="it-IT" dirty="0" err="1"/>
              <a:t>because</a:t>
            </a:r>
            <a:r>
              <a:rPr lang="it-IT" dirty="0"/>
              <a:t> the model </a:t>
            </a:r>
            <a:r>
              <a:rPr lang="it-IT" dirty="0" err="1"/>
              <a:t>never</a:t>
            </a:r>
            <a:r>
              <a:rPr lang="it-IT" dirty="0"/>
              <a:t> </a:t>
            </a:r>
            <a:r>
              <a:rPr lang="it-IT" dirty="0" err="1"/>
              <a:t>writes</a:t>
            </a:r>
            <a:r>
              <a:rPr lang="it-IT" dirty="0"/>
              <a:t> SQL. Seven </a:t>
            </a:r>
            <a:r>
              <a:rPr lang="it-IT" dirty="0" err="1"/>
              <a:t>typed</a:t>
            </a:r>
            <a:r>
              <a:rPr lang="it-IT" dirty="0"/>
              <a:t> tools,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entity</a:t>
            </a:r>
            <a:r>
              <a:rPr lang="it-IT" dirty="0"/>
              <a:t> list, </a:t>
            </a:r>
            <a:r>
              <a:rPr lang="it-IT" dirty="0" err="1"/>
              <a:t>your</a:t>
            </a:r>
            <a:r>
              <a:rPr lang="it-IT" dirty="0"/>
              <a:t> RBAC, </a:t>
            </a:r>
            <a:r>
              <a:rPr lang="it-IT" dirty="0" err="1"/>
              <a:t>your</a:t>
            </a:r>
            <a:r>
              <a:rPr lang="it-IT" dirty="0"/>
              <a:t> policies, per-tool switches to </a:t>
            </a:r>
            <a:r>
              <a:rPr lang="it-IT" dirty="0" err="1"/>
              <a:t>disable</a:t>
            </a:r>
            <a:r>
              <a:rPr lang="it-IT" dirty="0"/>
              <a:t> delete or aggregate, and </a:t>
            </a:r>
            <a:r>
              <a:rPr lang="it-IT" dirty="0" err="1"/>
              <a:t>every</a:t>
            </a:r>
            <a:r>
              <a:rPr lang="it-IT" dirty="0"/>
              <a:t> call </a:t>
            </a:r>
            <a:r>
              <a:rPr lang="it-IT" dirty="0" err="1"/>
              <a:t>traced</a:t>
            </a:r>
            <a:r>
              <a:rPr lang="it-IT" dirty="0"/>
              <a:t>. Combine </a:t>
            </a:r>
            <a:r>
              <a:rPr lang="it-IT" dirty="0" err="1"/>
              <a:t>it</a:t>
            </a:r>
            <a:r>
              <a:rPr lang="it-IT" dirty="0"/>
              <a:t> with On-</a:t>
            </a:r>
            <a:r>
              <a:rPr lang="it-IT" dirty="0" err="1"/>
              <a:t>Behalf</a:t>
            </a:r>
            <a:r>
              <a:rPr lang="it-IT" dirty="0"/>
              <a:t>-Of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the database to </a:t>
            </a:r>
            <a:r>
              <a:rPr lang="it-IT" dirty="0" err="1"/>
              <a:t>see</a:t>
            </a:r>
            <a:r>
              <a:rPr lang="it-IT" dirty="0"/>
              <a:t> the </a:t>
            </a:r>
            <a:r>
              <a:rPr lang="it-IT" dirty="0" err="1"/>
              <a:t>real</a:t>
            </a:r>
            <a:r>
              <a:rPr lang="it-IT" dirty="0"/>
              <a:t> user.</a:t>
            </a:r>
          </a:p>
          <a:p>
            <a:r>
              <a:rPr lang="it-IT" b="1" dirty="0"/>
              <a:t>"</a:t>
            </a:r>
            <a:r>
              <a:rPr lang="it-IT" b="1" dirty="0" err="1"/>
              <a:t>What</a:t>
            </a:r>
            <a:r>
              <a:rPr lang="it-IT" b="1" dirty="0"/>
              <a:t> </a:t>
            </a:r>
            <a:r>
              <a:rPr lang="it-IT" b="1" dirty="0" err="1"/>
              <a:t>about</a:t>
            </a:r>
            <a:r>
              <a:rPr lang="it-IT" b="1" dirty="0"/>
              <a:t> 500 </a:t>
            </a:r>
            <a:r>
              <a:rPr lang="it-IT" b="1" dirty="0" err="1"/>
              <a:t>tables</a:t>
            </a:r>
            <a:r>
              <a:rPr lang="it-IT" b="1" dirty="0"/>
              <a:t>?"</a:t>
            </a:r>
            <a:r>
              <a:rPr lang="it-IT" dirty="0"/>
              <a:t> Auto-</a:t>
            </a:r>
            <a:r>
              <a:rPr lang="it-IT" dirty="0" err="1"/>
              <a:t>config</a:t>
            </a:r>
            <a:r>
              <a:rPr lang="it-IT" dirty="0"/>
              <a:t> with patterns, and be deliberate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exclusions</a:t>
            </a:r>
            <a:r>
              <a:rPr lang="it-IT" dirty="0"/>
              <a:t>. Then check startup time and </a:t>
            </a:r>
            <a:r>
              <a:rPr lang="it-IT" dirty="0" err="1"/>
              <a:t>memory</a:t>
            </a:r>
            <a:r>
              <a:rPr lang="it-IT" dirty="0"/>
              <a:t> in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 </a:t>
            </a:r>
            <a:r>
              <a:rPr lang="it-IT" dirty="0" err="1"/>
              <a:t>environment</a:t>
            </a:r>
            <a:r>
              <a:rPr lang="it-IT" dirty="0"/>
              <a:t> — a </a:t>
            </a:r>
            <a:r>
              <a:rPr lang="it-IT" dirty="0" err="1"/>
              <a:t>very</a:t>
            </a:r>
            <a:r>
              <a:rPr lang="it-IT" dirty="0"/>
              <a:t> large </a:t>
            </a:r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surface</a:t>
            </a:r>
            <a:r>
              <a:rPr lang="it-IT" dirty="0"/>
              <a:t> costs </a:t>
            </a:r>
            <a:r>
              <a:rPr lang="it-IT" dirty="0" err="1"/>
              <a:t>both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07124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B2AC-D201-402F-1E42-65724861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36093A-DCA5-5D66-31D5-C23F6577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cs typeface="Arial"/>
              </a:rPr>
              <a:t>Q&amp;A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B7180-655A-E5C6-6D41-DF67F80387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b="1" dirty="0"/>
              <a:t>"Licensing and support?"</a:t>
            </a:r>
            <a:r>
              <a:rPr lang="it-IT" dirty="0"/>
              <a:t> MIT, free, no premium </a:t>
            </a:r>
            <a:r>
              <a:rPr lang="it-IT" dirty="0" err="1"/>
              <a:t>tier</a:t>
            </a:r>
            <a:r>
              <a:rPr lang="it-IT" dirty="0"/>
              <a:t>. Support </a:t>
            </a:r>
            <a:r>
              <a:rPr lang="it-IT" dirty="0" err="1"/>
              <a:t>is</a:t>
            </a:r>
            <a:r>
              <a:rPr lang="it-IT" dirty="0"/>
              <a:t> GitHub </a:t>
            </a:r>
            <a:r>
              <a:rPr lang="it-IT" dirty="0" err="1"/>
              <a:t>issues</a:t>
            </a:r>
            <a:r>
              <a:rPr lang="it-IT" dirty="0"/>
              <a:t> and </a:t>
            </a:r>
            <a:r>
              <a:rPr lang="it-IT" dirty="0" err="1"/>
              <a:t>discussions</a:t>
            </a:r>
            <a:r>
              <a:rPr lang="it-IT" dirty="0"/>
              <a:t>, plus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existing</a:t>
            </a:r>
            <a:r>
              <a:rPr lang="it-IT" dirty="0"/>
              <a:t> Azure support agreement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inside Azure services. For a </a:t>
            </a:r>
            <a:r>
              <a:rPr lang="it-IT" dirty="0" err="1"/>
              <a:t>regulated</a:t>
            </a:r>
            <a:r>
              <a:rPr lang="it-IT" dirty="0"/>
              <a:t> </a:t>
            </a:r>
            <a:r>
              <a:rPr lang="it-IT" dirty="0" err="1"/>
              <a:t>environment</a:t>
            </a:r>
            <a:r>
              <a:rPr lang="it-IT" dirty="0"/>
              <a:t>,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conversation</a:t>
            </a:r>
            <a:r>
              <a:rPr lang="it-IT" dirty="0"/>
              <a:t> to </a:t>
            </a:r>
            <a:r>
              <a:rPr lang="it-IT" dirty="0" err="1"/>
              <a:t>have</a:t>
            </a:r>
            <a:r>
              <a:rPr lang="it-IT" dirty="0"/>
              <a:t> with </a:t>
            </a:r>
            <a:r>
              <a:rPr lang="it-IT" dirty="0" err="1"/>
              <a:t>your</a:t>
            </a:r>
            <a:r>
              <a:rPr lang="it-IT" dirty="0"/>
              <a:t> risk team.</a:t>
            </a:r>
          </a:p>
          <a:p>
            <a:r>
              <a:rPr lang="it-IT" b="1" dirty="0"/>
              <a:t>"Can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write</a:t>
            </a:r>
            <a:r>
              <a:rPr lang="it-IT" b="1" dirty="0"/>
              <a:t> to </a:t>
            </a:r>
            <a:r>
              <a:rPr lang="it-IT" b="1" dirty="0" err="1"/>
              <a:t>Fabric</a:t>
            </a:r>
            <a:r>
              <a:rPr lang="it-IT" b="1" dirty="0"/>
              <a:t>?"</a:t>
            </a:r>
            <a:r>
              <a:rPr lang="it-IT" dirty="0"/>
              <a:t> A SQL database in </a:t>
            </a:r>
            <a:r>
              <a:rPr lang="it-IT" dirty="0" err="1"/>
              <a:t>Fabric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read-write</a:t>
            </a:r>
            <a:r>
              <a:rPr lang="it-IT" dirty="0"/>
              <a:t> SQL database. </a:t>
            </a:r>
            <a:r>
              <a:rPr lang="it-IT" dirty="0" err="1"/>
              <a:t>Lakehouse</a:t>
            </a:r>
            <a:r>
              <a:rPr lang="it-IT" dirty="0"/>
              <a:t> and </a:t>
            </a:r>
            <a:r>
              <a:rPr lang="it-IT" dirty="0" err="1"/>
              <a:t>Warehouse</a:t>
            </a:r>
            <a:r>
              <a:rPr lang="it-IT" dirty="0"/>
              <a:t> SQL endpoints are </a:t>
            </a:r>
            <a:r>
              <a:rPr lang="it-IT" dirty="0" err="1"/>
              <a:t>read-oriented</a:t>
            </a:r>
            <a:r>
              <a:rPr lang="it-IT" dirty="0"/>
              <a:t> — </a:t>
            </a:r>
            <a:r>
              <a:rPr lang="it-IT" dirty="0" err="1"/>
              <a:t>treat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reads</a:t>
            </a:r>
            <a:r>
              <a:rPr lang="it-IT" dirty="0"/>
              <a:t> and </a:t>
            </a:r>
            <a:r>
              <a:rPr lang="it-IT" dirty="0" err="1"/>
              <a:t>aggregations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5635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3F6F-7FAC-15A7-4129-B681CF12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9D2ECF-C21D-D2C8-6F7F-A0FD4941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12312E"/>
                </a:solidFill>
                <a:latin typeface="Arial"/>
                <a:cs typeface="Arial"/>
              </a:rPr>
              <a:t>Q&amp;A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CED1F1-9B47-4FE6-9675-866E7ECDD3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b="1" dirty="0"/>
              <a:t>"How do </a:t>
            </a:r>
            <a:r>
              <a:rPr lang="it-IT" b="1" dirty="0" err="1"/>
              <a:t>we</a:t>
            </a:r>
            <a:r>
              <a:rPr lang="it-IT" b="1" dirty="0"/>
              <a:t> </a:t>
            </a:r>
            <a:r>
              <a:rPr lang="it-IT" b="1" dirty="0" err="1"/>
              <a:t>version</a:t>
            </a:r>
            <a:r>
              <a:rPr lang="it-IT" b="1" dirty="0"/>
              <a:t> the API?"</a:t>
            </a:r>
            <a:r>
              <a:rPr lang="it-IT" dirty="0"/>
              <a:t> </a:t>
            </a:r>
            <a:r>
              <a:rPr lang="it-IT" dirty="0" err="1"/>
              <a:t>Through</a:t>
            </a:r>
            <a:r>
              <a:rPr lang="it-IT" dirty="0"/>
              <a:t> the </a:t>
            </a:r>
            <a:r>
              <a:rPr lang="it-IT" dirty="0" err="1"/>
              <a:t>configuration</a:t>
            </a:r>
            <a:r>
              <a:rPr lang="it-IT" dirty="0"/>
              <a:t>: </a:t>
            </a:r>
            <a:r>
              <a:rPr lang="it-IT" dirty="0" err="1"/>
              <a:t>entity</a:t>
            </a:r>
            <a:r>
              <a:rPr lang="it-IT" dirty="0"/>
              <a:t> names, REST </a:t>
            </a:r>
            <a:r>
              <a:rPr lang="it-IT" dirty="0" err="1"/>
              <a:t>paths</a:t>
            </a:r>
            <a:r>
              <a:rPr lang="it-IT" dirty="0"/>
              <a:t> and </a:t>
            </a:r>
            <a:r>
              <a:rPr lang="it-IT" dirty="0" err="1"/>
              <a:t>OpenAPI</a:t>
            </a:r>
            <a:r>
              <a:rPr lang="it-IT" dirty="0"/>
              <a:t> </a:t>
            </a:r>
            <a:r>
              <a:rPr lang="it-IT" dirty="0" err="1"/>
              <a:t>documents</a:t>
            </a:r>
            <a:r>
              <a:rPr lang="it-IT" dirty="0"/>
              <a:t> are </a:t>
            </a:r>
            <a:r>
              <a:rPr lang="it-IT" dirty="0" err="1"/>
              <a:t>yours</a:t>
            </a:r>
            <a:r>
              <a:rPr lang="it-IT" dirty="0"/>
              <a:t> to control, and </a:t>
            </a:r>
            <a:r>
              <a:rPr lang="it-IT" dirty="0" err="1"/>
              <a:t>advanced</a:t>
            </a:r>
            <a:r>
              <a:rPr lang="it-IT" dirty="0"/>
              <a:t> REST </a:t>
            </a:r>
            <a:r>
              <a:rPr lang="it-IT" dirty="0" err="1"/>
              <a:t>paths</a:t>
            </a:r>
            <a:r>
              <a:rPr lang="it-IT" dirty="0"/>
              <a:t> in 2.0 make </a:t>
            </a:r>
            <a:r>
              <a:rPr lang="it-IT" dirty="0" err="1"/>
              <a:t>prefixes</a:t>
            </a:r>
            <a:r>
              <a:rPr lang="it-IT" dirty="0"/>
              <a:t> like /api/v2/...</a:t>
            </a:r>
            <a:r>
              <a:rPr lang="it-IT" dirty="0" err="1"/>
              <a:t>natural</a:t>
            </a:r>
            <a:r>
              <a:rPr lang="it-IT" dirty="0"/>
              <a:t>.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 </a:t>
            </a:r>
            <a:r>
              <a:rPr lang="it-IT" dirty="0" err="1"/>
              <a:t>built</a:t>
            </a:r>
            <a:r>
              <a:rPr lang="it-IT" dirty="0"/>
              <a:t>-in </a:t>
            </a:r>
            <a:r>
              <a:rPr lang="it-IT" dirty="0" err="1"/>
              <a:t>versioning</a:t>
            </a:r>
            <a:r>
              <a:rPr lang="it-IT" dirty="0"/>
              <a:t> </a:t>
            </a:r>
            <a:r>
              <a:rPr lang="it-IT" dirty="0" err="1"/>
              <a:t>engine</a:t>
            </a:r>
            <a:r>
              <a:rPr lang="it-IT" dirty="0"/>
              <a:t>.</a:t>
            </a:r>
          </a:p>
          <a:p>
            <a:endParaRPr lang="it-IT" dirty="0">
              <a:solidFill>
                <a:srgbClr val="12312E"/>
              </a:solidFill>
              <a:latin typeface="Arial"/>
              <a:ea typeface="Arial"/>
              <a:cs typeface="Arial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7629590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Props1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7719</Words>
  <Application>Microsoft Macintosh PowerPoint</Application>
  <PresentationFormat>Widescreen</PresentationFormat>
  <Paragraphs>497</Paragraphs>
  <Slides>48</Slides>
  <Notes>38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48</vt:i4>
      </vt:variant>
    </vt:vector>
  </HeadingPairs>
  <TitlesOfParts>
    <vt:vector size="56" baseType="lpstr">
      <vt:lpstr>Arial</vt:lpstr>
      <vt:lpstr>Calibri</vt:lpstr>
      <vt:lpstr>Cambria</vt:lpstr>
      <vt:lpstr>Courier New</vt:lpstr>
      <vt:lpstr>Splash Screen</vt:lpstr>
      <vt:lpstr>Title Slide</vt:lpstr>
      <vt:lpstr>Main Content</vt:lpstr>
      <vt:lpstr>End Screen</vt:lpstr>
      <vt:lpstr>Slide 1</vt:lpstr>
      <vt:lpstr>Connecting the dots: using Data API Builder to expose your SQL Server</vt:lpstr>
      <vt:lpstr>What you’ll leave with </vt:lpstr>
      <vt:lpstr>Presentazione standard di PowerPoint</vt:lpstr>
      <vt:lpstr>The CRUD API tax is plumbing you keep rewriting </vt:lpstr>
      <vt:lpstr>What DAB actually is</vt:lpstr>
      <vt:lpstr>Architecture</vt:lpstr>
      <vt:lpstr>Run the same engine anywhere containers run </vt:lpstr>
      <vt:lpstr>Presentazione standard di PowerPoint</vt:lpstr>
      <vt:lpstr>dab-config.json is the contract </vt:lpstr>
      <vt:lpstr>Six commands cover 95% of the work </vt:lpstr>
      <vt:lpstr>Entities, roles and policies</vt:lpstr>
      <vt:lpstr>REST </vt:lpstr>
      <vt:lpstr>Relationships and aggregations without N+1 </vt:lpstr>
      <vt:lpstr>Demo 1: SQL Server on-premises — zero to API </vt:lpstr>
      <vt:lpstr>Presentazione standard di PowerPoint</vt:lpstr>
      <vt:lpstr>Nine things that changed in version 2.0</vt:lpstr>
      <vt:lpstr>Stop hand-writing entity blocks for large schemas </vt:lpstr>
      <vt:lpstr>Role inheritance makes effective permissions inspectable </vt:lpstr>
      <vt:lpstr>The Unauthenticated provider</vt:lpstr>
      <vt:lpstr>On-Behalf-Of</vt:lpstr>
      <vt:lpstr>SQL MCP Server </vt:lpstr>
      <vt:lpstr>REST and OpenAPI</vt:lpstr>
      <vt:lpstr>Observability is wired before the first deploy </vt:lpstr>
      <vt:lpstr>Caching scales reads without hiding user context </vt:lpstr>
      <vt:lpstr>Demo 2: Azure SQL </vt:lpstr>
      <vt:lpstr>Presentazione standard di PowerPoint</vt:lpstr>
      <vt:lpstr>Multi-source configuration</vt:lpstr>
      <vt:lpstr>Microsoft Fabric </vt:lpstr>
      <vt:lpstr>Demo 3: Fabric + multi-source hybrid API </vt:lpstr>
      <vt:lpstr>Presentazione standard di PowerPoint</vt:lpstr>
      <vt:lpstr>Demo 4: querying database using natural language </vt:lpstr>
      <vt:lpstr>Presentazione standard di PowerPoint</vt:lpstr>
      <vt:lpstr>Pick your host</vt:lpstr>
      <vt:lpstr>The ACI recipe</vt:lpstr>
      <vt:lpstr>The same image on AWS</vt:lpstr>
      <vt:lpstr>Demo 5: deploy to Azure Container Instances </vt:lpstr>
      <vt:lpstr>Presentazione standard di PowerPoint</vt:lpstr>
      <vt:lpstr>The production checklist is short — if you are honest </vt:lpstr>
      <vt:lpstr>When DAB is the wrong answer</vt:lpstr>
      <vt:lpstr>Resources</vt:lpstr>
      <vt:lpstr>Five things to take away </vt:lpstr>
      <vt:lpstr>Presentazione standard di PowerPoint</vt:lpstr>
      <vt:lpstr>Q&amp;A</vt:lpstr>
      <vt:lpstr>Q&amp;A</vt:lpstr>
      <vt:lpstr>Q&amp;A</vt:lpstr>
      <vt:lpstr>Q&amp;A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2025-08-04T20:53:53Z</dcterms:created>
  <dcterms:modified xsi:type="dcterms:W3CDTF">2026-10-24T14:08:35Z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