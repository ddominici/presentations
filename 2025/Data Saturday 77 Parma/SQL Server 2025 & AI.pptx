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256" r:id="rId5"/>
    <p:sldId id="257" r:id="rId6"/>
    <p:sldId id="258" r:id="rId7"/>
    <p:sldId id="2147483564" r:id="rId8"/>
    <p:sldId id="2147483643" r:id="rId9"/>
    <p:sldId id="262" r:id="rId10"/>
    <p:sldId id="2147483552" r:id="rId11"/>
    <p:sldId id="2147479498" r:id="rId12"/>
    <p:sldId id="2147483565" r:id="rId13"/>
    <p:sldId id="261" r:id="rId14"/>
    <p:sldId id="2147483646" r:id="rId15"/>
    <p:sldId id="264" r:id="rId16"/>
    <p:sldId id="2147483647" r:id="rId17"/>
    <p:sldId id="268" r:id="rId18"/>
    <p:sldId id="259" r:id="rId19"/>
    <p:sldId id="2147483566" r:id="rId20"/>
    <p:sldId id="263" r:id="rId21"/>
    <p:sldId id="265" r:id="rId22"/>
    <p:sldId id="266" r:id="rId23"/>
    <p:sldId id="267" r:id="rId24"/>
    <p:sldId id="269" r:id="rId25"/>
    <p:sldId id="2147483642" r:id="rId26"/>
    <p:sldId id="286" r:id="rId27"/>
    <p:sldId id="260" r:id="rId2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3DD"/>
    <a:srgbClr val="343A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7" autoAdjust="0"/>
    <p:restoredTop sz="89116" autoAdjust="0"/>
  </p:normalViewPr>
  <p:slideViewPr>
    <p:cSldViewPr snapToGrid="0">
      <p:cViewPr varScale="1">
        <p:scale>
          <a:sx n="95" d="100"/>
          <a:sy n="95" d="100"/>
        </p:scale>
        <p:origin x="432" y="4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57D13-CA8F-F441-B808-08D707938078}" type="datetimeFigureOut">
              <a:rPr lang="it-IT" smtClean="0"/>
              <a:t>28/11/25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154CFD-213B-2E4C-8C3E-DCE8D5730E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1139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BC7A4-AE74-485D-8AA6-BCA0BE4DF38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5606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CA82E-1107-EB90-103F-CD263B3C8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DCAEC-B3FB-1093-C248-076EDAA43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EE75ED-FE6B-B8E0-C514-1A7D0B4BD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9FB83-ACF5-01F2-FEAF-724E3380E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BC7A4-AE74-485D-8AA6-BCA0BE4DF38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2080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11/28/25 4:57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10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11/28/25 4:57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644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11/28/25 4:57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4908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11/28/25 4:57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018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10034-4E08-7BAF-D602-91C22CFB7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138B4-DBD9-1127-6668-841FE6614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0A05F-3E36-E6DD-08A3-4E96BD7B4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218639D-151E-CB8F-8F21-8B899A5F5442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0BDF5-FA46-2755-C8FB-27A2AD03F76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8415" marR="0" lvl="0" indent="0" algn="l" defTabSz="9251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3A8CE07-BC86-C69F-72F5-7191C8228AD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11/28/25 4:57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3A0E4-32C8-B77F-306E-CADDD8587E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1988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1DC17-9CDD-C0C2-D937-6D37F37BC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1258CB-8F0F-D9B8-A692-B9CC4A8193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0F1110-2C7C-E480-671C-F1633ADFB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557E4E8F-CAB2-F1BF-23A7-428B51B55DB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9B3BA-263D-9375-B92E-6BE7666E48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B2E9346-35BD-1D0D-4A6B-753B60CC77B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11/28/25 4:57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D90D73-F5DC-38F9-A726-50EB0652A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32834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B83E3-E145-321D-928E-B75A35568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8BEDE5-6761-83F7-8894-BC44BBB6F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0E798-524D-4F5A-3977-72D721FAAB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20FB146-D563-E821-14CC-C915F396C25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76727-761F-9398-808C-AD2633F4078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71500" marR="0" lvl="0" indent="0" algn="l" defTabSz="91409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ADF5732-19B5-44BA-023E-9FAB41415B2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11/28/25 4:57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2E9A9-FF3D-76E6-1A27-8721BDBEA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9516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jp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3048000" y="331857"/>
            <a:ext cx="9144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1201AB4-DC9A-F0C7-1288-C29AEA6597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658" y="367926"/>
            <a:ext cx="3944684" cy="129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EE4224-294B-1909-3C29-09DF25610FC7}"/>
              </a:ext>
            </a:extLst>
          </p:cNvPr>
          <p:cNvSpPr txBox="1"/>
          <p:nvPr userDrawn="1"/>
        </p:nvSpPr>
        <p:spPr>
          <a:xfrm>
            <a:off x="8366466" y="663714"/>
            <a:ext cx="38255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4000" b="1" dirty="0">
                <a:solidFill>
                  <a:srgbClr val="0093DD"/>
                </a:solidFill>
              </a:rPr>
              <a:t>#77 PARMA 2025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C3366DE-3117-892F-5AEE-99FC5F31F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4023"/>
          <a:stretch/>
        </p:blipFill>
        <p:spPr>
          <a:xfrm>
            <a:off x="8933415" y="5526025"/>
            <a:ext cx="2691636" cy="628636"/>
          </a:xfrm>
          <a:prstGeom prst="rect">
            <a:avLst/>
          </a:prstGeom>
        </p:spPr>
      </p:pic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0" y="5154543"/>
            <a:ext cx="3048000" cy="1371600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75229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8C607A6D-A9F7-3EC8-0F8C-CEB7F8595D3F}"/>
              </a:ext>
            </a:extLst>
          </p:cNvPr>
          <p:cNvSpPr/>
          <p:nvPr userDrawn="1"/>
        </p:nvSpPr>
        <p:spPr>
          <a:xfrm rot="10800000">
            <a:off x="7619997" y="-240417"/>
            <a:ext cx="4571999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74D63D-5A47-53B9-7114-EF71B206E598}"/>
              </a:ext>
            </a:extLst>
          </p:cNvPr>
          <p:cNvSpPr txBox="1"/>
          <p:nvPr userDrawn="1"/>
        </p:nvSpPr>
        <p:spPr>
          <a:xfrm>
            <a:off x="8105536" y="29884"/>
            <a:ext cx="38963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800" b="0" dirty="0">
                <a:solidFill>
                  <a:schemeClr val="bg1"/>
                </a:solidFill>
              </a:rPr>
              <a:t>Sponsor &amp; Org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980E98-4A8E-1DD9-29F8-041437439E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19997" y="1401486"/>
            <a:ext cx="3569728" cy="9977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92C070-BBA6-5F33-BC50-7218375906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46362" y="3431846"/>
            <a:ext cx="1985529" cy="948966"/>
          </a:xfrm>
          <a:prstGeom prst="rect">
            <a:avLst/>
          </a:prstGeom>
        </p:spPr>
      </p:pic>
      <p:pic>
        <p:nvPicPr>
          <p:cNvPr id="10" name="Picture 9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8FC7760F-1945-4907-52B0-8530216ADD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5" t="33307" r="18222" b="33308"/>
          <a:stretch/>
        </p:blipFill>
        <p:spPr>
          <a:xfrm>
            <a:off x="1081219" y="1131183"/>
            <a:ext cx="3386033" cy="1180646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E5D4F28-9607-06D6-64CB-BC7397555A6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74235" y="5046944"/>
            <a:ext cx="2867182" cy="6867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2F8F3A1-C13D-0E89-5F75-87E37DADD9A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2508" y="3429000"/>
            <a:ext cx="2520634" cy="844148"/>
          </a:xfrm>
          <a:prstGeom prst="rect">
            <a:avLst/>
          </a:prstGeom>
        </p:spPr>
      </p:pic>
      <p:pic>
        <p:nvPicPr>
          <p:cNvPr id="17" name="Picture 16" descr="A logo with blue dots and black text&#10;&#10;Description automatically generated">
            <a:extLst>
              <a:ext uri="{FF2B5EF4-FFF2-40B4-BE49-F238E27FC236}">
                <a16:creationId xmlns:a16="http://schemas.microsoft.com/office/drawing/2014/main" id="{DD228FB6-73C5-460C-BB2D-AD1B523AC7D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255" y="1900341"/>
            <a:ext cx="3257495" cy="1937526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C8E5850-1EB8-24D5-7D6A-63602B6597E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9680" y="4458804"/>
            <a:ext cx="2520634" cy="170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63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6096000" y="951494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-1112222" y="5069842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-1112222" y="5776847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28521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10539812" y="951495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0" y="5069842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0" y="5776847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226F5A7-6E87-0D32-978C-5266BA907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05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10539812" y="951495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0" y="5069842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0" y="5776847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B284E8-0555-ABFE-6004-05D404204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226F5A7-6E87-0D32-978C-5266BA907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029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10539812" y="951495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0" y="5069842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0" y="5776847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B284E8-0555-ABFE-6004-05D404204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595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B284E8-0555-ABFE-6004-05D404204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226F5A7-6E87-0D32-978C-5266BA907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44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6096000" y="951494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-1112222" y="0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-1112222" y="707005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65469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6096000" y="951494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-1112222" y="0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-1112222" y="707005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6C682C-5523-1B86-BEF8-483C54098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986" y="137069"/>
            <a:ext cx="10296814" cy="814425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803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6096000" y="951494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-1112222" y="0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-1112222" y="707005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C5192-59F8-3E1A-DE70-E3C0A32C2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3095"/>
            <a:ext cx="10515600" cy="385386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6C682C-5523-1B86-BEF8-483C54098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986" y="137069"/>
            <a:ext cx="10296814" cy="814425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643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6096000" y="951494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-1112222" y="0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-1112222" y="707005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C5192-59F8-3E1A-DE70-E3C0A32C2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921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10539812" y="951495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0" y="0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0" y="707005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963540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10539812" y="951495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0" y="0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0" y="707005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7F5FA3-75BE-4AEA-FC60-8E49B0C79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9208" y="365125"/>
            <a:ext cx="8370604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5025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10539812" y="951495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0" y="0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0" y="707005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7F5FA3-75BE-4AEA-FC60-8E49B0C79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9208" y="365125"/>
            <a:ext cx="8370604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E4BFC3-3FC7-0545-F528-ECD8BE73B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7917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10539812" y="951495"/>
            <a:ext cx="6096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1B42916-EA1E-3A6A-4C06-EE1B7B323A18}"/>
              </a:ext>
            </a:extLst>
          </p:cNvPr>
          <p:cNvSpPr/>
          <p:nvPr userDrawn="1"/>
        </p:nvSpPr>
        <p:spPr>
          <a:xfrm>
            <a:off x="0" y="0"/>
            <a:ext cx="2169208" cy="951495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0" y="707005"/>
            <a:ext cx="1679171" cy="755627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E4BFC3-3FC7-0545-F528-ECD8BE73B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5103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3048000" y="331857"/>
            <a:ext cx="9144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1201AB4-DC9A-F0C7-1288-C29AEA6597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658" y="367926"/>
            <a:ext cx="3944684" cy="129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EE4224-294B-1909-3C29-09DF25610FC7}"/>
              </a:ext>
            </a:extLst>
          </p:cNvPr>
          <p:cNvSpPr txBox="1"/>
          <p:nvPr userDrawn="1"/>
        </p:nvSpPr>
        <p:spPr>
          <a:xfrm>
            <a:off x="8366466" y="663714"/>
            <a:ext cx="38255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4000" b="1" dirty="0">
                <a:solidFill>
                  <a:srgbClr val="0093DD"/>
                </a:solidFill>
              </a:rPr>
              <a:t>#64 PARMA 2024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0" y="5154543"/>
            <a:ext cx="3048000" cy="1371600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B2E943-17C0-A63F-14C1-BDFE359A000C}"/>
              </a:ext>
            </a:extLst>
          </p:cNvPr>
          <p:cNvSpPr txBox="1"/>
          <p:nvPr userDrawn="1"/>
        </p:nvSpPr>
        <p:spPr>
          <a:xfrm>
            <a:off x="4190004" y="2953022"/>
            <a:ext cx="38119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err="1">
                <a:solidFill>
                  <a:srgbClr val="37262D"/>
                </a:solidFill>
                <a:latin typeface="+mn-lt"/>
              </a:rPr>
              <a:t>Grazie</a:t>
            </a:r>
            <a:r>
              <a:rPr lang="en-US" sz="8000" dirty="0">
                <a:solidFill>
                  <a:srgbClr val="37262D"/>
                </a:solidFill>
                <a:latin typeface="+mn-lt"/>
              </a:rPr>
              <a:t>!!!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ED75D6-D0E6-858B-4907-61030C23C5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63953" y="5398825"/>
            <a:ext cx="2528047" cy="8830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C3366DE-3117-892F-5AEE-99FC5F31F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4023"/>
          <a:stretch/>
        </p:blipFill>
        <p:spPr>
          <a:xfrm>
            <a:off x="6972317" y="5526025"/>
            <a:ext cx="2691636" cy="62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4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Pentagon 6">
            <a:extLst>
              <a:ext uri="{FF2B5EF4-FFF2-40B4-BE49-F238E27FC236}">
                <a16:creationId xmlns:a16="http://schemas.microsoft.com/office/drawing/2014/main" id="{3D7F1097-8773-216E-DD7B-67DFE0A636C9}"/>
              </a:ext>
            </a:extLst>
          </p:cNvPr>
          <p:cNvSpPr/>
          <p:nvPr userDrawn="1"/>
        </p:nvSpPr>
        <p:spPr>
          <a:xfrm rot="10800000">
            <a:off x="3048000" y="331857"/>
            <a:ext cx="9144000" cy="1371600"/>
          </a:xfrm>
          <a:prstGeom prst="homePlate">
            <a:avLst/>
          </a:prstGeom>
          <a:solidFill>
            <a:srgbClr val="343A40"/>
          </a:solidFill>
          <a:ln>
            <a:solidFill>
              <a:srgbClr val="343A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1201AB4-DC9A-F0C7-1288-C29AEA6597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3658" y="367926"/>
            <a:ext cx="3944684" cy="129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EE4224-294B-1909-3C29-09DF25610FC7}"/>
              </a:ext>
            </a:extLst>
          </p:cNvPr>
          <p:cNvSpPr txBox="1"/>
          <p:nvPr userDrawn="1"/>
        </p:nvSpPr>
        <p:spPr>
          <a:xfrm>
            <a:off x="8366466" y="663714"/>
            <a:ext cx="38255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4000" b="1" dirty="0">
                <a:solidFill>
                  <a:srgbClr val="0093DD"/>
                </a:solidFill>
              </a:rPr>
              <a:t>#64 PARMA 2024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98D3004C-6E63-DCB5-4D96-06608729BE53}"/>
              </a:ext>
            </a:extLst>
          </p:cNvPr>
          <p:cNvSpPr/>
          <p:nvPr userDrawn="1"/>
        </p:nvSpPr>
        <p:spPr>
          <a:xfrm>
            <a:off x="0" y="5154543"/>
            <a:ext cx="3048000" cy="1371600"/>
          </a:xfrm>
          <a:prstGeom prst="homePlate">
            <a:avLst/>
          </a:prstGeom>
          <a:solidFill>
            <a:srgbClr val="0093DD"/>
          </a:solidFill>
          <a:ln>
            <a:solidFill>
              <a:srgbClr val="0093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B2E943-17C0-A63F-14C1-BDFE359A000C}"/>
              </a:ext>
            </a:extLst>
          </p:cNvPr>
          <p:cNvSpPr txBox="1"/>
          <p:nvPr userDrawn="1"/>
        </p:nvSpPr>
        <p:spPr>
          <a:xfrm>
            <a:off x="4007769" y="2953022"/>
            <a:ext cx="41764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37262D"/>
                </a:solidFill>
                <a:latin typeface="+mn-lt"/>
              </a:rPr>
              <a:t>Thanks!!!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4EDBD9-C974-1D34-FDDF-0C250B0D5B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63953" y="5398825"/>
            <a:ext cx="2528047" cy="8830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D33EC0-A04C-3E67-2704-BE06AA6228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14023"/>
          <a:stretch/>
        </p:blipFill>
        <p:spPr>
          <a:xfrm>
            <a:off x="6972317" y="5526025"/>
            <a:ext cx="2691636" cy="62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6169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6 - Light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 descr="Theme 6 16x9 background live shapes">
            <a:extLst>
              <a:ext uri="{FF2B5EF4-FFF2-40B4-BE49-F238E27FC236}">
                <a16:creationId xmlns:a16="http://schemas.microsoft.com/office/drawing/2014/main" id="{015E8758-8AD5-33E3-7075-9EBD7214B07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008856"/>
            <a:ext cx="1534583" cy="863263"/>
            <a:chOff x="0" y="-1402736"/>
            <a:chExt cx="1918074" cy="1078992"/>
          </a:xfrm>
        </p:grpSpPr>
        <p:sp>
          <p:nvSpPr>
            <p:cNvPr id="23" name="Rectangle 22">
              <a:hlinkClick r:id="" action="ppaction://noaction"/>
              <a:extLst>
                <a:ext uri="{FF2B5EF4-FFF2-40B4-BE49-F238E27FC236}">
                  <a16:creationId xmlns:a16="http://schemas.microsoft.com/office/drawing/2014/main" id="{D750F67A-569C-CBA2-940A-441C138FA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6"/>
              <a:ext cx="1918074" cy="1078992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42E5D0F-EA15-A97B-1246-F92FD64DC2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72" t="12009" r="20372" b="40594"/>
            <a:stretch/>
          </p:blipFill>
          <p:spPr>
            <a:xfrm>
              <a:off x="0" y="-1402736"/>
              <a:ext cx="1918074" cy="1078992"/>
            </a:xfrm>
            <a:prstGeom prst="rect">
              <a:avLst/>
            </a:prstGeom>
          </p:spPr>
        </p:pic>
        <p:sp>
          <p:nvSpPr>
            <p:cNvPr id="25" name="Rectangle 24">
              <a:hlinkClick r:id="" action="ppaction://noaction"/>
              <a:extLst>
                <a:ext uri="{FF2B5EF4-FFF2-40B4-BE49-F238E27FC236}">
                  <a16:creationId xmlns:a16="http://schemas.microsoft.com/office/drawing/2014/main" id="{86D236A9-3859-42A3-96A9-00BF164F3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5"/>
              <a:ext cx="1918074" cy="1078991"/>
            </a:xfrm>
            <a:prstGeom prst="rect">
              <a:avLst/>
            </a:prstGeom>
            <a:gradFill flip="none" rotWithShape="1">
              <a:gsLst>
                <a:gs pos="60000">
                  <a:srgbClr val="E2F1F9">
                    <a:alpha val="60000"/>
                  </a:srgbClr>
                </a:gs>
                <a:gs pos="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37466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500" b="0" i="0" u="none" strike="noStrike" cap="none" spc="0" normalizeH="0" baseline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83165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eme 6 - Light-TitleOnly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 descr="Theme 6 16x9 background live shapes">
            <a:extLst>
              <a:ext uri="{FF2B5EF4-FFF2-40B4-BE49-F238E27FC236}">
                <a16:creationId xmlns:a16="http://schemas.microsoft.com/office/drawing/2014/main" id="{015E8758-8AD5-33E3-7075-9EBD7214B07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0" y="-1008856"/>
            <a:ext cx="1534583" cy="863263"/>
            <a:chOff x="0" y="-1402736"/>
            <a:chExt cx="1918074" cy="1078992"/>
          </a:xfrm>
        </p:grpSpPr>
        <p:sp>
          <p:nvSpPr>
            <p:cNvPr id="23" name="Rectangle 22">
              <a:hlinkClick r:id="" action="ppaction://noaction"/>
              <a:extLst>
                <a:ext uri="{FF2B5EF4-FFF2-40B4-BE49-F238E27FC236}">
                  <a16:creationId xmlns:a16="http://schemas.microsoft.com/office/drawing/2014/main" id="{D750F67A-569C-CBA2-940A-441C138FA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6"/>
              <a:ext cx="1918074" cy="1078992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76" tIns="146302" rIns="182876" bIns="146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24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b="1">
                <a:solidFill>
                  <a:srgbClr val="091F2C"/>
                </a:solidFill>
                <a:latin typeface="Segoe UI Variable Display Semibold" pitchFamily="2" charset="0"/>
                <a:cs typeface="Segoe UI" pitchFamily="34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42E5D0F-EA15-A97B-1246-F92FD64DC2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alphaModFix amt="75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372" t="12009" r="20372" b="40594"/>
            <a:stretch/>
          </p:blipFill>
          <p:spPr>
            <a:xfrm>
              <a:off x="0" y="-1402736"/>
              <a:ext cx="1918074" cy="1078992"/>
            </a:xfrm>
            <a:prstGeom prst="rect">
              <a:avLst/>
            </a:prstGeom>
          </p:spPr>
        </p:pic>
        <p:sp>
          <p:nvSpPr>
            <p:cNvPr id="25" name="Rectangle 24">
              <a:hlinkClick r:id="" action="ppaction://noaction"/>
              <a:extLst>
                <a:ext uri="{FF2B5EF4-FFF2-40B4-BE49-F238E27FC236}">
                  <a16:creationId xmlns:a16="http://schemas.microsoft.com/office/drawing/2014/main" id="{86D236A9-3859-42A3-96A9-00BF164F34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0" y="-1402735"/>
              <a:ext cx="1918074" cy="1078991"/>
            </a:xfrm>
            <a:prstGeom prst="rect">
              <a:avLst/>
            </a:prstGeom>
            <a:gradFill flip="none" rotWithShape="1">
              <a:gsLst>
                <a:gs pos="60000">
                  <a:srgbClr val="E2F1F9">
                    <a:alpha val="60000"/>
                  </a:srgbClr>
                </a:gs>
                <a:gs pos="0">
                  <a:srgbClr val="FFECEE">
                    <a:alpha val="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R="0" lvl="0" indent="0" defTabSz="374667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500" b="0" i="0" u="none" strike="noStrike" cap="none" spc="0" normalizeH="0" baseline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UI"/>
                <a:cs typeface="Segoe UI" pitchFamily="34" charset="0"/>
              </a:endParaRPr>
            </a:p>
          </p:txBody>
        </p:sp>
      </p:grpSp>
      <p:sp>
        <p:nvSpPr>
          <p:cNvPr id="2" name="Title 2">
            <a:extLst>
              <a:ext uri="{FF2B5EF4-FFF2-40B4-BE49-F238E27FC236}">
                <a16:creationId xmlns:a16="http://schemas.microsoft.com/office/drawing/2014/main" id="{CFBA275F-02D0-8293-CC4D-2B024C915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65258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286530-6FFC-6310-1803-164D87A0A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49F734-4851-FFAD-B672-8EB63E7F3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9C762-93BF-0790-960E-065727518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47158-1B40-437D-8B6C-F92A5DC50B8F}" type="datetimeFigureOut">
              <a:rPr lang="it-IT" smtClean="0"/>
              <a:t>28/11/25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CBF99-5E35-3CC1-8404-F8CFF465D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E62D6-EAF5-B333-654B-6F99F095BF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7CF59-E865-4AD9-84F9-22996E32F87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7527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74" r:id="rId4"/>
    <p:sldLayoutId id="2147483663" r:id="rId5"/>
    <p:sldLayoutId id="2147483675" r:id="rId6"/>
    <p:sldLayoutId id="2147483667" r:id="rId7"/>
    <p:sldLayoutId id="2147483670" r:id="rId8"/>
    <p:sldLayoutId id="2147483672" r:id="rId9"/>
    <p:sldLayoutId id="2147483669" r:id="rId10"/>
    <p:sldLayoutId id="2147483666" r:id="rId11"/>
    <p:sldLayoutId id="2147483671" r:id="rId12"/>
    <p:sldLayoutId id="2147483665" r:id="rId13"/>
    <p:sldLayoutId id="2147483668" r:id="rId14"/>
    <p:sldLayoutId id="2147483673" r:id="rId15"/>
    <p:sldLayoutId id="2147483664" r:id="rId16"/>
    <p:sldLayoutId id="2147483676" r:id="rId17"/>
    <p:sldLayoutId id="2147483677" r:id="rId18"/>
    <p:sldLayoutId id="2147483678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.emf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9" Type="http://schemas.openxmlformats.org/officeDocument/2006/relationships/hyperlink" Target="https://www.tpc.org/3408" TargetMode="External"/><Relationship Id="rId21" Type="http://schemas.openxmlformats.org/officeDocument/2006/relationships/image" Target="../media/image43.png"/><Relationship Id="rId34" Type="http://schemas.openxmlformats.org/officeDocument/2006/relationships/image" Target="../media/image56.png"/><Relationship Id="rId42" Type="http://schemas.openxmlformats.org/officeDocument/2006/relationships/image" Target="../media/image6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8.png"/><Relationship Id="rId20" Type="http://schemas.openxmlformats.org/officeDocument/2006/relationships/image" Target="../media/image42.svg"/><Relationship Id="rId29" Type="http://schemas.openxmlformats.org/officeDocument/2006/relationships/image" Target="../media/image51.emf"/><Relationship Id="rId41" Type="http://schemas.openxmlformats.org/officeDocument/2006/relationships/hyperlink" Target="https://www.tpc.org/3410" TargetMode="Externa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9.png"/><Relationship Id="rId11" Type="http://schemas.microsoft.com/office/2007/relationships/hdphoto" Target="../media/hdphoto2.wdp"/><Relationship Id="rId24" Type="http://schemas.openxmlformats.org/officeDocument/2006/relationships/image" Target="../media/image46.svg"/><Relationship Id="rId32" Type="http://schemas.openxmlformats.org/officeDocument/2006/relationships/image" Target="../media/image54.png"/><Relationship Id="rId37" Type="http://schemas.openxmlformats.org/officeDocument/2006/relationships/image" Target="../media/image59.png"/><Relationship Id="rId40" Type="http://schemas.openxmlformats.org/officeDocument/2006/relationships/hyperlink" Target="https://www.tpc.org/3409" TargetMode="External"/><Relationship Id="rId5" Type="http://schemas.openxmlformats.org/officeDocument/2006/relationships/image" Target="../media/image28.png"/><Relationship Id="rId15" Type="http://schemas.openxmlformats.org/officeDocument/2006/relationships/image" Target="../media/image37.svg"/><Relationship Id="rId23" Type="http://schemas.openxmlformats.org/officeDocument/2006/relationships/image" Target="../media/image45.png"/><Relationship Id="rId28" Type="http://schemas.openxmlformats.org/officeDocument/2006/relationships/image" Target="../media/image50.png"/><Relationship Id="rId36" Type="http://schemas.openxmlformats.org/officeDocument/2006/relationships/image" Target="../media/image58.png"/><Relationship Id="rId10" Type="http://schemas.openxmlformats.org/officeDocument/2006/relationships/image" Target="../media/image33.png"/><Relationship Id="rId19" Type="http://schemas.openxmlformats.org/officeDocument/2006/relationships/image" Target="../media/image41.png"/><Relationship Id="rId31" Type="http://schemas.openxmlformats.org/officeDocument/2006/relationships/image" Target="../media/image53.png"/><Relationship Id="rId4" Type="http://schemas.openxmlformats.org/officeDocument/2006/relationships/image" Target="../media/image27.png"/><Relationship Id="rId9" Type="http://schemas.openxmlformats.org/officeDocument/2006/relationships/image" Target="../media/image32.svg"/><Relationship Id="rId14" Type="http://schemas.openxmlformats.org/officeDocument/2006/relationships/image" Target="../media/image36.png"/><Relationship Id="rId22" Type="http://schemas.openxmlformats.org/officeDocument/2006/relationships/image" Target="../media/image44.svg"/><Relationship Id="rId27" Type="http://schemas.openxmlformats.org/officeDocument/2006/relationships/image" Target="../media/image49.svg"/><Relationship Id="rId30" Type="http://schemas.openxmlformats.org/officeDocument/2006/relationships/image" Target="../media/image52.png"/><Relationship Id="rId35" Type="http://schemas.openxmlformats.org/officeDocument/2006/relationships/image" Target="../media/image57.svg"/><Relationship Id="rId43" Type="http://schemas.openxmlformats.org/officeDocument/2006/relationships/image" Target="../media/image62.svg"/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12" Type="http://schemas.openxmlformats.org/officeDocument/2006/relationships/image" Target="../media/image34.png"/><Relationship Id="rId17" Type="http://schemas.openxmlformats.org/officeDocument/2006/relationships/image" Target="../media/image39.svg"/><Relationship Id="rId25" Type="http://schemas.openxmlformats.org/officeDocument/2006/relationships/image" Target="../media/image47.png"/><Relationship Id="rId33" Type="http://schemas.openxmlformats.org/officeDocument/2006/relationships/image" Target="../media/image55.png"/><Relationship Id="rId38" Type="http://schemas.openxmlformats.org/officeDocument/2006/relationships/image" Target="../media/image6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6.png"/><Relationship Id="rId7" Type="http://schemas.openxmlformats.org/officeDocument/2006/relationships/image" Target="../media/image64.png"/><Relationship Id="rId12" Type="http://schemas.openxmlformats.org/officeDocument/2006/relationships/image" Target="../media/image7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69.png"/><Relationship Id="rId11" Type="http://schemas.openxmlformats.org/officeDocument/2006/relationships/image" Target="../media/image73.png"/><Relationship Id="rId5" Type="http://schemas.openxmlformats.org/officeDocument/2006/relationships/image" Target="../media/image68.png"/><Relationship Id="rId10" Type="http://schemas.openxmlformats.org/officeDocument/2006/relationships/image" Target="../media/image72.png"/><Relationship Id="rId4" Type="http://schemas.openxmlformats.org/officeDocument/2006/relationships/image" Target="../media/image67.png"/><Relationship Id="rId9" Type="http://schemas.openxmlformats.org/officeDocument/2006/relationships/image" Target="../media/image7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svg"/><Relationship Id="rId13" Type="http://schemas.openxmlformats.org/officeDocument/2006/relationships/image" Target="../media/image83.png"/><Relationship Id="rId18" Type="http://schemas.openxmlformats.org/officeDocument/2006/relationships/image" Target="../media/image62.svg"/><Relationship Id="rId3" Type="http://schemas.openxmlformats.org/officeDocument/2006/relationships/image" Target="../media/image26.png"/><Relationship Id="rId7" Type="http://schemas.openxmlformats.org/officeDocument/2006/relationships/image" Target="../media/image77.png"/><Relationship Id="rId12" Type="http://schemas.openxmlformats.org/officeDocument/2006/relationships/image" Target="../media/image82.svg"/><Relationship Id="rId17" Type="http://schemas.openxmlformats.org/officeDocument/2006/relationships/image" Target="../media/image6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76.sv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58.png"/><Relationship Id="rId10" Type="http://schemas.openxmlformats.org/officeDocument/2006/relationships/image" Target="../media/image80.svg"/><Relationship Id="rId4" Type="http://schemas.openxmlformats.org/officeDocument/2006/relationships/image" Target="../media/image27.png"/><Relationship Id="rId9" Type="http://schemas.openxmlformats.org/officeDocument/2006/relationships/image" Target="../media/image79.png"/><Relationship Id="rId14" Type="http://schemas.openxmlformats.org/officeDocument/2006/relationships/image" Target="../media/image8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7.sv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.emf"/><Relationship Id="rId18" Type="http://schemas.openxmlformats.org/officeDocument/2006/relationships/image" Target="../media/image26.png"/><Relationship Id="rId26" Type="http://schemas.openxmlformats.org/officeDocument/2006/relationships/image" Target="../media/image104.png"/><Relationship Id="rId39" Type="http://schemas.openxmlformats.org/officeDocument/2006/relationships/image" Target="../media/image61.png"/><Relationship Id="rId21" Type="http://schemas.openxmlformats.org/officeDocument/2006/relationships/image" Target="../media/image58.png"/><Relationship Id="rId34" Type="http://schemas.openxmlformats.org/officeDocument/2006/relationships/image" Target="../media/image27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17" Type="http://schemas.openxmlformats.org/officeDocument/2006/relationships/image" Target="../media/image39.svg"/><Relationship Id="rId25" Type="http://schemas.openxmlformats.org/officeDocument/2006/relationships/image" Target="../media/image103.svg"/><Relationship Id="rId33" Type="http://schemas.openxmlformats.org/officeDocument/2006/relationships/image" Target="../media/image110.png"/><Relationship Id="rId38" Type="http://schemas.openxmlformats.org/officeDocument/2006/relationships/image" Target="../media/image112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8.png"/><Relationship Id="rId20" Type="http://schemas.openxmlformats.org/officeDocument/2006/relationships/image" Target="../media/image99.png"/><Relationship Id="rId29" Type="http://schemas.openxmlformats.org/officeDocument/2006/relationships/image" Target="../media/image107.sv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1.svg"/><Relationship Id="rId11" Type="http://schemas.openxmlformats.org/officeDocument/2006/relationships/image" Target="../media/image96.png"/><Relationship Id="rId24" Type="http://schemas.openxmlformats.org/officeDocument/2006/relationships/image" Target="../media/image102.png"/><Relationship Id="rId32" Type="http://schemas.openxmlformats.org/officeDocument/2006/relationships/image" Target="../media/image109.png"/><Relationship Id="rId37" Type="http://schemas.openxmlformats.org/officeDocument/2006/relationships/image" Target="../media/image111.png"/><Relationship Id="rId40" Type="http://schemas.openxmlformats.org/officeDocument/2006/relationships/image" Target="../media/image62.svg"/><Relationship Id="rId5" Type="http://schemas.openxmlformats.org/officeDocument/2006/relationships/image" Target="../media/image90.png"/><Relationship Id="rId15" Type="http://schemas.openxmlformats.org/officeDocument/2006/relationships/image" Target="../media/image37.svg"/><Relationship Id="rId23" Type="http://schemas.openxmlformats.org/officeDocument/2006/relationships/image" Target="../media/image101.svg"/><Relationship Id="rId28" Type="http://schemas.openxmlformats.org/officeDocument/2006/relationships/image" Target="../media/image106.png"/><Relationship Id="rId36" Type="http://schemas.openxmlformats.org/officeDocument/2006/relationships/image" Target="../media/image57.svg"/><Relationship Id="rId10" Type="http://schemas.openxmlformats.org/officeDocument/2006/relationships/image" Target="../media/image95.svg"/><Relationship Id="rId19" Type="http://schemas.openxmlformats.org/officeDocument/2006/relationships/image" Target="../media/image98.png"/><Relationship Id="rId31" Type="http://schemas.openxmlformats.org/officeDocument/2006/relationships/image" Target="../media/image108.png"/><Relationship Id="rId4" Type="http://schemas.openxmlformats.org/officeDocument/2006/relationships/image" Target="../media/image89.svg"/><Relationship Id="rId9" Type="http://schemas.openxmlformats.org/officeDocument/2006/relationships/image" Target="../media/image94.png"/><Relationship Id="rId14" Type="http://schemas.openxmlformats.org/officeDocument/2006/relationships/image" Target="../media/image36.png"/><Relationship Id="rId22" Type="http://schemas.openxmlformats.org/officeDocument/2006/relationships/image" Target="../media/image100.png"/><Relationship Id="rId27" Type="http://schemas.openxmlformats.org/officeDocument/2006/relationships/image" Target="../media/image105.svg"/><Relationship Id="rId30" Type="http://schemas.openxmlformats.org/officeDocument/2006/relationships/image" Target="../media/image85.png"/><Relationship Id="rId35" Type="http://schemas.openxmlformats.org/officeDocument/2006/relationships/image" Target="../media/image56.png"/><Relationship Id="rId8" Type="http://schemas.openxmlformats.org/officeDocument/2006/relationships/image" Target="../media/image93.svg"/><Relationship Id="rId3" Type="http://schemas.openxmlformats.org/officeDocument/2006/relationships/image" Target="../media/image8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9.png"/><Relationship Id="rId4" Type="http://schemas.openxmlformats.org/officeDocument/2006/relationships/image" Target="../media/image57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49.svg"/><Relationship Id="rId18" Type="http://schemas.openxmlformats.org/officeDocument/2006/relationships/image" Target="../media/image125.png"/><Relationship Id="rId26" Type="http://schemas.openxmlformats.org/officeDocument/2006/relationships/image" Target="../media/image129.png"/><Relationship Id="rId3" Type="http://schemas.openxmlformats.org/officeDocument/2006/relationships/image" Target="../media/image56.png"/><Relationship Id="rId21" Type="http://schemas.openxmlformats.org/officeDocument/2006/relationships/image" Target="../media/image85.png"/><Relationship Id="rId7" Type="http://schemas.openxmlformats.org/officeDocument/2006/relationships/image" Target="../media/image120.png"/><Relationship Id="rId12" Type="http://schemas.openxmlformats.org/officeDocument/2006/relationships/image" Target="../media/image48.png"/><Relationship Id="rId17" Type="http://schemas.openxmlformats.org/officeDocument/2006/relationships/image" Target="../media/image124.png"/><Relationship Id="rId25" Type="http://schemas.openxmlformats.org/officeDocument/2006/relationships/image" Target="../media/image12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58.png"/><Relationship Id="rId20" Type="http://schemas.openxmlformats.org/officeDocument/2006/relationships/image" Target="../media/image126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7.png"/><Relationship Id="rId11" Type="http://schemas.openxmlformats.org/officeDocument/2006/relationships/image" Target="../media/image123.png"/><Relationship Id="rId24" Type="http://schemas.openxmlformats.org/officeDocument/2006/relationships/image" Target="../media/image127.svg"/><Relationship Id="rId5" Type="http://schemas.openxmlformats.org/officeDocument/2006/relationships/image" Target="../media/image26.png"/><Relationship Id="rId15" Type="http://schemas.openxmlformats.org/officeDocument/2006/relationships/image" Target="../media/image44.svg"/><Relationship Id="rId23" Type="http://schemas.openxmlformats.org/officeDocument/2006/relationships/image" Target="../media/image61.png"/><Relationship Id="rId10" Type="http://schemas.openxmlformats.org/officeDocument/2006/relationships/image" Target="../media/image122.png"/><Relationship Id="rId19" Type="http://schemas.openxmlformats.org/officeDocument/2006/relationships/image" Target="../media/image55.png"/><Relationship Id="rId4" Type="http://schemas.openxmlformats.org/officeDocument/2006/relationships/image" Target="../media/image57.svg"/><Relationship Id="rId9" Type="http://schemas.openxmlformats.org/officeDocument/2006/relationships/image" Target="../media/image121.png"/><Relationship Id="rId14" Type="http://schemas.openxmlformats.org/officeDocument/2006/relationships/image" Target="../media/image43.png"/><Relationship Id="rId22" Type="http://schemas.openxmlformats.org/officeDocument/2006/relationships/image" Target="../media/image9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svg"/><Relationship Id="rId13" Type="http://schemas.openxmlformats.org/officeDocument/2006/relationships/image" Target="../media/image140.png"/><Relationship Id="rId18" Type="http://schemas.openxmlformats.org/officeDocument/2006/relationships/image" Target="../media/image145.sv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39.svg"/><Relationship Id="rId17" Type="http://schemas.openxmlformats.org/officeDocument/2006/relationships/image" Target="../media/image144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43.sv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33.svg"/><Relationship Id="rId11" Type="http://schemas.openxmlformats.org/officeDocument/2006/relationships/image" Target="../media/image138.png"/><Relationship Id="rId5" Type="http://schemas.openxmlformats.org/officeDocument/2006/relationships/image" Target="../media/image132.png"/><Relationship Id="rId15" Type="http://schemas.openxmlformats.org/officeDocument/2006/relationships/image" Target="../media/image142.png"/><Relationship Id="rId10" Type="http://schemas.openxmlformats.org/officeDocument/2006/relationships/image" Target="../media/image137.svg"/><Relationship Id="rId4" Type="http://schemas.openxmlformats.org/officeDocument/2006/relationships/image" Target="../media/image131.svg"/><Relationship Id="rId9" Type="http://schemas.openxmlformats.org/officeDocument/2006/relationships/image" Target="../media/image136.png"/><Relationship Id="rId14" Type="http://schemas.openxmlformats.org/officeDocument/2006/relationships/image" Target="../media/image141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A0B98-C2EB-C412-7375-DF812D3AFAA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1854199"/>
            <a:ext cx="9144000" cy="1655763"/>
          </a:xfrm>
        </p:spPr>
        <p:txBody>
          <a:bodyPr/>
          <a:lstStyle/>
          <a:p>
            <a:r>
              <a:rPr lang="it-IT" b="1" dirty="0"/>
              <a:t>SQL Server 2025 – Utilizzare l’AI con </a:t>
            </a:r>
            <a:r>
              <a:rPr lang="it-IT" b="1" dirty="0" err="1"/>
              <a:t>Ollama</a:t>
            </a:r>
            <a:endParaRPr lang="it-IT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AD3465-2EDC-CB8F-867D-A1009A12286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3200" dirty="0"/>
              <a:t>Danilo Dominici</a:t>
            </a:r>
          </a:p>
        </p:txBody>
      </p:sp>
    </p:spTree>
    <p:extLst>
      <p:ext uri="{BB962C8B-B14F-4D97-AF65-F5344CB8AC3E}">
        <p14:creationId xmlns:p14="http://schemas.microsoft.com/office/powerpoint/2010/main" val="3414663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5864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BD5256-5BBC-A7C7-4075-5CAC73357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Chi è Danilo Dominici</a:t>
            </a:r>
          </a:p>
        </p:txBody>
      </p:sp>
      <p:sp>
        <p:nvSpPr>
          <p:cNvPr id="16" name="Segnaposto testo 3">
            <a:extLst>
              <a:ext uri="{FF2B5EF4-FFF2-40B4-BE49-F238E27FC236}">
                <a16:creationId xmlns:a16="http://schemas.microsoft.com/office/drawing/2014/main" id="{895E0220-ABFB-761A-4730-FC0729219BBB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1012162" cy="1258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b="1" dirty="0">
                <a:latin typeface="Segoe Pro Display" panose="020B0502040504020203" pitchFamily="34" charset="0"/>
              </a:rPr>
              <a:t>Senior </a:t>
            </a:r>
            <a:r>
              <a:rPr lang="it-IT" b="1" dirty="0" err="1">
                <a:latin typeface="Segoe Pro Display" panose="020B0502040504020203" pitchFamily="34" charset="0"/>
              </a:rPr>
              <a:t>consultant</a:t>
            </a:r>
            <a:r>
              <a:rPr lang="it-IT" b="1" dirty="0">
                <a:latin typeface="Segoe Pro Display" panose="020B0502040504020203" pitchFamily="34" charset="0"/>
              </a:rPr>
              <a:t>, MCT, ex-MVP</a:t>
            </a:r>
            <a:br>
              <a:rPr lang="it-IT" dirty="0">
                <a:latin typeface="Segoe Pro Display" panose="020B0502040504020203" pitchFamily="34" charset="0"/>
              </a:rPr>
            </a:br>
            <a:r>
              <a:rPr lang="it-IT" dirty="0">
                <a:latin typeface="Segoe Pro Display" panose="020B0502040504020203" pitchFamily="34" charset="0"/>
              </a:rPr>
              <a:t>SQL Server, </a:t>
            </a:r>
            <a:r>
              <a:rPr lang="it-IT" dirty="0" err="1">
                <a:latin typeface="Segoe Pro Display" panose="020B0502040504020203" pitchFamily="34" charset="0"/>
              </a:rPr>
              <a:t>PostgreSQL</a:t>
            </a:r>
            <a:r>
              <a:rPr lang="it-IT" dirty="0">
                <a:latin typeface="Segoe Pro Display" panose="020B0502040504020203" pitchFamily="34" charset="0"/>
              </a:rPr>
              <a:t>, Power BI – Azure, AWS</a:t>
            </a:r>
          </a:p>
        </p:txBody>
      </p:sp>
      <p:pic>
        <p:nvPicPr>
          <p:cNvPr id="17" name="Picture Placeholder 1" descr="Immagine che contiene Viso umano, persona, Fronte, Mento&#10;&#10;Il contenuto generato dall&amp;#39;IA potrebbe non essere corretto.">
            <a:extLst>
              <a:ext uri="{FF2B5EF4-FFF2-40B4-BE49-F238E27FC236}">
                <a16:creationId xmlns:a16="http://schemas.microsoft.com/office/drawing/2014/main" id="{46C901E5-2D73-085C-7603-1FC1A65762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00" b="12500"/>
          <a:stretch/>
        </p:blipFill>
        <p:spPr>
          <a:xfrm>
            <a:off x="8905574" y="1792724"/>
            <a:ext cx="2129283" cy="2129283"/>
          </a:xfrm>
          <a:prstGeom prst="ellipse">
            <a:avLst/>
          </a:prstGeom>
          <a:solidFill>
            <a:prstClr val="white"/>
          </a:solidFill>
        </p:spPr>
      </p:pic>
      <p:pic>
        <p:nvPicPr>
          <p:cNvPr id="18" name="Immagine 8" descr="MVP_Logo_Horizontal_Blue286_RGB_300ppi.tif">
            <a:extLst>
              <a:ext uri="{FF2B5EF4-FFF2-40B4-BE49-F238E27FC236}">
                <a16:creationId xmlns:a16="http://schemas.microsoft.com/office/drawing/2014/main" id="{11A95597-A0F3-59C1-F50C-6CDE490812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6556" y="5650512"/>
            <a:ext cx="1552253" cy="663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magine 18" descr="Immagine che contiene testo, Carattere, logo, cerchio&#10;&#10;Descrizione generata automaticamente">
            <a:extLst>
              <a:ext uri="{FF2B5EF4-FFF2-40B4-BE49-F238E27FC236}">
                <a16:creationId xmlns:a16="http://schemas.microsoft.com/office/drawing/2014/main" id="{BEA19F54-0C71-4384-30F0-4A034F93D4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592" y="4275918"/>
            <a:ext cx="972180" cy="1020683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E600C10-D94E-9BE3-C8FF-C78541F0CBD4}"/>
              </a:ext>
            </a:extLst>
          </p:cNvPr>
          <p:cNvSpPr txBox="1"/>
          <p:nvPr/>
        </p:nvSpPr>
        <p:spPr>
          <a:xfrm>
            <a:off x="9632782" y="6323598"/>
            <a:ext cx="620363" cy="169277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it-IT" sz="1100" dirty="0"/>
              <a:t>2014-2020</a:t>
            </a:r>
          </a:p>
        </p:txBody>
      </p: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2B22EC1A-C67E-E61F-6337-F72EB1E79ED8}"/>
              </a:ext>
            </a:extLst>
          </p:cNvPr>
          <p:cNvGrpSpPr/>
          <p:nvPr/>
        </p:nvGrpSpPr>
        <p:grpSpPr>
          <a:xfrm>
            <a:off x="838200" y="2857365"/>
            <a:ext cx="6996403" cy="2067920"/>
            <a:chOff x="1093666" y="3099392"/>
            <a:chExt cx="6996403" cy="2067920"/>
          </a:xfrm>
        </p:grpSpPr>
        <p:pic>
          <p:nvPicPr>
            <p:cNvPr id="21" name="Elemento grafico 20">
              <a:extLst>
                <a:ext uri="{FF2B5EF4-FFF2-40B4-BE49-F238E27FC236}">
                  <a16:creationId xmlns:a16="http://schemas.microsoft.com/office/drawing/2014/main" id="{A3EB218C-8DB6-C8B0-C80C-DCAEC8336B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57143" y="4543999"/>
              <a:ext cx="569315" cy="569315"/>
            </a:xfrm>
            <a:prstGeom prst="rect">
              <a:avLst/>
            </a:prstGeom>
          </p:spPr>
        </p:pic>
        <p:sp>
          <p:nvSpPr>
            <p:cNvPr id="22" name="Segnaposto testo 3">
              <a:extLst>
                <a:ext uri="{FF2B5EF4-FFF2-40B4-BE49-F238E27FC236}">
                  <a16:creationId xmlns:a16="http://schemas.microsoft.com/office/drawing/2014/main" id="{A24DFBD8-12A4-947C-5C22-C52AF2697E3B}"/>
                </a:ext>
              </a:extLst>
            </p:cNvPr>
            <p:cNvSpPr txBox="1">
              <a:spLocks/>
            </p:cNvSpPr>
            <p:nvPr/>
          </p:nvSpPr>
          <p:spPr>
            <a:xfrm>
              <a:off x="1836947" y="3099392"/>
              <a:ext cx="6253122" cy="2067920"/>
            </a:xfrm>
            <a:prstGeom prst="rect">
              <a:avLst/>
            </a:prstGeom>
          </p:spPr>
          <p:txBody>
            <a:bodyPr vert="horz" lIns="0" tIns="91440" rIns="0" bIns="0" rtlCol="0" anchor="t" anchorCtr="0">
              <a:noAutofit/>
            </a:bodyPr>
            <a:lstStyle>
              <a:lvl1pPr marL="457114" indent="-457114" algn="l" defTabSz="914132" rtl="0" eaLnBrk="1" latinLnBrk="0" hangingPunct="1">
                <a:lnSpc>
                  <a:spcPct val="110000"/>
                </a:lnSpc>
                <a:spcBef>
                  <a:spcPts val="1200"/>
                </a:spcBef>
                <a:spcAft>
                  <a:spcPts val="600"/>
                </a:spcAft>
                <a:buClr>
                  <a:schemeClr val="bg1"/>
                </a:buClr>
                <a:buSzPct val="120000"/>
                <a:buFont typeface="+mj-lt"/>
                <a:buNone/>
                <a:tabLst>
                  <a:tab pos="1828800" algn="l"/>
                </a:tabLst>
                <a:defRPr lang="en-US" sz="3200" b="1" i="0" kern="1200" dirty="0">
                  <a:solidFill>
                    <a:schemeClr val="accent4"/>
                  </a:solidFill>
                  <a:effectLst/>
                  <a:latin typeface="Segoe UI Semibold" charset="0"/>
                  <a:ea typeface="Segoe UI Semibold" charset="0"/>
                  <a:cs typeface="Segoe UI Semibold" charset="0"/>
                </a:defRPr>
              </a:lvl1pPr>
              <a:lvl2pPr marL="0" indent="0" algn="l" defTabSz="914132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110000"/>
                <a:buFont typeface="Arial" charset="0"/>
                <a:buNone/>
                <a:defRPr lang="en-US" sz="2000" b="0" i="0" kern="1200" dirty="0" smtClean="0">
                  <a:solidFill>
                    <a:schemeClr val="tx1"/>
                  </a:solidFill>
                  <a:effectLst/>
                  <a:latin typeface="Segoe UI" charset="0"/>
                  <a:ea typeface="Segoe UI" charset="0"/>
                  <a:cs typeface="Segoe UI" charset="0"/>
                </a:defRPr>
              </a:lvl2pPr>
              <a:lvl3pPr marL="288925" indent="-222250" algn="l" defTabSz="914132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120000"/>
                <a:buFont typeface="Arial" charset="0"/>
                <a:buChar char="•"/>
                <a:defRPr lang="en-US" sz="1800" b="0" i="0" kern="1200" dirty="0" smtClean="0">
                  <a:solidFill>
                    <a:schemeClr val="tx1"/>
                  </a:solidFill>
                  <a:effectLst/>
                  <a:latin typeface="Segoe UI" charset="0"/>
                  <a:ea typeface="Segoe UI" charset="0"/>
                  <a:cs typeface="Segoe UI" charset="0"/>
                </a:defRPr>
              </a:lvl3pPr>
              <a:lvl4pPr marL="631825" indent="-182880" algn="l" defTabSz="914132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Arial" charset="0"/>
                <a:buChar char="•"/>
                <a:tabLst/>
                <a:defRPr lang="en-US" sz="1600" b="0" i="0" kern="1200" dirty="0" smtClean="0">
                  <a:solidFill>
                    <a:schemeClr val="tx1"/>
                  </a:solidFill>
                  <a:effectLst/>
                  <a:latin typeface="Segoe UI" charset="0"/>
                  <a:ea typeface="Segoe UI" charset="0"/>
                  <a:cs typeface="Segoe UI" charset="0"/>
                </a:defRPr>
              </a:lvl4pPr>
              <a:lvl5pPr marL="1254125" indent="-194310" algn="l" defTabSz="914132" rtl="0" eaLnBrk="1" latinLnBrk="0" hangingPunct="1">
                <a:lnSpc>
                  <a:spcPct val="100000"/>
                </a:lnSpc>
                <a:spcBef>
                  <a:spcPts val="500"/>
                </a:spcBef>
                <a:buClr>
                  <a:schemeClr val="bg2"/>
                </a:buClr>
                <a:buFont typeface="Arial"/>
                <a:buChar char="•"/>
                <a:defRPr lang="en-US" sz="1400" b="0" i="0" kern="1200" dirty="0">
                  <a:solidFill>
                    <a:schemeClr val="tx1"/>
                  </a:solidFill>
                  <a:effectLst/>
                  <a:latin typeface="Segoe UI" charset="0"/>
                  <a:ea typeface="Segoe UI" charset="0"/>
                  <a:cs typeface="Segoe UI" charset="0"/>
                </a:defRPr>
              </a:lvl5pPr>
              <a:lvl6pPr marL="1965221" indent="-228533" algn="l" defTabSz="914132" rtl="0" eaLnBrk="1" latinLnBrk="0" hangingPunct="1">
                <a:lnSpc>
                  <a:spcPct val="11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b="0" i="0" kern="1200">
                  <a:solidFill>
                    <a:schemeClr val="tx1"/>
                  </a:solidFill>
                  <a:latin typeface="Segoe UI" charset="0"/>
                  <a:ea typeface="Segoe UI" charset="0"/>
                  <a:cs typeface="Segoe UI" charset="0"/>
                </a:defRPr>
              </a:lvl6pPr>
              <a:lvl7pPr marL="2970926" indent="-228533" algn="l" defTabSz="914132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92" indent="-228533" algn="l" defTabSz="914132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57" indent="-228533" algn="l" defTabSz="914132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it-IT" sz="2800" b="0" dirty="0" err="1">
                  <a:solidFill>
                    <a:schemeClr val="tx1"/>
                  </a:solidFill>
                </a:rPr>
                <a:t>ddominici@sqlserverinfo.it</a:t>
              </a:r>
              <a:endParaRPr lang="it-IT" sz="2800" b="0" dirty="0">
                <a:solidFill>
                  <a:schemeClr val="tx1"/>
                </a:solidFill>
              </a:endParaRPr>
            </a:p>
            <a:p>
              <a:r>
                <a:rPr lang="it-IT" sz="2800" b="0" dirty="0" err="1">
                  <a:solidFill>
                    <a:schemeClr val="tx1"/>
                  </a:solidFill>
                </a:rPr>
                <a:t>linkedin.com</a:t>
              </a:r>
              <a:r>
                <a:rPr lang="it-IT" sz="2800" b="0" dirty="0">
                  <a:solidFill>
                    <a:schemeClr val="tx1"/>
                  </a:solidFill>
                </a:rPr>
                <a:t>/in/</a:t>
              </a:r>
              <a:r>
                <a:rPr lang="it-IT" sz="2800" b="0" dirty="0" err="1">
                  <a:solidFill>
                    <a:schemeClr val="tx1"/>
                  </a:solidFill>
                </a:rPr>
                <a:t>danilodominici</a:t>
              </a:r>
              <a:endParaRPr lang="it-IT" sz="2800" b="0" dirty="0">
                <a:solidFill>
                  <a:schemeClr val="tx1"/>
                </a:solidFill>
              </a:endParaRPr>
            </a:p>
            <a:p>
              <a:r>
                <a:rPr lang="it-IT" sz="2800" b="0" dirty="0" err="1">
                  <a:solidFill>
                    <a:schemeClr val="tx1"/>
                  </a:solidFill>
                </a:rPr>
                <a:t>github.com</a:t>
              </a:r>
              <a:r>
                <a:rPr lang="it-IT" sz="2800" b="0" dirty="0">
                  <a:solidFill>
                    <a:schemeClr val="tx1"/>
                  </a:solidFill>
                </a:rPr>
                <a:t>/</a:t>
              </a:r>
              <a:r>
                <a:rPr lang="it-IT" sz="2800" b="0" dirty="0" err="1">
                  <a:solidFill>
                    <a:schemeClr val="tx1"/>
                  </a:solidFill>
                </a:rPr>
                <a:t>ddominici</a:t>
              </a:r>
              <a:r>
                <a:rPr lang="it-IT" sz="2800" b="0" dirty="0">
                  <a:solidFill>
                    <a:schemeClr val="tx1"/>
                  </a:solidFill>
                </a:rPr>
                <a:t>/</a:t>
              </a:r>
              <a:r>
                <a:rPr lang="it-IT" sz="2800" b="0" dirty="0" err="1">
                  <a:solidFill>
                    <a:schemeClr val="tx1"/>
                  </a:solidFill>
                </a:rPr>
                <a:t>presentations</a:t>
              </a:r>
              <a:endParaRPr lang="it-IT" sz="2800" b="0" dirty="0">
                <a:solidFill>
                  <a:schemeClr val="tx1"/>
                </a:solidFill>
              </a:endParaRPr>
            </a:p>
          </p:txBody>
        </p:sp>
        <p:pic>
          <p:nvPicPr>
            <p:cNvPr id="23" name="Elemento grafico 22">
              <a:extLst>
                <a:ext uri="{FF2B5EF4-FFF2-40B4-BE49-F238E27FC236}">
                  <a16:creationId xmlns:a16="http://schemas.microsoft.com/office/drawing/2014/main" id="{74B3A2BF-5014-9EAF-892B-AE2AD1708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93666" y="3824339"/>
              <a:ext cx="696267" cy="696267"/>
            </a:xfrm>
            <a:prstGeom prst="rect">
              <a:avLst/>
            </a:prstGeom>
          </p:spPr>
        </p:pic>
        <p:pic>
          <p:nvPicPr>
            <p:cNvPr id="24" name="Elemento grafico 23">
              <a:extLst>
                <a:ext uri="{FF2B5EF4-FFF2-40B4-BE49-F238E27FC236}">
                  <a16:creationId xmlns:a16="http://schemas.microsoft.com/office/drawing/2014/main" id="{BB3F0C8A-3B96-B2C7-0F75-5F7A912A2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57143" y="3150935"/>
              <a:ext cx="579304" cy="579304"/>
            </a:xfrm>
            <a:prstGeom prst="rect">
              <a:avLst/>
            </a:prstGeom>
          </p:spPr>
        </p:pic>
      </p:grp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33C7F40F-F8DE-F8E8-7399-66630EB6240F}"/>
              </a:ext>
            </a:extLst>
          </p:cNvPr>
          <p:cNvSpPr txBox="1"/>
          <p:nvPr/>
        </p:nvSpPr>
        <p:spPr>
          <a:xfrm>
            <a:off x="9823907" y="5330712"/>
            <a:ext cx="423193" cy="169277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it-IT" sz="1100" dirty="0"/>
              <a:t>25 anni</a:t>
            </a:r>
          </a:p>
        </p:txBody>
      </p:sp>
    </p:spTree>
    <p:extLst>
      <p:ext uri="{BB962C8B-B14F-4D97-AF65-F5344CB8AC3E}">
        <p14:creationId xmlns:p14="http://schemas.microsoft.com/office/powerpoint/2010/main" val="4230546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3707D-4D48-D98E-F921-DE984551170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87375" y="457200"/>
            <a:ext cx="11017250" cy="554038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SQL Server 2025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BBC918-C8F6-F5AC-A373-D994F55DE90F}"/>
              </a:ext>
            </a:extLst>
          </p:cNvPr>
          <p:cNvSpPr txBox="1"/>
          <p:nvPr/>
        </p:nvSpPr>
        <p:spPr>
          <a:xfrm>
            <a:off x="1948145" y="997206"/>
            <a:ext cx="8136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290101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spc="-50">
                <a:ln w="3175">
                  <a:noFill/>
                </a:ln>
                <a:gradFill flip="none" rotWithShape="1">
                  <a:gsLst>
                    <a:gs pos="0">
                      <a:srgbClr val="73262F"/>
                    </a:gs>
                    <a:gs pos="80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Variable Display Semibold" pitchFamily="2" charset="0"/>
                <a:cs typeface="Segoe UI" pitchFamily="34" charset="0"/>
              </a:rPr>
              <a:t>The AI-ready enterprise database from ground to cloud</a:t>
            </a:r>
          </a:p>
        </p:txBody>
      </p:sp>
      <p:sp>
        <p:nvSpPr>
          <p:cNvPr id="20" name="Rectangle: Rounded Corners 135">
            <a:extLst>
              <a:ext uri="{FF2B5EF4-FFF2-40B4-BE49-F238E27FC236}">
                <a16:creationId xmlns:a16="http://schemas.microsoft.com/office/drawing/2014/main" id="{D047D07E-E6B0-FFB3-D774-C8E8A696F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1640412" y="1579156"/>
            <a:ext cx="2386800" cy="1916008"/>
          </a:xfrm>
          <a:prstGeom prst="roundRect">
            <a:avLst>
              <a:gd name="adj" fmla="val 9199"/>
            </a:avLst>
          </a:prstGeom>
          <a:noFill/>
          <a:ln w="12700" cap="rnd">
            <a:solidFill>
              <a:srgbClr val="000000">
                <a:alpha val="50000"/>
              </a:srgb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3" name="Picture 12" descr="OpenAI begins publicly tracking AI model efficiency | VentureBeat">
            <a:extLst>
              <a:ext uri="{FF2B5EF4-FFF2-40B4-BE49-F238E27FC236}">
                <a16:creationId xmlns:a16="http://schemas.microsoft.com/office/drawing/2014/main" id="{AE3FE67B-90D0-3223-4BAB-DD7FA6319E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35" r="34335" b="40681"/>
          <a:stretch/>
        </p:blipFill>
        <p:spPr bwMode="auto">
          <a:xfrm>
            <a:off x="2952920" y="1822475"/>
            <a:ext cx="427772" cy="40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0" descr="Llama icon">
            <a:extLst>
              <a:ext uri="{FF2B5EF4-FFF2-40B4-BE49-F238E27FC236}">
                <a16:creationId xmlns:a16="http://schemas.microsoft.com/office/drawing/2014/main" id="{6B9ED9B7-4506-1A36-CBD1-29B083C0E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7222" y="2321488"/>
            <a:ext cx="909179" cy="47731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F9C0A363-2595-FD99-ADD6-5D98389FE546}"/>
              </a:ext>
            </a:extLst>
          </p:cNvPr>
          <p:cNvSpPr txBox="1"/>
          <p:nvPr/>
        </p:nvSpPr>
        <p:spPr>
          <a:xfrm>
            <a:off x="2373365" y="2981098"/>
            <a:ext cx="92089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AI built-in</a:t>
            </a:r>
          </a:p>
        </p:txBody>
      </p:sp>
      <p:sp>
        <p:nvSpPr>
          <p:cNvPr id="21" name="Rectangle: Rounded Corners 135">
            <a:extLst>
              <a:ext uri="{FF2B5EF4-FFF2-40B4-BE49-F238E27FC236}">
                <a16:creationId xmlns:a16="http://schemas.microsoft.com/office/drawing/2014/main" id="{15A9267F-96D4-232F-85AC-D07FA8CF3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164961" y="1579156"/>
            <a:ext cx="2386627" cy="1920240"/>
          </a:xfrm>
          <a:prstGeom prst="roundRect">
            <a:avLst>
              <a:gd name="adj" fmla="val 9137"/>
            </a:avLst>
          </a:prstGeom>
          <a:noFill/>
          <a:ln w="12700" cap="rnd">
            <a:solidFill>
              <a:srgbClr val="000000">
                <a:alpha val="50000"/>
              </a:srgb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68" name="Picture 67" descr="Icon&#10;&#10;Description automatically generated">
            <a:extLst>
              <a:ext uri="{FF2B5EF4-FFF2-40B4-BE49-F238E27FC236}">
                <a16:creationId xmlns:a16="http://schemas.microsoft.com/office/drawing/2014/main" id="{BE8B4D96-F3AD-A281-740A-45277FC295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675" y="1850230"/>
            <a:ext cx="423570" cy="423570"/>
          </a:xfrm>
          <a:prstGeom prst="rect">
            <a:avLst/>
          </a:prstGeom>
        </p:spPr>
      </p:pic>
      <p:pic>
        <p:nvPicPr>
          <p:cNvPr id="4" name="Picture 3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2AFFBBE3-5664-0311-DD78-0742922F93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9353" y="2387654"/>
            <a:ext cx="419100" cy="419100"/>
          </a:xfrm>
          <a:prstGeom prst="rect">
            <a:avLst/>
          </a:prstGeom>
        </p:spPr>
      </p:pic>
      <p:pic>
        <p:nvPicPr>
          <p:cNvPr id="69" name="Picture 68" descr="Logo, company name&#10;&#10;Description automatically generated">
            <a:extLst>
              <a:ext uri="{FF2B5EF4-FFF2-40B4-BE49-F238E27FC236}">
                <a16:creationId xmlns:a16="http://schemas.microsoft.com/office/drawing/2014/main" id="{B70E7E3D-AFF7-FF40-81C4-07E54D2080E1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916" r="-7916"/>
          <a:stretch/>
        </p:blipFill>
        <p:spPr>
          <a:xfrm>
            <a:off x="9201948" y="2444306"/>
            <a:ext cx="401025" cy="346891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34526E7B-2DBC-E6C2-291F-E1C9D9C4D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7916" r="-7916"/>
          <a:stretch/>
        </p:blipFill>
        <p:spPr>
          <a:xfrm>
            <a:off x="9674548" y="2393450"/>
            <a:ext cx="519624" cy="448602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DCD3761B-1721-2BB1-854C-7DDB267D5DD6}"/>
              </a:ext>
            </a:extLst>
          </p:cNvPr>
          <p:cNvSpPr txBox="1"/>
          <p:nvPr/>
        </p:nvSpPr>
        <p:spPr>
          <a:xfrm>
            <a:off x="8461746" y="2928859"/>
            <a:ext cx="1793056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Integrate your data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with Fabric</a:t>
            </a:r>
          </a:p>
        </p:txBody>
      </p:sp>
      <p:sp>
        <p:nvSpPr>
          <p:cNvPr id="22" name="Rectangle: Rounded Corners 135">
            <a:extLst>
              <a:ext uri="{FF2B5EF4-FFF2-40B4-BE49-F238E27FC236}">
                <a16:creationId xmlns:a16="http://schemas.microsoft.com/office/drawing/2014/main" id="{EDFCBFFA-6840-BDB0-F27E-EF69F074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902600" y="1579156"/>
            <a:ext cx="2386800" cy="1916008"/>
          </a:xfrm>
          <a:prstGeom prst="roundRect">
            <a:avLst>
              <a:gd name="adj" fmla="val 9199"/>
            </a:avLst>
          </a:prstGeom>
          <a:noFill/>
          <a:ln w="12700" cap="rnd">
            <a:solidFill>
              <a:srgbClr val="000000">
                <a:alpha val="50000"/>
              </a:srgb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76" name="Picture 12" descr="json Vector Icons free download in SVG, PNG Format">
            <a:extLst>
              <a:ext uri="{FF2B5EF4-FFF2-40B4-BE49-F238E27FC236}">
                <a16:creationId xmlns:a16="http://schemas.microsoft.com/office/drawing/2014/main" id="{75980C16-2DD3-3203-143F-4697C4862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0058" y="1863116"/>
            <a:ext cx="376219" cy="376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9EB23CF4-2D77-BB0F-5371-153A99CAC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2410" y="1859817"/>
            <a:ext cx="382817" cy="382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2" name="Group 71" descr="Document and SQL database graphic encased in brackets">
            <a:extLst>
              <a:ext uri="{FF2B5EF4-FFF2-40B4-BE49-F238E27FC236}">
                <a16:creationId xmlns:a16="http://schemas.microsoft.com/office/drawing/2014/main" id="{5FF02DF7-085D-60B9-3530-4B2AEBEDEFF1}"/>
              </a:ext>
            </a:extLst>
          </p:cNvPr>
          <p:cNvGrpSpPr>
            <a:grpSpLocks noChangeAspect="1"/>
          </p:cNvGrpSpPr>
          <p:nvPr/>
        </p:nvGrpSpPr>
        <p:grpSpPr>
          <a:xfrm>
            <a:off x="6579245" y="1859817"/>
            <a:ext cx="382817" cy="382817"/>
            <a:chOff x="9535761" y="257664"/>
            <a:chExt cx="2275237" cy="2275237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99E64072-402D-73E2-DF02-A966452EC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535761" y="257664"/>
              <a:ext cx="2275237" cy="2275237"/>
            </a:xfrm>
            <a:prstGeom prst="rect">
              <a:avLst/>
            </a:prstGeom>
          </p:spPr>
        </p:pic>
        <p:pic>
          <p:nvPicPr>
            <p:cNvPr id="74" name="Graphic 90">
              <a:extLst>
                <a:ext uri="{FF2B5EF4-FFF2-40B4-BE49-F238E27FC236}">
                  <a16:creationId xmlns:a16="http://schemas.microsoft.com/office/drawing/2014/main" id="{F28FA9EE-2D7B-72D4-E387-6ACB4AD6D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258062" y="1492854"/>
              <a:ext cx="830632" cy="790708"/>
            </a:xfrm>
            <a:prstGeom prst="rect">
              <a:avLst/>
            </a:prstGeom>
          </p:spPr>
        </p:pic>
        <p:pic>
          <p:nvPicPr>
            <p:cNvPr id="75" name="Graphic 74" descr="Document outline">
              <a:extLst>
                <a:ext uri="{FF2B5EF4-FFF2-40B4-BE49-F238E27FC236}">
                  <a16:creationId xmlns:a16="http://schemas.microsoft.com/office/drawing/2014/main" id="{9B948342-BA6B-0318-A403-A915E1EB1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10276883" y="511759"/>
              <a:ext cx="792997" cy="792997"/>
            </a:xfrm>
            <a:prstGeom prst="rect">
              <a:avLst/>
            </a:prstGeom>
          </p:spPr>
        </p:pic>
      </p:grpSp>
      <p:pic>
        <p:nvPicPr>
          <p:cNvPr id="1026" name="Picture 2" descr="The Data School - Regular Expressions (Regex) for complete beginners">
            <a:extLst>
              <a:ext uri="{FF2B5EF4-FFF2-40B4-BE49-F238E27FC236}">
                <a16:creationId xmlns:a16="http://schemas.microsoft.com/office/drawing/2014/main" id="{98BE7BF2-A0FC-AA0F-0BBC-7EE43F594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443" y="2412200"/>
            <a:ext cx="348429" cy="348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E32A72-6F92-8637-3A2C-A9BB6C0E3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6335348" y="2412200"/>
            <a:ext cx="348429" cy="348429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6E4626C1-5FD6-40AB-9A7E-9D9AF8BD4248}"/>
              </a:ext>
            </a:extLst>
          </p:cNvPr>
          <p:cNvSpPr txBox="1"/>
          <p:nvPr/>
        </p:nvSpPr>
        <p:spPr>
          <a:xfrm>
            <a:off x="5106071" y="2918069"/>
            <a:ext cx="197985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Develop modern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data applications</a:t>
            </a:r>
          </a:p>
        </p:txBody>
      </p:sp>
      <p:sp>
        <p:nvSpPr>
          <p:cNvPr id="23" name="Rectangle: Rounded Corners 135">
            <a:extLst>
              <a:ext uri="{FF2B5EF4-FFF2-40B4-BE49-F238E27FC236}">
                <a16:creationId xmlns:a16="http://schemas.microsoft.com/office/drawing/2014/main" id="{9864E0B9-6AC2-834F-8297-334E66EC1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3406" y="3633247"/>
            <a:ext cx="4419600" cy="1168131"/>
          </a:xfrm>
          <a:prstGeom prst="roundRect">
            <a:avLst>
              <a:gd name="adj" fmla="val 14503"/>
            </a:avLst>
          </a:prstGeom>
          <a:noFill/>
          <a:ln w="12700" cap="rnd">
            <a:solidFill>
              <a:srgbClr val="000000">
                <a:alpha val="50000"/>
              </a:srgb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86" name="Graphic 85">
            <a:extLst>
              <a:ext uri="{FF2B5EF4-FFF2-40B4-BE49-F238E27FC236}">
                <a16:creationId xmlns:a16="http://schemas.microsoft.com/office/drawing/2014/main" id="{3B2D4CB0-97FB-9A2F-21D9-0D35F8AC3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556784" y="3771866"/>
            <a:ext cx="500502" cy="500502"/>
          </a:xfrm>
          <a:prstGeom prst="rect">
            <a:avLst/>
          </a:prstGeom>
        </p:spPr>
      </p:pic>
      <p:pic>
        <p:nvPicPr>
          <p:cNvPr id="94" name="Graphic 93">
            <a:extLst>
              <a:ext uri="{FF2B5EF4-FFF2-40B4-BE49-F238E27FC236}">
                <a16:creationId xmlns:a16="http://schemas.microsoft.com/office/drawing/2014/main" id="{15F001DF-C348-42D2-A92B-1279C35D8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545613" y="3771866"/>
            <a:ext cx="500503" cy="500503"/>
          </a:xfrm>
          <a:prstGeom prst="rect">
            <a:avLst/>
          </a:prstGeom>
        </p:spPr>
      </p:pic>
      <p:pic>
        <p:nvPicPr>
          <p:cNvPr id="96" name="Picture 4" descr="Shield">
            <a:extLst>
              <a:ext uri="{FF2B5EF4-FFF2-40B4-BE49-F238E27FC236}">
                <a16:creationId xmlns:a16="http://schemas.microsoft.com/office/drawing/2014/main" id="{338CCCB7-077D-4E05-9B45-E00662018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090" y="3746906"/>
            <a:ext cx="825634" cy="550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407C3CF7-A1E1-139E-CD81-7F7308F4D2AE}"/>
              </a:ext>
            </a:extLst>
          </p:cNvPr>
          <p:cNvSpPr txBox="1"/>
          <p:nvPr/>
        </p:nvSpPr>
        <p:spPr>
          <a:xfrm>
            <a:off x="1952130" y="4409777"/>
            <a:ext cx="1617239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Secure by default</a:t>
            </a:r>
          </a:p>
        </p:txBody>
      </p:sp>
      <p:sp>
        <p:nvSpPr>
          <p:cNvPr id="24" name="Rectangle: Rounded Corners 135">
            <a:extLst>
              <a:ext uri="{FF2B5EF4-FFF2-40B4-BE49-F238E27FC236}">
                <a16:creationId xmlns:a16="http://schemas.microsoft.com/office/drawing/2014/main" id="{7FFDDE8E-F6B3-EEAD-460B-7761F746B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7188994" y="3633247"/>
            <a:ext cx="4419600" cy="1168131"/>
          </a:xfrm>
          <a:prstGeom prst="roundRect">
            <a:avLst>
              <a:gd name="adj" fmla="val 14778"/>
            </a:avLst>
          </a:prstGeom>
          <a:noFill/>
          <a:ln w="12700" cap="rnd">
            <a:solidFill>
              <a:srgbClr val="000000">
                <a:alpha val="50000"/>
              </a:srgb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CAAD9C05-5A94-9234-BA0C-1D405BE1D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179708" y="3851972"/>
            <a:ext cx="369338" cy="340291"/>
            <a:chOff x="697152" y="3560279"/>
            <a:chExt cx="430538" cy="406298"/>
          </a:xfrm>
        </p:grpSpPr>
        <p:sp>
          <p:nvSpPr>
            <p:cNvPr id="1024" name="Freeform 6">
              <a:extLst>
                <a:ext uri="{FF2B5EF4-FFF2-40B4-BE49-F238E27FC236}">
                  <a16:creationId xmlns:a16="http://schemas.microsoft.com/office/drawing/2014/main" id="{E18D17EB-380F-DF46-82C4-C4F9940657AA}"/>
                </a:ext>
              </a:extLst>
            </p:cNvPr>
            <p:cNvSpPr>
              <a:spLocks/>
            </p:cNvSpPr>
            <p:nvPr/>
          </p:nvSpPr>
          <p:spPr bwMode="auto">
            <a:xfrm rot="2171515">
              <a:off x="834819" y="3791198"/>
              <a:ext cx="190155" cy="175379"/>
            </a:xfrm>
            <a:custGeom>
              <a:avLst/>
              <a:gdLst>
                <a:gd name="T0" fmla="*/ 0 w 147"/>
                <a:gd name="T1" fmla="*/ 125 h 129"/>
                <a:gd name="T2" fmla="*/ 32 w 147"/>
                <a:gd name="T3" fmla="*/ 129 h 129"/>
                <a:gd name="T4" fmla="*/ 147 w 147"/>
                <a:gd name="T5" fmla="*/ 14 h 129"/>
                <a:gd name="T6" fmla="*/ 146 w 147"/>
                <a:gd name="T7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7" h="129">
                  <a:moveTo>
                    <a:pt x="0" y="125"/>
                  </a:moveTo>
                  <a:cubicBezTo>
                    <a:pt x="10" y="127"/>
                    <a:pt x="21" y="129"/>
                    <a:pt x="32" y="129"/>
                  </a:cubicBezTo>
                  <a:cubicBezTo>
                    <a:pt x="96" y="129"/>
                    <a:pt x="147" y="77"/>
                    <a:pt x="147" y="14"/>
                  </a:cubicBezTo>
                  <a:cubicBezTo>
                    <a:pt x="147" y="9"/>
                    <a:pt x="147" y="4"/>
                    <a:pt x="146" y="0"/>
                  </a:cubicBezTo>
                </a:path>
              </a:pathLst>
            </a:custGeom>
            <a:noFill/>
            <a:ln w="19050" cap="flat"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  <a:headEnd type="triangle"/>
              <a:tailEnd type="non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27" tIns="45713" rIns="91427" bIns="4571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2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025" name="Freeform 5">
              <a:extLst>
                <a:ext uri="{FF2B5EF4-FFF2-40B4-BE49-F238E27FC236}">
                  <a16:creationId xmlns:a16="http://schemas.microsoft.com/office/drawing/2014/main" id="{5BA498A9-7DD5-EF56-CBF2-808A54AD9D33}"/>
                </a:ext>
              </a:extLst>
            </p:cNvPr>
            <p:cNvSpPr>
              <a:spLocks/>
            </p:cNvSpPr>
            <p:nvPr/>
          </p:nvSpPr>
          <p:spPr bwMode="auto">
            <a:xfrm rot="2978489">
              <a:off x="841712" y="3563270"/>
              <a:ext cx="176369" cy="170388"/>
            </a:xfrm>
            <a:custGeom>
              <a:avLst/>
              <a:gdLst>
                <a:gd name="T0" fmla="*/ 1 w 130"/>
                <a:gd name="T1" fmla="*/ 132 h 132"/>
                <a:gd name="T2" fmla="*/ 0 w 130"/>
                <a:gd name="T3" fmla="*/ 115 h 132"/>
                <a:gd name="T4" fmla="*/ 115 w 130"/>
                <a:gd name="T5" fmla="*/ 0 h 132"/>
                <a:gd name="T6" fmla="*/ 130 w 130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0" h="132">
                  <a:moveTo>
                    <a:pt x="1" y="132"/>
                  </a:moveTo>
                  <a:cubicBezTo>
                    <a:pt x="1" y="126"/>
                    <a:pt x="0" y="120"/>
                    <a:pt x="0" y="115"/>
                  </a:cubicBezTo>
                  <a:cubicBezTo>
                    <a:pt x="0" y="51"/>
                    <a:pt x="51" y="0"/>
                    <a:pt x="115" y="0"/>
                  </a:cubicBezTo>
                  <a:cubicBezTo>
                    <a:pt x="121" y="0"/>
                    <a:pt x="126" y="0"/>
                    <a:pt x="130" y="0"/>
                  </a:cubicBezTo>
                </a:path>
              </a:pathLst>
            </a:custGeom>
            <a:noFill/>
            <a:ln w="19050" cap="flat"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5400000" scaled="1"/>
              </a:gradFill>
              <a:prstDash val="solid"/>
              <a:miter lim="800000"/>
              <a:headEnd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27" tIns="45713" rIns="91427" bIns="45713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2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027" name="Freeform 182">
              <a:extLst>
                <a:ext uri="{FF2B5EF4-FFF2-40B4-BE49-F238E27FC236}">
                  <a16:creationId xmlns:a16="http://schemas.microsoft.com/office/drawing/2014/main" id="{6FDE473E-3BAA-CC7E-E347-FA3598A3EAD3}"/>
                </a:ext>
              </a:extLst>
            </p:cNvPr>
            <p:cNvSpPr/>
            <p:nvPr/>
          </p:nvSpPr>
          <p:spPr bwMode="auto">
            <a:xfrm>
              <a:off x="697152" y="3668938"/>
              <a:ext cx="134620" cy="181732"/>
            </a:xfrm>
            <a:custGeom>
              <a:avLst/>
              <a:gdLst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033050 h 1866625"/>
                <a:gd name="connsiteX13" fmla="*/ 1434352 w 1455401"/>
                <a:gd name="connsiteY13" fmla="*/ 1143359 h 1866625"/>
                <a:gd name="connsiteX14" fmla="*/ 1439768 w 1455401"/>
                <a:gd name="connsiteY14" fmla="*/ 1140834 h 1866625"/>
                <a:gd name="connsiteX15" fmla="*/ 1455401 w 1455401"/>
                <a:gd name="connsiteY15" fmla="*/ 1127732 h 1866625"/>
                <a:gd name="connsiteX16" fmla="*/ 1455401 w 1455401"/>
                <a:gd name="connsiteY16" fmla="*/ 1569784 h 1866625"/>
                <a:gd name="connsiteX17" fmla="*/ 1455401 w 1455401"/>
                <a:gd name="connsiteY17" fmla="*/ 1569787 h 1866625"/>
                <a:gd name="connsiteX18" fmla="*/ 1455401 w 1455401"/>
                <a:gd name="connsiteY18" fmla="*/ 1569790 h 1866625"/>
                <a:gd name="connsiteX19" fmla="*/ 1455401 w 1455401"/>
                <a:gd name="connsiteY19" fmla="*/ 1578767 h 1866625"/>
                <a:gd name="connsiteX20" fmla="*/ 1454289 w 1455401"/>
                <a:gd name="connsiteY20" fmla="*/ 1578767 h 1866625"/>
                <a:gd name="connsiteX21" fmla="*/ 1451644 w 1455401"/>
                <a:gd name="connsiteY21" fmla="*/ 1600137 h 1866625"/>
                <a:gd name="connsiteX22" fmla="*/ 727701 w 1455401"/>
                <a:gd name="connsiteY22" fmla="*/ 1866625 h 1866625"/>
                <a:gd name="connsiteX23" fmla="*/ 3758 w 1455401"/>
                <a:gd name="connsiteY23" fmla="*/ 1600137 h 1866625"/>
                <a:gd name="connsiteX24" fmla="*/ 1113 w 1455401"/>
                <a:gd name="connsiteY24" fmla="*/ 1578767 h 1866625"/>
                <a:gd name="connsiteX25" fmla="*/ 1 w 1455401"/>
                <a:gd name="connsiteY25" fmla="*/ 1578767 h 1866625"/>
                <a:gd name="connsiteX26" fmla="*/ 1 w 1455401"/>
                <a:gd name="connsiteY26" fmla="*/ 1569787 h 1866625"/>
                <a:gd name="connsiteX27" fmla="*/ 1 w 1455401"/>
                <a:gd name="connsiteY27" fmla="*/ 1127733 h 1866625"/>
                <a:gd name="connsiteX28" fmla="*/ 15633 w 1455401"/>
                <a:gd name="connsiteY28" fmla="*/ 1140834 h 1866625"/>
                <a:gd name="connsiteX29" fmla="*/ 21049 w 1455401"/>
                <a:gd name="connsiteY29" fmla="*/ 1143359 h 1866625"/>
                <a:gd name="connsiteX30" fmla="*/ 21049 w 1455401"/>
                <a:gd name="connsiteY30" fmla="*/ 1033051 h 1866625"/>
                <a:gd name="connsiteX31" fmla="*/ 15633 w 1455401"/>
                <a:gd name="connsiteY31" fmla="*/ 1030526 h 1866625"/>
                <a:gd name="connsiteX32" fmla="*/ 0 w 1455401"/>
                <a:gd name="connsiteY32" fmla="*/ 1017423 h 1866625"/>
                <a:gd name="connsiteX33" fmla="*/ 1 w 1455401"/>
                <a:gd name="connsiteY33" fmla="*/ 296841 h 1866625"/>
                <a:gd name="connsiteX34" fmla="*/ 0 w 1455401"/>
                <a:gd name="connsiteY34" fmla="*/ 296838 h 1866625"/>
                <a:gd name="connsiteX35" fmla="*/ 1 w 1455401"/>
                <a:gd name="connsiteY35" fmla="*/ 296835 h 1866625"/>
                <a:gd name="connsiteX36" fmla="*/ 3758 w 1455401"/>
                <a:gd name="connsiteY36" fmla="*/ 266488 h 1866625"/>
                <a:gd name="connsiteX37" fmla="*/ 727700 w 1455401"/>
                <a:gd name="connsiteY37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033050 h 1866625"/>
                <a:gd name="connsiteX13" fmla="*/ 1434352 w 1455401"/>
                <a:gd name="connsiteY13" fmla="*/ 1143359 h 1866625"/>
                <a:gd name="connsiteX14" fmla="*/ 1439768 w 1455401"/>
                <a:gd name="connsiteY14" fmla="*/ 1140834 h 1866625"/>
                <a:gd name="connsiteX15" fmla="*/ 1455401 w 1455401"/>
                <a:gd name="connsiteY15" fmla="*/ 1127732 h 1866625"/>
                <a:gd name="connsiteX16" fmla="*/ 1455401 w 1455401"/>
                <a:gd name="connsiteY16" fmla="*/ 1569784 h 1866625"/>
                <a:gd name="connsiteX17" fmla="*/ 1455401 w 1455401"/>
                <a:gd name="connsiteY17" fmla="*/ 1569787 h 1866625"/>
                <a:gd name="connsiteX18" fmla="*/ 1455401 w 1455401"/>
                <a:gd name="connsiteY18" fmla="*/ 1569790 h 1866625"/>
                <a:gd name="connsiteX19" fmla="*/ 1455401 w 1455401"/>
                <a:gd name="connsiteY19" fmla="*/ 1578767 h 1866625"/>
                <a:gd name="connsiteX20" fmla="*/ 1454289 w 1455401"/>
                <a:gd name="connsiteY20" fmla="*/ 1578767 h 1866625"/>
                <a:gd name="connsiteX21" fmla="*/ 1451644 w 1455401"/>
                <a:gd name="connsiteY21" fmla="*/ 1600137 h 1866625"/>
                <a:gd name="connsiteX22" fmla="*/ 727701 w 1455401"/>
                <a:gd name="connsiteY22" fmla="*/ 1866625 h 1866625"/>
                <a:gd name="connsiteX23" fmla="*/ 3758 w 1455401"/>
                <a:gd name="connsiteY23" fmla="*/ 1600137 h 1866625"/>
                <a:gd name="connsiteX24" fmla="*/ 1113 w 1455401"/>
                <a:gd name="connsiteY24" fmla="*/ 1578767 h 1866625"/>
                <a:gd name="connsiteX25" fmla="*/ 1 w 1455401"/>
                <a:gd name="connsiteY25" fmla="*/ 1578767 h 1866625"/>
                <a:gd name="connsiteX26" fmla="*/ 1 w 1455401"/>
                <a:gd name="connsiteY26" fmla="*/ 1569787 h 1866625"/>
                <a:gd name="connsiteX27" fmla="*/ 1 w 1455401"/>
                <a:gd name="connsiteY27" fmla="*/ 1127733 h 1866625"/>
                <a:gd name="connsiteX28" fmla="*/ 15633 w 1455401"/>
                <a:gd name="connsiteY28" fmla="*/ 1140834 h 1866625"/>
                <a:gd name="connsiteX29" fmla="*/ 21049 w 1455401"/>
                <a:gd name="connsiteY29" fmla="*/ 1033051 h 1866625"/>
                <a:gd name="connsiteX30" fmla="*/ 15633 w 1455401"/>
                <a:gd name="connsiteY30" fmla="*/ 1030526 h 1866625"/>
                <a:gd name="connsiteX31" fmla="*/ 0 w 1455401"/>
                <a:gd name="connsiteY31" fmla="*/ 1017423 h 1866625"/>
                <a:gd name="connsiteX32" fmla="*/ 1 w 1455401"/>
                <a:gd name="connsiteY32" fmla="*/ 296841 h 1866625"/>
                <a:gd name="connsiteX33" fmla="*/ 0 w 1455401"/>
                <a:gd name="connsiteY33" fmla="*/ 296838 h 1866625"/>
                <a:gd name="connsiteX34" fmla="*/ 1 w 1455401"/>
                <a:gd name="connsiteY34" fmla="*/ 296835 h 1866625"/>
                <a:gd name="connsiteX35" fmla="*/ 3758 w 1455401"/>
                <a:gd name="connsiteY35" fmla="*/ 266488 h 1866625"/>
                <a:gd name="connsiteX36" fmla="*/ 727700 w 1455401"/>
                <a:gd name="connsiteY36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033050 h 1866625"/>
                <a:gd name="connsiteX13" fmla="*/ 1434352 w 1455401"/>
                <a:gd name="connsiteY13" fmla="*/ 1143359 h 1866625"/>
                <a:gd name="connsiteX14" fmla="*/ 1439768 w 1455401"/>
                <a:gd name="connsiteY14" fmla="*/ 1140834 h 1866625"/>
                <a:gd name="connsiteX15" fmla="*/ 1455401 w 1455401"/>
                <a:gd name="connsiteY15" fmla="*/ 1127732 h 1866625"/>
                <a:gd name="connsiteX16" fmla="*/ 1455401 w 1455401"/>
                <a:gd name="connsiteY16" fmla="*/ 1569784 h 1866625"/>
                <a:gd name="connsiteX17" fmla="*/ 1455401 w 1455401"/>
                <a:gd name="connsiteY17" fmla="*/ 1569787 h 1866625"/>
                <a:gd name="connsiteX18" fmla="*/ 1455401 w 1455401"/>
                <a:gd name="connsiteY18" fmla="*/ 1569790 h 1866625"/>
                <a:gd name="connsiteX19" fmla="*/ 1455401 w 1455401"/>
                <a:gd name="connsiteY19" fmla="*/ 1578767 h 1866625"/>
                <a:gd name="connsiteX20" fmla="*/ 1454289 w 1455401"/>
                <a:gd name="connsiteY20" fmla="*/ 1578767 h 1866625"/>
                <a:gd name="connsiteX21" fmla="*/ 1451644 w 1455401"/>
                <a:gd name="connsiteY21" fmla="*/ 1600137 h 1866625"/>
                <a:gd name="connsiteX22" fmla="*/ 727701 w 1455401"/>
                <a:gd name="connsiteY22" fmla="*/ 1866625 h 1866625"/>
                <a:gd name="connsiteX23" fmla="*/ 3758 w 1455401"/>
                <a:gd name="connsiteY23" fmla="*/ 1600137 h 1866625"/>
                <a:gd name="connsiteX24" fmla="*/ 1113 w 1455401"/>
                <a:gd name="connsiteY24" fmla="*/ 1578767 h 1866625"/>
                <a:gd name="connsiteX25" fmla="*/ 1 w 1455401"/>
                <a:gd name="connsiteY25" fmla="*/ 1578767 h 1866625"/>
                <a:gd name="connsiteX26" fmla="*/ 1 w 1455401"/>
                <a:gd name="connsiteY26" fmla="*/ 1569787 h 1866625"/>
                <a:gd name="connsiteX27" fmla="*/ 1 w 1455401"/>
                <a:gd name="connsiteY27" fmla="*/ 1127733 h 1866625"/>
                <a:gd name="connsiteX28" fmla="*/ 21049 w 1455401"/>
                <a:gd name="connsiteY28" fmla="*/ 1033051 h 1866625"/>
                <a:gd name="connsiteX29" fmla="*/ 15633 w 1455401"/>
                <a:gd name="connsiteY29" fmla="*/ 1030526 h 1866625"/>
                <a:gd name="connsiteX30" fmla="*/ 0 w 1455401"/>
                <a:gd name="connsiteY30" fmla="*/ 1017423 h 1866625"/>
                <a:gd name="connsiteX31" fmla="*/ 1 w 1455401"/>
                <a:gd name="connsiteY31" fmla="*/ 296841 h 1866625"/>
                <a:gd name="connsiteX32" fmla="*/ 0 w 1455401"/>
                <a:gd name="connsiteY32" fmla="*/ 296838 h 1866625"/>
                <a:gd name="connsiteX33" fmla="*/ 1 w 1455401"/>
                <a:gd name="connsiteY33" fmla="*/ 296835 h 1866625"/>
                <a:gd name="connsiteX34" fmla="*/ 3758 w 1455401"/>
                <a:gd name="connsiteY34" fmla="*/ 266488 h 1866625"/>
                <a:gd name="connsiteX35" fmla="*/ 727700 w 1455401"/>
                <a:gd name="connsiteY35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033050 h 1866625"/>
                <a:gd name="connsiteX13" fmla="*/ 1434352 w 1455401"/>
                <a:gd name="connsiteY13" fmla="*/ 1143359 h 1866625"/>
                <a:gd name="connsiteX14" fmla="*/ 1439768 w 1455401"/>
                <a:gd name="connsiteY14" fmla="*/ 1140834 h 1866625"/>
                <a:gd name="connsiteX15" fmla="*/ 1455401 w 1455401"/>
                <a:gd name="connsiteY15" fmla="*/ 1127732 h 1866625"/>
                <a:gd name="connsiteX16" fmla="*/ 1455401 w 1455401"/>
                <a:gd name="connsiteY16" fmla="*/ 1569784 h 1866625"/>
                <a:gd name="connsiteX17" fmla="*/ 1455401 w 1455401"/>
                <a:gd name="connsiteY17" fmla="*/ 1569787 h 1866625"/>
                <a:gd name="connsiteX18" fmla="*/ 1455401 w 1455401"/>
                <a:gd name="connsiteY18" fmla="*/ 1569790 h 1866625"/>
                <a:gd name="connsiteX19" fmla="*/ 1455401 w 1455401"/>
                <a:gd name="connsiteY19" fmla="*/ 1578767 h 1866625"/>
                <a:gd name="connsiteX20" fmla="*/ 1454289 w 1455401"/>
                <a:gd name="connsiteY20" fmla="*/ 1578767 h 1866625"/>
                <a:gd name="connsiteX21" fmla="*/ 1451644 w 1455401"/>
                <a:gd name="connsiteY21" fmla="*/ 1600137 h 1866625"/>
                <a:gd name="connsiteX22" fmla="*/ 727701 w 1455401"/>
                <a:gd name="connsiteY22" fmla="*/ 1866625 h 1866625"/>
                <a:gd name="connsiteX23" fmla="*/ 3758 w 1455401"/>
                <a:gd name="connsiteY23" fmla="*/ 1600137 h 1866625"/>
                <a:gd name="connsiteX24" fmla="*/ 1113 w 1455401"/>
                <a:gd name="connsiteY24" fmla="*/ 1578767 h 1866625"/>
                <a:gd name="connsiteX25" fmla="*/ 1 w 1455401"/>
                <a:gd name="connsiteY25" fmla="*/ 1578767 h 1866625"/>
                <a:gd name="connsiteX26" fmla="*/ 1 w 1455401"/>
                <a:gd name="connsiteY26" fmla="*/ 1569787 h 1866625"/>
                <a:gd name="connsiteX27" fmla="*/ 1 w 1455401"/>
                <a:gd name="connsiteY27" fmla="*/ 1127733 h 1866625"/>
                <a:gd name="connsiteX28" fmla="*/ 21049 w 1455401"/>
                <a:gd name="connsiteY28" fmla="*/ 1033051 h 1866625"/>
                <a:gd name="connsiteX29" fmla="*/ 0 w 1455401"/>
                <a:gd name="connsiteY29" fmla="*/ 1017423 h 1866625"/>
                <a:gd name="connsiteX30" fmla="*/ 1 w 1455401"/>
                <a:gd name="connsiteY30" fmla="*/ 296841 h 1866625"/>
                <a:gd name="connsiteX31" fmla="*/ 0 w 1455401"/>
                <a:gd name="connsiteY31" fmla="*/ 296838 h 1866625"/>
                <a:gd name="connsiteX32" fmla="*/ 1 w 1455401"/>
                <a:gd name="connsiteY32" fmla="*/ 296835 h 1866625"/>
                <a:gd name="connsiteX33" fmla="*/ 3758 w 1455401"/>
                <a:gd name="connsiteY33" fmla="*/ 266488 h 1866625"/>
                <a:gd name="connsiteX34" fmla="*/ 727700 w 1455401"/>
                <a:gd name="connsiteY34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033050 h 1866625"/>
                <a:gd name="connsiteX13" fmla="*/ 1434352 w 1455401"/>
                <a:gd name="connsiteY13" fmla="*/ 1143359 h 1866625"/>
                <a:gd name="connsiteX14" fmla="*/ 1439768 w 1455401"/>
                <a:gd name="connsiteY14" fmla="*/ 1140834 h 1866625"/>
                <a:gd name="connsiteX15" fmla="*/ 1455401 w 1455401"/>
                <a:gd name="connsiteY15" fmla="*/ 1127732 h 1866625"/>
                <a:gd name="connsiteX16" fmla="*/ 1455401 w 1455401"/>
                <a:gd name="connsiteY16" fmla="*/ 1569784 h 1866625"/>
                <a:gd name="connsiteX17" fmla="*/ 1455401 w 1455401"/>
                <a:gd name="connsiteY17" fmla="*/ 1569787 h 1866625"/>
                <a:gd name="connsiteX18" fmla="*/ 1455401 w 1455401"/>
                <a:gd name="connsiteY18" fmla="*/ 1569790 h 1866625"/>
                <a:gd name="connsiteX19" fmla="*/ 1455401 w 1455401"/>
                <a:gd name="connsiteY19" fmla="*/ 1578767 h 1866625"/>
                <a:gd name="connsiteX20" fmla="*/ 1454289 w 1455401"/>
                <a:gd name="connsiteY20" fmla="*/ 1578767 h 1866625"/>
                <a:gd name="connsiteX21" fmla="*/ 1451644 w 1455401"/>
                <a:gd name="connsiteY21" fmla="*/ 1600137 h 1866625"/>
                <a:gd name="connsiteX22" fmla="*/ 727701 w 1455401"/>
                <a:gd name="connsiteY22" fmla="*/ 1866625 h 1866625"/>
                <a:gd name="connsiteX23" fmla="*/ 3758 w 1455401"/>
                <a:gd name="connsiteY23" fmla="*/ 1600137 h 1866625"/>
                <a:gd name="connsiteX24" fmla="*/ 1113 w 1455401"/>
                <a:gd name="connsiteY24" fmla="*/ 1578767 h 1866625"/>
                <a:gd name="connsiteX25" fmla="*/ 1 w 1455401"/>
                <a:gd name="connsiteY25" fmla="*/ 1578767 h 1866625"/>
                <a:gd name="connsiteX26" fmla="*/ 1 w 1455401"/>
                <a:gd name="connsiteY26" fmla="*/ 1569787 h 1866625"/>
                <a:gd name="connsiteX27" fmla="*/ 1 w 1455401"/>
                <a:gd name="connsiteY27" fmla="*/ 1127733 h 1866625"/>
                <a:gd name="connsiteX28" fmla="*/ 0 w 1455401"/>
                <a:gd name="connsiteY28" fmla="*/ 1017423 h 1866625"/>
                <a:gd name="connsiteX29" fmla="*/ 1 w 1455401"/>
                <a:gd name="connsiteY29" fmla="*/ 296841 h 1866625"/>
                <a:gd name="connsiteX30" fmla="*/ 0 w 1455401"/>
                <a:gd name="connsiteY30" fmla="*/ 296838 h 1866625"/>
                <a:gd name="connsiteX31" fmla="*/ 1 w 1455401"/>
                <a:gd name="connsiteY31" fmla="*/ 296835 h 1866625"/>
                <a:gd name="connsiteX32" fmla="*/ 3758 w 1455401"/>
                <a:gd name="connsiteY32" fmla="*/ 266488 h 1866625"/>
                <a:gd name="connsiteX33" fmla="*/ 727700 w 1455401"/>
                <a:gd name="connsiteY33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033050 h 1866625"/>
                <a:gd name="connsiteX13" fmla="*/ 1434352 w 1455401"/>
                <a:gd name="connsiteY13" fmla="*/ 1143359 h 1866625"/>
                <a:gd name="connsiteX14" fmla="*/ 1439768 w 1455401"/>
                <a:gd name="connsiteY14" fmla="*/ 1140834 h 1866625"/>
                <a:gd name="connsiteX15" fmla="*/ 1455401 w 1455401"/>
                <a:gd name="connsiteY15" fmla="*/ 1127732 h 1866625"/>
                <a:gd name="connsiteX16" fmla="*/ 1455401 w 1455401"/>
                <a:gd name="connsiteY16" fmla="*/ 1569784 h 1866625"/>
                <a:gd name="connsiteX17" fmla="*/ 1455401 w 1455401"/>
                <a:gd name="connsiteY17" fmla="*/ 1569787 h 1866625"/>
                <a:gd name="connsiteX18" fmla="*/ 1455401 w 1455401"/>
                <a:gd name="connsiteY18" fmla="*/ 1569790 h 1866625"/>
                <a:gd name="connsiteX19" fmla="*/ 1455401 w 1455401"/>
                <a:gd name="connsiteY19" fmla="*/ 1578767 h 1866625"/>
                <a:gd name="connsiteX20" fmla="*/ 1454289 w 1455401"/>
                <a:gd name="connsiteY20" fmla="*/ 1578767 h 1866625"/>
                <a:gd name="connsiteX21" fmla="*/ 1451644 w 1455401"/>
                <a:gd name="connsiteY21" fmla="*/ 1600137 h 1866625"/>
                <a:gd name="connsiteX22" fmla="*/ 727701 w 1455401"/>
                <a:gd name="connsiteY22" fmla="*/ 1866625 h 1866625"/>
                <a:gd name="connsiteX23" fmla="*/ 3758 w 1455401"/>
                <a:gd name="connsiteY23" fmla="*/ 1600137 h 1866625"/>
                <a:gd name="connsiteX24" fmla="*/ 1113 w 1455401"/>
                <a:gd name="connsiteY24" fmla="*/ 1578767 h 1866625"/>
                <a:gd name="connsiteX25" fmla="*/ 1 w 1455401"/>
                <a:gd name="connsiteY25" fmla="*/ 1578767 h 1866625"/>
                <a:gd name="connsiteX26" fmla="*/ 1 w 1455401"/>
                <a:gd name="connsiteY26" fmla="*/ 1569787 h 1866625"/>
                <a:gd name="connsiteX27" fmla="*/ 1 w 1455401"/>
                <a:gd name="connsiteY27" fmla="*/ 1127733 h 1866625"/>
                <a:gd name="connsiteX28" fmla="*/ 1 w 1455401"/>
                <a:gd name="connsiteY28" fmla="*/ 296841 h 1866625"/>
                <a:gd name="connsiteX29" fmla="*/ 0 w 1455401"/>
                <a:gd name="connsiteY29" fmla="*/ 296838 h 1866625"/>
                <a:gd name="connsiteX30" fmla="*/ 1 w 1455401"/>
                <a:gd name="connsiteY30" fmla="*/ 296835 h 1866625"/>
                <a:gd name="connsiteX31" fmla="*/ 3758 w 1455401"/>
                <a:gd name="connsiteY31" fmla="*/ 266488 h 1866625"/>
                <a:gd name="connsiteX32" fmla="*/ 727700 w 1455401"/>
                <a:gd name="connsiteY32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033050 h 1866625"/>
                <a:gd name="connsiteX13" fmla="*/ 1434352 w 1455401"/>
                <a:gd name="connsiteY13" fmla="*/ 1143359 h 1866625"/>
                <a:gd name="connsiteX14" fmla="*/ 1439768 w 1455401"/>
                <a:gd name="connsiteY14" fmla="*/ 1140834 h 1866625"/>
                <a:gd name="connsiteX15" fmla="*/ 1455401 w 1455401"/>
                <a:gd name="connsiteY15" fmla="*/ 1127732 h 1866625"/>
                <a:gd name="connsiteX16" fmla="*/ 1455401 w 1455401"/>
                <a:gd name="connsiteY16" fmla="*/ 1569784 h 1866625"/>
                <a:gd name="connsiteX17" fmla="*/ 1455401 w 1455401"/>
                <a:gd name="connsiteY17" fmla="*/ 1569787 h 1866625"/>
                <a:gd name="connsiteX18" fmla="*/ 1455401 w 1455401"/>
                <a:gd name="connsiteY18" fmla="*/ 1569790 h 1866625"/>
                <a:gd name="connsiteX19" fmla="*/ 1455401 w 1455401"/>
                <a:gd name="connsiteY19" fmla="*/ 1578767 h 1866625"/>
                <a:gd name="connsiteX20" fmla="*/ 1454289 w 1455401"/>
                <a:gd name="connsiteY20" fmla="*/ 1578767 h 1866625"/>
                <a:gd name="connsiteX21" fmla="*/ 1451644 w 1455401"/>
                <a:gd name="connsiteY21" fmla="*/ 1600137 h 1866625"/>
                <a:gd name="connsiteX22" fmla="*/ 727701 w 1455401"/>
                <a:gd name="connsiteY22" fmla="*/ 1866625 h 1866625"/>
                <a:gd name="connsiteX23" fmla="*/ 3758 w 1455401"/>
                <a:gd name="connsiteY23" fmla="*/ 1600137 h 1866625"/>
                <a:gd name="connsiteX24" fmla="*/ 1113 w 1455401"/>
                <a:gd name="connsiteY24" fmla="*/ 1578767 h 1866625"/>
                <a:gd name="connsiteX25" fmla="*/ 1 w 1455401"/>
                <a:gd name="connsiteY25" fmla="*/ 1578767 h 1866625"/>
                <a:gd name="connsiteX26" fmla="*/ 1 w 1455401"/>
                <a:gd name="connsiteY26" fmla="*/ 1569787 h 1866625"/>
                <a:gd name="connsiteX27" fmla="*/ 1 w 1455401"/>
                <a:gd name="connsiteY27" fmla="*/ 296841 h 1866625"/>
                <a:gd name="connsiteX28" fmla="*/ 0 w 1455401"/>
                <a:gd name="connsiteY28" fmla="*/ 296838 h 1866625"/>
                <a:gd name="connsiteX29" fmla="*/ 1 w 1455401"/>
                <a:gd name="connsiteY29" fmla="*/ 296835 h 1866625"/>
                <a:gd name="connsiteX30" fmla="*/ 3758 w 1455401"/>
                <a:gd name="connsiteY30" fmla="*/ 266488 h 1866625"/>
                <a:gd name="connsiteX31" fmla="*/ 727700 w 1455401"/>
                <a:gd name="connsiteY31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9767 w 1455401"/>
                <a:gd name="connsiteY11" fmla="*/ 1030526 h 1866625"/>
                <a:gd name="connsiteX12" fmla="*/ 1434352 w 1455401"/>
                <a:gd name="connsiteY12" fmla="*/ 1143359 h 1866625"/>
                <a:gd name="connsiteX13" fmla="*/ 1439768 w 1455401"/>
                <a:gd name="connsiteY13" fmla="*/ 1140834 h 1866625"/>
                <a:gd name="connsiteX14" fmla="*/ 1455401 w 1455401"/>
                <a:gd name="connsiteY14" fmla="*/ 1127732 h 1866625"/>
                <a:gd name="connsiteX15" fmla="*/ 1455401 w 1455401"/>
                <a:gd name="connsiteY15" fmla="*/ 1569784 h 1866625"/>
                <a:gd name="connsiteX16" fmla="*/ 1455401 w 1455401"/>
                <a:gd name="connsiteY16" fmla="*/ 1569787 h 1866625"/>
                <a:gd name="connsiteX17" fmla="*/ 1455401 w 1455401"/>
                <a:gd name="connsiteY17" fmla="*/ 1569790 h 1866625"/>
                <a:gd name="connsiteX18" fmla="*/ 1455401 w 1455401"/>
                <a:gd name="connsiteY18" fmla="*/ 1578767 h 1866625"/>
                <a:gd name="connsiteX19" fmla="*/ 1454289 w 1455401"/>
                <a:gd name="connsiteY19" fmla="*/ 1578767 h 1866625"/>
                <a:gd name="connsiteX20" fmla="*/ 1451644 w 1455401"/>
                <a:gd name="connsiteY20" fmla="*/ 1600137 h 1866625"/>
                <a:gd name="connsiteX21" fmla="*/ 727701 w 1455401"/>
                <a:gd name="connsiteY21" fmla="*/ 1866625 h 1866625"/>
                <a:gd name="connsiteX22" fmla="*/ 3758 w 1455401"/>
                <a:gd name="connsiteY22" fmla="*/ 1600137 h 1866625"/>
                <a:gd name="connsiteX23" fmla="*/ 1113 w 1455401"/>
                <a:gd name="connsiteY23" fmla="*/ 1578767 h 1866625"/>
                <a:gd name="connsiteX24" fmla="*/ 1 w 1455401"/>
                <a:gd name="connsiteY24" fmla="*/ 1578767 h 1866625"/>
                <a:gd name="connsiteX25" fmla="*/ 1 w 1455401"/>
                <a:gd name="connsiteY25" fmla="*/ 1569787 h 1866625"/>
                <a:gd name="connsiteX26" fmla="*/ 1 w 1455401"/>
                <a:gd name="connsiteY26" fmla="*/ 296841 h 1866625"/>
                <a:gd name="connsiteX27" fmla="*/ 0 w 1455401"/>
                <a:gd name="connsiteY27" fmla="*/ 296838 h 1866625"/>
                <a:gd name="connsiteX28" fmla="*/ 1 w 1455401"/>
                <a:gd name="connsiteY28" fmla="*/ 296835 h 1866625"/>
                <a:gd name="connsiteX29" fmla="*/ 3758 w 1455401"/>
                <a:gd name="connsiteY29" fmla="*/ 266488 h 1866625"/>
                <a:gd name="connsiteX30" fmla="*/ 727700 w 1455401"/>
                <a:gd name="connsiteY30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017423 h 1866625"/>
                <a:gd name="connsiteX11" fmla="*/ 1434352 w 1455401"/>
                <a:gd name="connsiteY11" fmla="*/ 1143359 h 1866625"/>
                <a:gd name="connsiteX12" fmla="*/ 1439768 w 1455401"/>
                <a:gd name="connsiteY12" fmla="*/ 1140834 h 1866625"/>
                <a:gd name="connsiteX13" fmla="*/ 1455401 w 1455401"/>
                <a:gd name="connsiteY13" fmla="*/ 1127732 h 1866625"/>
                <a:gd name="connsiteX14" fmla="*/ 1455401 w 1455401"/>
                <a:gd name="connsiteY14" fmla="*/ 1569784 h 1866625"/>
                <a:gd name="connsiteX15" fmla="*/ 1455401 w 1455401"/>
                <a:gd name="connsiteY15" fmla="*/ 1569787 h 1866625"/>
                <a:gd name="connsiteX16" fmla="*/ 1455401 w 1455401"/>
                <a:gd name="connsiteY16" fmla="*/ 1569790 h 1866625"/>
                <a:gd name="connsiteX17" fmla="*/ 1455401 w 1455401"/>
                <a:gd name="connsiteY17" fmla="*/ 1578767 h 1866625"/>
                <a:gd name="connsiteX18" fmla="*/ 1454289 w 1455401"/>
                <a:gd name="connsiteY18" fmla="*/ 1578767 h 1866625"/>
                <a:gd name="connsiteX19" fmla="*/ 1451644 w 1455401"/>
                <a:gd name="connsiteY19" fmla="*/ 1600137 h 1866625"/>
                <a:gd name="connsiteX20" fmla="*/ 727701 w 1455401"/>
                <a:gd name="connsiteY20" fmla="*/ 1866625 h 1866625"/>
                <a:gd name="connsiteX21" fmla="*/ 3758 w 1455401"/>
                <a:gd name="connsiteY21" fmla="*/ 1600137 h 1866625"/>
                <a:gd name="connsiteX22" fmla="*/ 1113 w 1455401"/>
                <a:gd name="connsiteY22" fmla="*/ 1578767 h 1866625"/>
                <a:gd name="connsiteX23" fmla="*/ 1 w 1455401"/>
                <a:gd name="connsiteY23" fmla="*/ 1578767 h 1866625"/>
                <a:gd name="connsiteX24" fmla="*/ 1 w 1455401"/>
                <a:gd name="connsiteY24" fmla="*/ 1569787 h 1866625"/>
                <a:gd name="connsiteX25" fmla="*/ 1 w 1455401"/>
                <a:gd name="connsiteY25" fmla="*/ 296841 h 1866625"/>
                <a:gd name="connsiteX26" fmla="*/ 0 w 1455401"/>
                <a:gd name="connsiteY26" fmla="*/ 296838 h 1866625"/>
                <a:gd name="connsiteX27" fmla="*/ 1 w 1455401"/>
                <a:gd name="connsiteY27" fmla="*/ 296835 h 1866625"/>
                <a:gd name="connsiteX28" fmla="*/ 3758 w 1455401"/>
                <a:gd name="connsiteY28" fmla="*/ 266488 h 1866625"/>
                <a:gd name="connsiteX29" fmla="*/ 727700 w 1455401"/>
                <a:gd name="connsiteY29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34352 w 1455401"/>
                <a:gd name="connsiteY10" fmla="*/ 1143359 h 1866625"/>
                <a:gd name="connsiteX11" fmla="*/ 1439768 w 1455401"/>
                <a:gd name="connsiteY11" fmla="*/ 1140834 h 1866625"/>
                <a:gd name="connsiteX12" fmla="*/ 1455401 w 1455401"/>
                <a:gd name="connsiteY12" fmla="*/ 1127732 h 1866625"/>
                <a:gd name="connsiteX13" fmla="*/ 1455401 w 1455401"/>
                <a:gd name="connsiteY13" fmla="*/ 1569784 h 1866625"/>
                <a:gd name="connsiteX14" fmla="*/ 1455401 w 1455401"/>
                <a:gd name="connsiteY14" fmla="*/ 1569787 h 1866625"/>
                <a:gd name="connsiteX15" fmla="*/ 1455401 w 1455401"/>
                <a:gd name="connsiteY15" fmla="*/ 1569790 h 1866625"/>
                <a:gd name="connsiteX16" fmla="*/ 1455401 w 1455401"/>
                <a:gd name="connsiteY16" fmla="*/ 1578767 h 1866625"/>
                <a:gd name="connsiteX17" fmla="*/ 1454289 w 1455401"/>
                <a:gd name="connsiteY17" fmla="*/ 1578767 h 1866625"/>
                <a:gd name="connsiteX18" fmla="*/ 1451644 w 1455401"/>
                <a:gd name="connsiteY18" fmla="*/ 1600137 h 1866625"/>
                <a:gd name="connsiteX19" fmla="*/ 727701 w 1455401"/>
                <a:gd name="connsiteY19" fmla="*/ 1866625 h 1866625"/>
                <a:gd name="connsiteX20" fmla="*/ 3758 w 1455401"/>
                <a:gd name="connsiteY20" fmla="*/ 1600137 h 1866625"/>
                <a:gd name="connsiteX21" fmla="*/ 1113 w 1455401"/>
                <a:gd name="connsiteY21" fmla="*/ 1578767 h 1866625"/>
                <a:gd name="connsiteX22" fmla="*/ 1 w 1455401"/>
                <a:gd name="connsiteY22" fmla="*/ 1578767 h 1866625"/>
                <a:gd name="connsiteX23" fmla="*/ 1 w 1455401"/>
                <a:gd name="connsiteY23" fmla="*/ 1569787 h 1866625"/>
                <a:gd name="connsiteX24" fmla="*/ 1 w 1455401"/>
                <a:gd name="connsiteY24" fmla="*/ 296841 h 1866625"/>
                <a:gd name="connsiteX25" fmla="*/ 0 w 1455401"/>
                <a:gd name="connsiteY25" fmla="*/ 296838 h 1866625"/>
                <a:gd name="connsiteX26" fmla="*/ 1 w 1455401"/>
                <a:gd name="connsiteY26" fmla="*/ 296835 h 1866625"/>
                <a:gd name="connsiteX27" fmla="*/ 3758 w 1455401"/>
                <a:gd name="connsiteY27" fmla="*/ 266488 h 1866625"/>
                <a:gd name="connsiteX28" fmla="*/ 727700 w 1455401"/>
                <a:gd name="connsiteY28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34352 w 1455401"/>
                <a:gd name="connsiteY10" fmla="*/ 1143359 h 1866625"/>
                <a:gd name="connsiteX11" fmla="*/ 1439768 w 1455401"/>
                <a:gd name="connsiteY11" fmla="*/ 1140834 h 1866625"/>
                <a:gd name="connsiteX12" fmla="*/ 1455401 w 1455401"/>
                <a:gd name="connsiteY12" fmla="*/ 1569784 h 1866625"/>
                <a:gd name="connsiteX13" fmla="*/ 1455401 w 1455401"/>
                <a:gd name="connsiteY13" fmla="*/ 1569787 h 1866625"/>
                <a:gd name="connsiteX14" fmla="*/ 1455401 w 1455401"/>
                <a:gd name="connsiteY14" fmla="*/ 1569790 h 1866625"/>
                <a:gd name="connsiteX15" fmla="*/ 1455401 w 1455401"/>
                <a:gd name="connsiteY15" fmla="*/ 1578767 h 1866625"/>
                <a:gd name="connsiteX16" fmla="*/ 1454289 w 1455401"/>
                <a:gd name="connsiteY16" fmla="*/ 1578767 h 1866625"/>
                <a:gd name="connsiteX17" fmla="*/ 1451644 w 1455401"/>
                <a:gd name="connsiteY17" fmla="*/ 1600137 h 1866625"/>
                <a:gd name="connsiteX18" fmla="*/ 727701 w 1455401"/>
                <a:gd name="connsiteY18" fmla="*/ 1866625 h 1866625"/>
                <a:gd name="connsiteX19" fmla="*/ 3758 w 1455401"/>
                <a:gd name="connsiteY19" fmla="*/ 1600137 h 1866625"/>
                <a:gd name="connsiteX20" fmla="*/ 1113 w 1455401"/>
                <a:gd name="connsiteY20" fmla="*/ 1578767 h 1866625"/>
                <a:gd name="connsiteX21" fmla="*/ 1 w 1455401"/>
                <a:gd name="connsiteY21" fmla="*/ 1578767 h 1866625"/>
                <a:gd name="connsiteX22" fmla="*/ 1 w 1455401"/>
                <a:gd name="connsiteY22" fmla="*/ 1569787 h 1866625"/>
                <a:gd name="connsiteX23" fmla="*/ 1 w 1455401"/>
                <a:gd name="connsiteY23" fmla="*/ 296841 h 1866625"/>
                <a:gd name="connsiteX24" fmla="*/ 0 w 1455401"/>
                <a:gd name="connsiteY24" fmla="*/ 296838 h 1866625"/>
                <a:gd name="connsiteX25" fmla="*/ 1 w 1455401"/>
                <a:gd name="connsiteY25" fmla="*/ 296835 h 1866625"/>
                <a:gd name="connsiteX26" fmla="*/ 3758 w 1455401"/>
                <a:gd name="connsiteY26" fmla="*/ 266488 h 1866625"/>
                <a:gd name="connsiteX27" fmla="*/ 727700 w 1455401"/>
                <a:gd name="connsiteY27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34352 w 1455401"/>
                <a:gd name="connsiteY10" fmla="*/ 1143359 h 1866625"/>
                <a:gd name="connsiteX11" fmla="*/ 1455401 w 1455401"/>
                <a:gd name="connsiteY11" fmla="*/ 1569784 h 1866625"/>
                <a:gd name="connsiteX12" fmla="*/ 1455401 w 1455401"/>
                <a:gd name="connsiteY12" fmla="*/ 1569787 h 1866625"/>
                <a:gd name="connsiteX13" fmla="*/ 1455401 w 1455401"/>
                <a:gd name="connsiteY13" fmla="*/ 1569790 h 1866625"/>
                <a:gd name="connsiteX14" fmla="*/ 1455401 w 1455401"/>
                <a:gd name="connsiteY14" fmla="*/ 1578767 h 1866625"/>
                <a:gd name="connsiteX15" fmla="*/ 1454289 w 1455401"/>
                <a:gd name="connsiteY15" fmla="*/ 1578767 h 1866625"/>
                <a:gd name="connsiteX16" fmla="*/ 1451644 w 1455401"/>
                <a:gd name="connsiteY16" fmla="*/ 1600137 h 1866625"/>
                <a:gd name="connsiteX17" fmla="*/ 727701 w 1455401"/>
                <a:gd name="connsiteY17" fmla="*/ 1866625 h 1866625"/>
                <a:gd name="connsiteX18" fmla="*/ 3758 w 1455401"/>
                <a:gd name="connsiteY18" fmla="*/ 1600137 h 1866625"/>
                <a:gd name="connsiteX19" fmla="*/ 1113 w 1455401"/>
                <a:gd name="connsiteY19" fmla="*/ 1578767 h 1866625"/>
                <a:gd name="connsiteX20" fmla="*/ 1 w 1455401"/>
                <a:gd name="connsiteY20" fmla="*/ 1578767 h 1866625"/>
                <a:gd name="connsiteX21" fmla="*/ 1 w 1455401"/>
                <a:gd name="connsiteY21" fmla="*/ 1569787 h 1866625"/>
                <a:gd name="connsiteX22" fmla="*/ 1 w 1455401"/>
                <a:gd name="connsiteY22" fmla="*/ 296841 h 1866625"/>
                <a:gd name="connsiteX23" fmla="*/ 0 w 1455401"/>
                <a:gd name="connsiteY23" fmla="*/ 296838 h 1866625"/>
                <a:gd name="connsiteX24" fmla="*/ 1 w 1455401"/>
                <a:gd name="connsiteY24" fmla="*/ 296835 h 1866625"/>
                <a:gd name="connsiteX25" fmla="*/ 3758 w 1455401"/>
                <a:gd name="connsiteY25" fmla="*/ 266488 h 1866625"/>
                <a:gd name="connsiteX26" fmla="*/ 727700 w 1455401"/>
                <a:gd name="connsiteY26" fmla="*/ 0 h 1866625"/>
                <a:gd name="connsiteX0" fmla="*/ 727701 w 1455401"/>
                <a:gd name="connsiteY0" fmla="*/ 107085 h 1866625"/>
                <a:gd name="connsiteX1" fmla="*/ 225411 w 1455401"/>
                <a:gd name="connsiteY1" fmla="*/ 254506 h 1866625"/>
                <a:gd name="connsiteX2" fmla="*/ 727701 w 1455401"/>
                <a:gd name="connsiteY2" fmla="*/ 401926 h 1866625"/>
                <a:gd name="connsiteX3" fmla="*/ 1229991 w 1455401"/>
                <a:gd name="connsiteY3" fmla="*/ 254506 h 1866625"/>
                <a:gd name="connsiteX4" fmla="*/ 727701 w 1455401"/>
                <a:gd name="connsiteY4" fmla="*/ 107085 h 1866625"/>
                <a:gd name="connsiteX5" fmla="*/ 727700 w 1455401"/>
                <a:gd name="connsiteY5" fmla="*/ 0 h 1866625"/>
                <a:gd name="connsiteX6" fmla="*/ 1451644 w 1455401"/>
                <a:gd name="connsiteY6" fmla="*/ 266488 h 1866625"/>
                <a:gd name="connsiteX7" fmla="*/ 1454289 w 1455401"/>
                <a:gd name="connsiteY7" fmla="*/ 287858 h 1866625"/>
                <a:gd name="connsiteX8" fmla="*/ 1455400 w 1455401"/>
                <a:gd name="connsiteY8" fmla="*/ 287858 h 1866625"/>
                <a:gd name="connsiteX9" fmla="*/ 1455400 w 1455401"/>
                <a:gd name="connsiteY9" fmla="*/ 296838 h 1866625"/>
                <a:gd name="connsiteX10" fmla="*/ 1455401 w 1455401"/>
                <a:gd name="connsiteY10" fmla="*/ 1569784 h 1866625"/>
                <a:gd name="connsiteX11" fmla="*/ 1455401 w 1455401"/>
                <a:gd name="connsiteY11" fmla="*/ 1569787 h 1866625"/>
                <a:gd name="connsiteX12" fmla="*/ 1455401 w 1455401"/>
                <a:gd name="connsiteY12" fmla="*/ 1569790 h 1866625"/>
                <a:gd name="connsiteX13" fmla="*/ 1455401 w 1455401"/>
                <a:gd name="connsiteY13" fmla="*/ 1578767 h 1866625"/>
                <a:gd name="connsiteX14" fmla="*/ 1454289 w 1455401"/>
                <a:gd name="connsiteY14" fmla="*/ 1578767 h 1866625"/>
                <a:gd name="connsiteX15" fmla="*/ 1451644 w 1455401"/>
                <a:gd name="connsiteY15" fmla="*/ 1600137 h 1866625"/>
                <a:gd name="connsiteX16" fmla="*/ 727701 w 1455401"/>
                <a:gd name="connsiteY16" fmla="*/ 1866625 h 1866625"/>
                <a:gd name="connsiteX17" fmla="*/ 3758 w 1455401"/>
                <a:gd name="connsiteY17" fmla="*/ 1600137 h 1866625"/>
                <a:gd name="connsiteX18" fmla="*/ 1113 w 1455401"/>
                <a:gd name="connsiteY18" fmla="*/ 1578767 h 1866625"/>
                <a:gd name="connsiteX19" fmla="*/ 1 w 1455401"/>
                <a:gd name="connsiteY19" fmla="*/ 1578767 h 1866625"/>
                <a:gd name="connsiteX20" fmla="*/ 1 w 1455401"/>
                <a:gd name="connsiteY20" fmla="*/ 1569787 h 1866625"/>
                <a:gd name="connsiteX21" fmla="*/ 1 w 1455401"/>
                <a:gd name="connsiteY21" fmla="*/ 296841 h 1866625"/>
                <a:gd name="connsiteX22" fmla="*/ 0 w 1455401"/>
                <a:gd name="connsiteY22" fmla="*/ 296838 h 1866625"/>
                <a:gd name="connsiteX23" fmla="*/ 1 w 1455401"/>
                <a:gd name="connsiteY23" fmla="*/ 296835 h 1866625"/>
                <a:gd name="connsiteX24" fmla="*/ 3758 w 1455401"/>
                <a:gd name="connsiteY24" fmla="*/ 266488 h 1866625"/>
                <a:gd name="connsiteX25" fmla="*/ 727700 w 1455401"/>
                <a:gd name="connsiteY25" fmla="*/ 0 h 1866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55401" h="1866625">
                  <a:moveTo>
                    <a:pt x="727701" y="107085"/>
                  </a:moveTo>
                  <a:cubicBezTo>
                    <a:pt x="450294" y="107085"/>
                    <a:pt x="225411" y="173087"/>
                    <a:pt x="225411" y="254506"/>
                  </a:cubicBezTo>
                  <a:cubicBezTo>
                    <a:pt x="225411" y="335924"/>
                    <a:pt x="450294" y="401926"/>
                    <a:pt x="727701" y="401926"/>
                  </a:cubicBezTo>
                  <a:cubicBezTo>
                    <a:pt x="1005108" y="401926"/>
                    <a:pt x="1229991" y="335924"/>
                    <a:pt x="1229991" y="254506"/>
                  </a:cubicBezTo>
                  <a:cubicBezTo>
                    <a:pt x="1229991" y="173087"/>
                    <a:pt x="1005108" y="107085"/>
                    <a:pt x="727701" y="107085"/>
                  </a:cubicBezTo>
                  <a:close/>
                  <a:moveTo>
                    <a:pt x="727700" y="0"/>
                  </a:moveTo>
                  <a:cubicBezTo>
                    <a:pt x="1104479" y="0"/>
                    <a:pt x="1414378" y="116806"/>
                    <a:pt x="1451644" y="266488"/>
                  </a:cubicBezTo>
                  <a:lnTo>
                    <a:pt x="1454289" y="287858"/>
                  </a:lnTo>
                  <a:lnTo>
                    <a:pt x="1455400" y="287858"/>
                  </a:lnTo>
                  <a:lnTo>
                    <a:pt x="1455400" y="296838"/>
                  </a:lnTo>
                  <a:cubicBezTo>
                    <a:pt x="1455400" y="510492"/>
                    <a:pt x="1455401" y="1357626"/>
                    <a:pt x="1455401" y="1569784"/>
                  </a:cubicBezTo>
                  <a:lnTo>
                    <a:pt x="1455401" y="1569787"/>
                  </a:lnTo>
                  <a:lnTo>
                    <a:pt x="1455401" y="1569790"/>
                  </a:lnTo>
                  <a:lnTo>
                    <a:pt x="1455401" y="1578767"/>
                  </a:lnTo>
                  <a:lnTo>
                    <a:pt x="1454289" y="1578767"/>
                  </a:lnTo>
                  <a:lnTo>
                    <a:pt x="1451644" y="1600137"/>
                  </a:lnTo>
                  <a:cubicBezTo>
                    <a:pt x="1414379" y="1749819"/>
                    <a:pt x="1104480" y="1866625"/>
                    <a:pt x="727701" y="1866625"/>
                  </a:cubicBezTo>
                  <a:cubicBezTo>
                    <a:pt x="350922" y="1866625"/>
                    <a:pt x="41024" y="1749819"/>
                    <a:pt x="3758" y="1600137"/>
                  </a:cubicBezTo>
                  <a:lnTo>
                    <a:pt x="1113" y="1578767"/>
                  </a:lnTo>
                  <a:lnTo>
                    <a:pt x="1" y="1578767"/>
                  </a:lnTo>
                  <a:lnTo>
                    <a:pt x="1" y="1569787"/>
                  </a:lnTo>
                  <a:lnTo>
                    <a:pt x="1" y="296841"/>
                  </a:lnTo>
                  <a:cubicBezTo>
                    <a:pt x="1" y="158359"/>
                    <a:pt x="0" y="296839"/>
                    <a:pt x="0" y="296838"/>
                  </a:cubicBezTo>
                  <a:cubicBezTo>
                    <a:pt x="0" y="296837"/>
                    <a:pt x="1" y="296836"/>
                    <a:pt x="1" y="296835"/>
                  </a:cubicBezTo>
                  <a:lnTo>
                    <a:pt x="3758" y="266488"/>
                  </a:lnTo>
                  <a:cubicBezTo>
                    <a:pt x="41023" y="116806"/>
                    <a:pt x="350921" y="0"/>
                    <a:pt x="727700" y="0"/>
                  </a:cubicBezTo>
                  <a:close/>
                </a:path>
              </a:pathLst>
            </a:custGeom>
            <a:gradFill>
              <a:gsLst>
                <a:gs pos="2917">
                  <a:schemeClr val="accent1"/>
                </a:gs>
                <a:gs pos="100000">
                  <a:schemeClr val="accent2"/>
                </a:gs>
              </a:gsLst>
              <a:lin ang="54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028" name="Group 1027">
              <a:extLst>
                <a:ext uri="{FF2B5EF4-FFF2-40B4-BE49-F238E27FC236}">
                  <a16:creationId xmlns:a16="http://schemas.microsoft.com/office/drawing/2014/main" id="{3A915893-B661-1E43-2966-F4B9B3996615}"/>
                </a:ext>
              </a:extLst>
            </p:cNvPr>
            <p:cNvGrpSpPr/>
            <p:nvPr/>
          </p:nvGrpSpPr>
          <p:grpSpPr>
            <a:xfrm>
              <a:off x="736350" y="3728192"/>
              <a:ext cx="53825" cy="87410"/>
              <a:chOff x="6675672" y="2470169"/>
              <a:chExt cx="284918" cy="439588"/>
            </a:xfrm>
            <a:solidFill>
              <a:schemeClr val="accent2"/>
            </a:solidFill>
          </p:grpSpPr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06CD2D50-A6B1-C26A-7FBC-36B2A6732204}"/>
                  </a:ext>
                </a:extLst>
              </p:cNvPr>
              <p:cNvSpPr/>
              <p:nvPr/>
            </p:nvSpPr>
            <p:spPr>
              <a:xfrm>
                <a:off x="6675672" y="2470169"/>
                <a:ext cx="284918" cy="345972"/>
              </a:xfrm>
              <a:custGeom>
                <a:avLst/>
                <a:gdLst>
                  <a:gd name="connsiteX0" fmla="*/ 190284 w 284917"/>
                  <a:gd name="connsiteY0" fmla="*/ 346311 h 345971"/>
                  <a:gd name="connsiteX1" fmla="*/ 206565 w 284917"/>
                  <a:gd name="connsiteY1" fmla="*/ 289327 h 345971"/>
                  <a:gd name="connsiteX2" fmla="*/ 241162 w 284917"/>
                  <a:gd name="connsiteY2" fmla="*/ 241841 h 345971"/>
                  <a:gd name="connsiteX3" fmla="*/ 272368 w 284917"/>
                  <a:gd name="connsiteY3" fmla="*/ 197068 h 345971"/>
                  <a:gd name="connsiteX4" fmla="*/ 283222 w 284917"/>
                  <a:gd name="connsiteY4" fmla="*/ 144155 h 345971"/>
                  <a:gd name="connsiteX5" fmla="*/ 272368 w 284917"/>
                  <a:gd name="connsiteY5" fmla="*/ 89885 h 345971"/>
                  <a:gd name="connsiteX6" fmla="*/ 242519 w 284917"/>
                  <a:gd name="connsiteY6" fmla="*/ 45790 h 345971"/>
                  <a:gd name="connsiteX7" fmla="*/ 198425 w 284917"/>
                  <a:gd name="connsiteY7" fmla="*/ 15942 h 345971"/>
                  <a:gd name="connsiteX8" fmla="*/ 144155 w 284917"/>
                  <a:gd name="connsiteY8" fmla="*/ 5088 h 345971"/>
                  <a:gd name="connsiteX9" fmla="*/ 89885 w 284917"/>
                  <a:gd name="connsiteY9" fmla="*/ 15942 h 345971"/>
                  <a:gd name="connsiteX10" fmla="*/ 45790 w 284917"/>
                  <a:gd name="connsiteY10" fmla="*/ 45790 h 345971"/>
                  <a:gd name="connsiteX11" fmla="*/ 15942 w 284917"/>
                  <a:gd name="connsiteY11" fmla="*/ 89885 h 345971"/>
                  <a:gd name="connsiteX12" fmla="*/ 5088 w 284917"/>
                  <a:gd name="connsiteY12" fmla="*/ 144155 h 345971"/>
                  <a:gd name="connsiteX13" fmla="*/ 15942 w 284917"/>
                  <a:gd name="connsiteY13" fmla="*/ 197068 h 345971"/>
                  <a:gd name="connsiteX14" fmla="*/ 47147 w 284917"/>
                  <a:gd name="connsiteY14" fmla="*/ 241841 h 345971"/>
                  <a:gd name="connsiteX15" fmla="*/ 81744 w 284917"/>
                  <a:gd name="connsiteY15" fmla="*/ 289327 h 345971"/>
                  <a:gd name="connsiteX16" fmla="*/ 98025 w 284917"/>
                  <a:gd name="connsiteY16" fmla="*/ 346311 h 345971"/>
                  <a:gd name="connsiteX17" fmla="*/ 190284 w 284917"/>
                  <a:gd name="connsiteY17" fmla="*/ 346311 h 345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84917" h="345971">
                    <a:moveTo>
                      <a:pt x="190284" y="346311"/>
                    </a:moveTo>
                    <a:cubicBezTo>
                      <a:pt x="192319" y="325281"/>
                      <a:pt x="197746" y="306287"/>
                      <a:pt x="206565" y="289327"/>
                    </a:cubicBezTo>
                    <a:cubicBezTo>
                      <a:pt x="215384" y="272368"/>
                      <a:pt x="226917" y="256765"/>
                      <a:pt x="241162" y="241841"/>
                    </a:cubicBezTo>
                    <a:cubicBezTo>
                      <a:pt x="254730" y="228273"/>
                      <a:pt x="264906" y="213349"/>
                      <a:pt x="272368" y="197068"/>
                    </a:cubicBezTo>
                    <a:cubicBezTo>
                      <a:pt x="279830" y="180787"/>
                      <a:pt x="283222" y="163149"/>
                      <a:pt x="283222" y="144155"/>
                    </a:cubicBezTo>
                    <a:cubicBezTo>
                      <a:pt x="283222" y="125160"/>
                      <a:pt x="279830" y="106844"/>
                      <a:pt x="272368" y="89885"/>
                    </a:cubicBezTo>
                    <a:cubicBezTo>
                      <a:pt x="264906" y="72925"/>
                      <a:pt x="254730" y="58001"/>
                      <a:pt x="242519" y="45790"/>
                    </a:cubicBezTo>
                    <a:cubicBezTo>
                      <a:pt x="229630" y="32901"/>
                      <a:pt x="215384" y="23404"/>
                      <a:pt x="198425" y="15942"/>
                    </a:cubicBezTo>
                    <a:cubicBezTo>
                      <a:pt x="181466" y="8480"/>
                      <a:pt x="163149" y="5088"/>
                      <a:pt x="144155" y="5088"/>
                    </a:cubicBezTo>
                    <a:cubicBezTo>
                      <a:pt x="125160" y="5088"/>
                      <a:pt x="106844" y="8480"/>
                      <a:pt x="89885" y="15942"/>
                    </a:cubicBezTo>
                    <a:cubicBezTo>
                      <a:pt x="72925" y="23404"/>
                      <a:pt x="58001" y="33580"/>
                      <a:pt x="45790" y="45790"/>
                    </a:cubicBezTo>
                    <a:cubicBezTo>
                      <a:pt x="32901" y="58679"/>
                      <a:pt x="23404" y="72925"/>
                      <a:pt x="15942" y="89885"/>
                    </a:cubicBezTo>
                    <a:cubicBezTo>
                      <a:pt x="8480" y="106844"/>
                      <a:pt x="5088" y="125160"/>
                      <a:pt x="5088" y="144155"/>
                    </a:cubicBezTo>
                    <a:cubicBezTo>
                      <a:pt x="5088" y="163149"/>
                      <a:pt x="8480" y="180787"/>
                      <a:pt x="15942" y="197068"/>
                    </a:cubicBezTo>
                    <a:cubicBezTo>
                      <a:pt x="23404" y="213349"/>
                      <a:pt x="33580" y="228273"/>
                      <a:pt x="47147" y="241841"/>
                    </a:cubicBezTo>
                    <a:cubicBezTo>
                      <a:pt x="61393" y="256765"/>
                      <a:pt x="72925" y="272368"/>
                      <a:pt x="81744" y="289327"/>
                    </a:cubicBezTo>
                    <a:cubicBezTo>
                      <a:pt x="90563" y="306287"/>
                      <a:pt x="95312" y="325281"/>
                      <a:pt x="98025" y="346311"/>
                    </a:cubicBezTo>
                    <a:lnTo>
                      <a:pt x="190284" y="346311"/>
                    </a:lnTo>
                    <a:close/>
                  </a:path>
                </a:pathLst>
              </a:custGeom>
              <a:solidFill>
                <a:srgbClr val="50E6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0823CB71-8BA3-F374-1A46-74053ACC5F0B}"/>
                  </a:ext>
                </a:extLst>
              </p:cNvPr>
              <p:cNvSpPr/>
              <p:nvPr/>
            </p:nvSpPr>
            <p:spPr>
              <a:xfrm>
                <a:off x="6767253" y="2841919"/>
                <a:ext cx="101756" cy="67838"/>
              </a:xfrm>
              <a:custGeom>
                <a:avLst/>
                <a:gdLst>
                  <a:gd name="connsiteX0" fmla="*/ 82422 w 101756"/>
                  <a:gd name="connsiteY0" fmla="*/ 67498 h 67837"/>
                  <a:gd name="connsiteX1" fmla="*/ 93277 w 101756"/>
                  <a:gd name="connsiteY1" fmla="*/ 62750 h 67837"/>
                  <a:gd name="connsiteX2" fmla="*/ 98025 w 101756"/>
                  <a:gd name="connsiteY2" fmla="*/ 51896 h 67837"/>
                  <a:gd name="connsiteX3" fmla="*/ 98025 w 101756"/>
                  <a:gd name="connsiteY3" fmla="*/ 5088 h 67837"/>
                  <a:gd name="connsiteX4" fmla="*/ 5088 w 101756"/>
                  <a:gd name="connsiteY4" fmla="*/ 5088 h 67837"/>
                  <a:gd name="connsiteX5" fmla="*/ 5088 w 101756"/>
                  <a:gd name="connsiteY5" fmla="*/ 51896 h 67837"/>
                  <a:gd name="connsiteX6" fmla="*/ 9837 w 101756"/>
                  <a:gd name="connsiteY6" fmla="*/ 62750 h 67837"/>
                  <a:gd name="connsiteX7" fmla="*/ 20690 w 101756"/>
                  <a:gd name="connsiteY7" fmla="*/ 67498 h 67837"/>
                  <a:gd name="connsiteX8" fmla="*/ 82422 w 101756"/>
                  <a:gd name="connsiteY8" fmla="*/ 67498 h 6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1756" h="67837">
                    <a:moveTo>
                      <a:pt x="82422" y="67498"/>
                    </a:moveTo>
                    <a:cubicBezTo>
                      <a:pt x="86493" y="67498"/>
                      <a:pt x="90563" y="66142"/>
                      <a:pt x="93277" y="62750"/>
                    </a:cubicBezTo>
                    <a:cubicBezTo>
                      <a:pt x="96669" y="59358"/>
                      <a:pt x="98025" y="55966"/>
                      <a:pt x="98025" y="51896"/>
                    </a:cubicBezTo>
                    <a:lnTo>
                      <a:pt x="98025" y="5088"/>
                    </a:lnTo>
                    <a:lnTo>
                      <a:pt x="5088" y="5088"/>
                    </a:lnTo>
                    <a:lnTo>
                      <a:pt x="5088" y="51896"/>
                    </a:lnTo>
                    <a:cubicBezTo>
                      <a:pt x="5088" y="55966"/>
                      <a:pt x="6445" y="60036"/>
                      <a:pt x="9837" y="62750"/>
                    </a:cubicBezTo>
                    <a:cubicBezTo>
                      <a:pt x="13228" y="66142"/>
                      <a:pt x="16620" y="67498"/>
                      <a:pt x="20690" y="67498"/>
                    </a:cubicBezTo>
                    <a:lnTo>
                      <a:pt x="82422" y="67498"/>
                    </a:lnTo>
                    <a:close/>
                  </a:path>
                </a:pathLst>
              </a:custGeom>
              <a:solidFill>
                <a:srgbClr val="50E6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6EE5D681-00B1-CD55-6C23-7451F7B7A56D}"/>
                </a:ext>
              </a:extLst>
            </p:cNvPr>
            <p:cNvSpPr/>
            <p:nvPr/>
          </p:nvSpPr>
          <p:spPr>
            <a:xfrm>
              <a:off x="971810" y="3692326"/>
              <a:ext cx="155880" cy="144778"/>
            </a:xfrm>
            <a:custGeom>
              <a:avLst/>
              <a:gdLst>
                <a:gd name="connsiteX0" fmla="*/ 30932 w 155880"/>
                <a:gd name="connsiteY0" fmla="*/ 128876 h 144778"/>
                <a:gd name="connsiteX1" fmla="*/ 36509 w 155880"/>
                <a:gd name="connsiteY1" fmla="*/ 129098 h 144778"/>
                <a:gd name="connsiteX2" fmla="*/ 36504 w 155880"/>
                <a:gd name="connsiteY2" fmla="*/ 134751 h 144778"/>
                <a:gd name="connsiteX3" fmla="*/ 28140 w 155880"/>
                <a:gd name="connsiteY3" fmla="*/ 143563 h 144778"/>
                <a:gd name="connsiteX4" fmla="*/ 25350 w 155880"/>
                <a:gd name="connsiteY4" fmla="*/ 144778 h 144778"/>
                <a:gd name="connsiteX5" fmla="*/ 21402 w 155880"/>
                <a:gd name="connsiteY5" fmla="*/ 140626 h 144778"/>
                <a:gd name="connsiteX6" fmla="*/ 22559 w 155880"/>
                <a:gd name="connsiteY6" fmla="*/ 137686 h 144778"/>
                <a:gd name="connsiteX7" fmla="*/ 14763 w 155880"/>
                <a:gd name="connsiteY7" fmla="*/ 100661 h 144778"/>
                <a:gd name="connsiteX8" fmla="*/ 19993 w 155880"/>
                <a:gd name="connsiteY8" fmla="*/ 102712 h 144778"/>
                <a:gd name="connsiteX9" fmla="*/ 18044 w 155880"/>
                <a:gd name="connsiteY9" fmla="*/ 108217 h 144778"/>
                <a:gd name="connsiteX10" fmla="*/ 7569 w 155880"/>
                <a:gd name="connsiteY10" fmla="*/ 113253 h 144778"/>
                <a:gd name="connsiteX11" fmla="*/ 5931 w 155880"/>
                <a:gd name="connsiteY11" fmla="*/ 113629 h 144778"/>
                <a:gd name="connsiteX12" fmla="*/ 1979 w 155880"/>
                <a:gd name="connsiteY12" fmla="*/ 109481 h 144778"/>
                <a:gd name="connsiteX13" fmla="*/ 4289 w 155880"/>
                <a:gd name="connsiteY13" fmla="*/ 105695 h 144778"/>
                <a:gd name="connsiteX14" fmla="*/ 52656 w 155880"/>
                <a:gd name="connsiteY14" fmla="*/ 71759 h 144778"/>
                <a:gd name="connsiteX15" fmla="*/ 49396 w 155880"/>
                <a:gd name="connsiteY15" fmla="*/ 72798 h 144778"/>
                <a:gd name="connsiteX16" fmla="*/ 48834 w 155880"/>
                <a:gd name="connsiteY16" fmla="*/ 76283 h 144778"/>
                <a:gd name="connsiteX17" fmla="*/ 46606 w 155880"/>
                <a:gd name="connsiteY17" fmla="*/ 78191 h 144778"/>
                <a:gd name="connsiteX18" fmla="*/ 43236 w 155880"/>
                <a:gd name="connsiteY18" fmla="*/ 78089 h 144778"/>
                <a:gd name="connsiteX19" fmla="*/ 41618 w 155880"/>
                <a:gd name="connsiteY19" fmla="*/ 81257 h 144778"/>
                <a:gd name="connsiteX20" fmla="*/ 43542 w 155880"/>
                <a:gd name="connsiteY20" fmla="*/ 84162 h 144778"/>
                <a:gd name="connsiteX21" fmla="*/ 43282 w 155880"/>
                <a:gd name="connsiteY21" fmla="*/ 87186 h 144778"/>
                <a:gd name="connsiteX22" fmla="*/ 40825 w 155880"/>
                <a:gd name="connsiteY22" fmla="*/ 89585 h 144778"/>
                <a:gd name="connsiteX23" fmla="*/ 41812 w 155880"/>
                <a:gd name="connsiteY23" fmla="*/ 93016 h 144778"/>
                <a:gd name="connsiteX24" fmla="*/ 45125 w 155880"/>
                <a:gd name="connsiteY24" fmla="*/ 93622 h 144778"/>
                <a:gd name="connsiteX25" fmla="*/ 46922 w 155880"/>
                <a:gd name="connsiteY25" fmla="*/ 95986 h 144778"/>
                <a:gd name="connsiteX26" fmla="*/ 46845 w 155880"/>
                <a:gd name="connsiteY26" fmla="*/ 99517 h 144778"/>
                <a:gd name="connsiteX27" fmla="*/ 49838 w 155880"/>
                <a:gd name="connsiteY27" fmla="*/ 101211 h 144778"/>
                <a:gd name="connsiteX28" fmla="*/ 52601 w 155880"/>
                <a:gd name="connsiteY28" fmla="*/ 99193 h 144778"/>
                <a:gd name="connsiteX29" fmla="*/ 55458 w 155880"/>
                <a:gd name="connsiteY29" fmla="*/ 99494 h 144778"/>
                <a:gd name="connsiteX30" fmla="*/ 57759 w 155880"/>
                <a:gd name="connsiteY30" fmla="*/ 102050 h 144778"/>
                <a:gd name="connsiteX31" fmla="*/ 61018 w 155880"/>
                <a:gd name="connsiteY31" fmla="*/ 101012 h 144778"/>
                <a:gd name="connsiteX32" fmla="*/ 61581 w 155880"/>
                <a:gd name="connsiteY32" fmla="*/ 97527 h 144778"/>
                <a:gd name="connsiteX33" fmla="*/ 63832 w 155880"/>
                <a:gd name="connsiteY33" fmla="*/ 95633 h 144778"/>
                <a:gd name="connsiteX34" fmla="*/ 67186 w 155880"/>
                <a:gd name="connsiteY34" fmla="*/ 95739 h 144778"/>
                <a:gd name="connsiteX35" fmla="*/ 68804 w 155880"/>
                <a:gd name="connsiteY35" fmla="*/ 92565 h 144778"/>
                <a:gd name="connsiteX36" fmla="*/ 66867 w 155880"/>
                <a:gd name="connsiteY36" fmla="*/ 89664 h 144778"/>
                <a:gd name="connsiteX37" fmla="*/ 67153 w 155880"/>
                <a:gd name="connsiteY37" fmla="*/ 86657 h 144778"/>
                <a:gd name="connsiteX38" fmla="*/ 69610 w 155880"/>
                <a:gd name="connsiteY38" fmla="*/ 84218 h 144778"/>
                <a:gd name="connsiteX39" fmla="*/ 68623 w 155880"/>
                <a:gd name="connsiteY39" fmla="*/ 80787 h 144778"/>
                <a:gd name="connsiteX40" fmla="*/ 65312 w 155880"/>
                <a:gd name="connsiteY40" fmla="*/ 80197 h 144778"/>
                <a:gd name="connsiteX41" fmla="*/ 63493 w 155880"/>
                <a:gd name="connsiteY41" fmla="*/ 77832 h 144778"/>
                <a:gd name="connsiteX42" fmla="*/ 63593 w 155880"/>
                <a:gd name="connsiteY42" fmla="*/ 74301 h 144778"/>
                <a:gd name="connsiteX43" fmla="*/ 60584 w 155880"/>
                <a:gd name="connsiteY43" fmla="*/ 72596 h 144778"/>
                <a:gd name="connsiteX44" fmla="*/ 57840 w 155880"/>
                <a:gd name="connsiteY44" fmla="*/ 74631 h 144778"/>
                <a:gd name="connsiteX45" fmla="*/ 54961 w 155880"/>
                <a:gd name="connsiteY45" fmla="*/ 74337 h 144778"/>
                <a:gd name="connsiteX46" fmla="*/ 3946 w 155880"/>
                <a:gd name="connsiteY46" fmla="*/ 67618 h 144778"/>
                <a:gd name="connsiteX47" fmla="*/ 14874 w 155880"/>
                <a:gd name="connsiteY47" fmla="*/ 67618 h 144778"/>
                <a:gd name="connsiteX48" fmla="*/ 18820 w 155880"/>
                <a:gd name="connsiteY48" fmla="*/ 71772 h 144778"/>
                <a:gd name="connsiteX49" fmla="*/ 14874 w 155880"/>
                <a:gd name="connsiteY49" fmla="*/ 75926 h 144778"/>
                <a:gd name="connsiteX50" fmla="*/ 3946 w 155880"/>
                <a:gd name="connsiteY50" fmla="*/ 75926 h 144778"/>
                <a:gd name="connsiteX51" fmla="*/ 0 w 155880"/>
                <a:gd name="connsiteY51" fmla="*/ 71772 h 144778"/>
                <a:gd name="connsiteX52" fmla="*/ 3946 w 155880"/>
                <a:gd name="connsiteY52" fmla="*/ 67618 h 144778"/>
                <a:gd name="connsiteX53" fmla="*/ 60267 w 155880"/>
                <a:gd name="connsiteY53" fmla="*/ 40729 h 144778"/>
                <a:gd name="connsiteX54" fmla="*/ 57007 w 155880"/>
                <a:gd name="connsiteY54" fmla="*/ 41767 h 144778"/>
                <a:gd name="connsiteX55" fmla="*/ 56431 w 155880"/>
                <a:gd name="connsiteY55" fmla="*/ 45256 h 144778"/>
                <a:gd name="connsiteX56" fmla="*/ 54185 w 155880"/>
                <a:gd name="connsiteY56" fmla="*/ 47148 h 144778"/>
                <a:gd name="connsiteX57" fmla="*/ 50831 w 155880"/>
                <a:gd name="connsiteY57" fmla="*/ 47042 h 144778"/>
                <a:gd name="connsiteX58" fmla="*/ 49187 w 155880"/>
                <a:gd name="connsiteY58" fmla="*/ 50224 h 144778"/>
                <a:gd name="connsiteX59" fmla="*/ 51151 w 155880"/>
                <a:gd name="connsiteY59" fmla="*/ 53119 h 144778"/>
                <a:gd name="connsiteX60" fmla="*/ 50870 w 155880"/>
                <a:gd name="connsiteY60" fmla="*/ 56126 h 144778"/>
                <a:gd name="connsiteX61" fmla="*/ 48422 w 155880"/>
                <a:gd name="connsiteY61" fmla="*/ 58554 h 144778"/>
                <a:gd name="connsiteX62" fmla="*/ 49408 w 155880"/>
                <a:gd name="connsiteY62" fmla="*/ 61985 h 144778"/>
                <a:gd name="connsiteX63" fmla="*/ 52717 w 155880"/>
                <a:gd name="connsiteY63" fmla="*/ 62575 h 144778"/>
                <a:gd name="connsiteX64" fmla="*/ 54531 w 155880"/>
                <a:gd name="connsiteY64" fmla="*/ 64920 h 144778"/>
                <a:gd name="connsiteX65" fmla="*/ 54406 w 155880"/>
                <a:gd name="connsiteY65" fmla="*/ 68490 h 144778"/>
                <a:gd name="connsiteX66" fmla="*/ 57415 w 155880"/>
                <a:gd name="connsiteY66" fmla="*/ 70195 h 144778"/>
                <a:gd name="connsiteX67" fmla="*/ 60160 w 155880"/>
                <a:gd name="connsiteY67" fmla="*/ 68160 h 144778"/>
                <a:gd name="connsiteX68" fmla="*/ 63019 w 155880"/>
                <a:gd name="connsiteY68" fmla="*/ 68461 h 144778"/>
                <a:gd name="connsiteX69" fmla="*/ 65324 w 155880"/>
                <a:gd name="connsiteY69" fmla="*/ 71038 h 144778"/>
                <a:gd name="connsiteX70" fmla="*/ 68583 w 155880"/>
                <a:gd name="connsiteY70" fmla="*/ 70000 h 144778"/>
                <a:gd name="connsiteX71" fmla="*/ 69160 w 155880"/>
                <a:gd name="connsiteY71" fmla="*/ 66511 h 144778"/>
                <a:gd name="connsiteX72" fmla="*/ 71389 w 155880"/>
                <a:gd name="connsiteY72" fmla="*/ 64588 h 144778"/>
                <a:gd name="connsiteX73" fmla="*/ 74744 w 155880"/>
                <a:gd name="connsiteY73" fmla="*/ 64694 h 144778"/>
                <a:gd name="connsiteX74" fmla="*/ 76362 w 155880"/>
                <a:gd name="connsiteY74" fmla="*/ 61526 h 144778"/>
                <a:gd name="connsiteX75" fmla="*/ 74428 w 155880"/>
                <a:gd name="connsiteY75" fmla="*/ 58652 h 144778"/>
                <a:gd name="connsiteX76" fmla="*/ 74740 w 155880"/>
                <a:gd name="connsiteY76" fmla="*/ 55605 h 144778"/>
                <a:gd name="connsiteX77" fmla="*/ 77188 w 155880"/>
                <a:gd name="connsiteY77" fmla="*/ 53179 h 144778"/>
                <a:gd name="connsiteX78" fmla="*/ 76202 w 155880"/>
                <a:gd name="connsiteY78" fmla="*/ 49746 h 144778"/>
                <a:gd name="connsiteX79" fmla="*/ 72891 w 155880"/>
                <a:gd name="connsiteY79" fmla="*/ 49156 h 144778"/>
                <a:gd name="connsiteX80" fmla="*/ 71078 w 155880"/>
                <a:gd name="connsiteY80" fmla="*/ 46812 h 144778"/>
                <a:gd name="connsiteX81" fmla="*/ 71180 w 155880"/>
                <a:gd name="connsiteY81" fmla="*/ 43262 h 144778"/>
                <a:gd name="connsiteX82" fmla="*/ 68171 w 155880"/>
                <a:gd name="connsiteY82" fmla="*/ 41559 h 144778"/>
                <a:gd name="connsiteX83" fmla="*/ 65424 w 155880"/>
                <a:gd name="connsiteY83" fmla="*/ 43586 h 144778"/>
                <a:gd name="connsiteX84" fmla="*/ 62567 w 155880"/>
                <a:gd name="connsiteY84" fmla="*/ 43285 h 144778"/>
                <a:gd name="connsiteX85" fmla="*/ 10491 w 155880"/>
                <a:gd name="connsiteY85" fmla="*/ 31563 h 144778"/>
                <a:gd name="connsiteX86" fmla="*/ 22867 w 155880"/>
                <a:gd name="connsiteY86" fmla="*/ 37071 h 144778"/>
                <a:gd name="connsiteX87" fmla="*/ 24964 w 155880"/>
                <a:gd name="connsiteY87" fmla="*/ 42514 h 144778"/>
                <a:gd name="connsiteX88" fmla="*/ 21328 w 155880"/>
                <a:gd name="connsiteY88" fmla="*/ 45050 h 144778"/>
                <a:gd name="connsiteX89" fmla="*/ 19791 w 155880"/>
                <a:gd name="connsiteY89" fmla="*/ 44722 h 144778"/>
                <a:gd name="connsiteX90" fmla="*/ 7417 w 155880"/>
                <a:gd name="connsiteY90" fmla="*/ 39214 h 144778"/>
                <a:gd name="connsiteX91" fmla="*/ 5355 w 155880"/>
                <a:gd name="connsiteY91" fmla="*/ 33755 h 144778"/>
                <a:gd name="connsiteX92" fmla="*/ 10491 w 155880"/>
                <a:gd name="connsiteY92" fmla="*/ 31563 h 144778"/>
                <a:gd name="connsiteX93" fmla="*/ 111035 w 155880"/>
                <a:gd name="connsiteY93" fmla="*/ 3977 h 144778"/>
                <a:gd name="connsiteX94" fmla="*/ 129607 w 155880"/>
                <a:gd name="connsiteY94" fmla="*/ 21118 h 144778"/>
                <a:gd name="connsiteX95" fmla="*/ 130057 w 155880"/>
                <a:gd name="connsiteY95" fmla="*/ 21252 h 144778"/>
                <a:gd name="connsiteX96" fmla="*/ 141206 w 155880"/>
                <a:gd name="connsiteY96" fmla="*/ 42955 h 144778"/>
                <a:gd name="connsiteX97" fmla="*/ 142683 w 155880"/>
                <a:gd name="connsiteY97" fmla="*/ 43804 h 144778"/>
                <a:gd name="connsiteX98" fmla="*/ 149517 w 155880"/>
                <a:gd name="connsiteY98" fmla="*/ 72741 h 144778"/>
                <a:gd name="connsiteX99" fmla="*/ 155880 w 155880"/>
                <a:gd name="connsiteY99" fmla="*/ 88563 h 144778"/>
                <a:gd name="connsiteX100" fmla="*/ 143647 w 155880"/>
                <a:gd name="connsiteY100" fmla="*/ 108615 h 144778"/>
                <a:gd name="connsiteX101" fmla="*/ 143647 w 155880"/>
                <a:gd name="connsiteY101" fmla="*/ 108798 h 144778"/>
                <a:gd name="connsiteX102" fmla="*/ 143201 w 155880"/>
                <a:gd name="connsiteY102" fmla="*/ 113151 h 144778"/>
                <a:gd name="connsiteX103" fmla="*/ 120330 w 155880"/>
                <a:gd name="connsiteY103" fmla="*/ 128563 h 144778"/>
                <a:gd name="connsiteX104" fmla="*/ 107825 w 155880"/>
                <a:gd name="connsiteY104" fmla="*/ 138229 h 144778"/>
                <a:gd name="connsiteX105" fmla="*/ 94712 w 155880"/>
                <a:gd name="connsiteY105" fmla="*/ 124435 h 144778"/>
                <a:gd name="connsiteX106" fmla="*/ 94712 w 155880"/>
                <a:gd name="connsiteY106" fmla="*/ 22342 h 144778"/>
                <a:gd name="connsiteX107" fmla="*/ 111035 w 155880"/>
                <a:gd name="connsiteY107" fmla="*/ 3977 h 144778"/>
                <a:gd name="connsiteX108" fmla="*/ 69343 w 155880"/>
                <a:gd name="connsiteY108" fmla="*/ 3945 h 144778"/>
                <a:gd name="connsiteX109" fmla="*/ 69345 w 155880"/>
                <a:gd name="connsiteY109" fmla="*/ 3945 h 144778"/>
                <a:gd name="connsiteX110" fmla="*/ 86820 w 155880"/>
                <a:gd name="connsiteY110" fmla="*/ 22342 h 144778"/>
                <a:gd name="connsiteX111" fmla="*/ 86820 w 155880"/>
                <a:gd name="connsiteY111" fmla="*/ 124435 h 144778"/>
                <a:gd name="connsiteX112" fmla="*/ 77663 w 155880"/>
                <a:gd name="connsiteY112" fmla="*/ 137560 h 144778"/>
                <a:gd name="connsiteX113" fmla="*/ 61214 w 155880"/>
                <a:gd name="connsiteY113" fmla="*/ 128564 h 144778"/>
                <a:gd name="connsiteX114" fmla="*/ 57080 w 155880"/>
                <a:gd name="connsiteY114" fmla="*/ 129033 h 144778"/>
                <a:gd name="connsiteX115" fmla="*/ 37895 w 155880"/>
                <a:gd name="connsiteY115" fmla="*/ 108798 h 144778"/>
                <a:gd name="connsiteX116" fmla="*/ 37895 w 155880"/>
                <a:gd name="connsiteY116" fmla="*/ 108615 h 144778"/>
                <a:gd name="connsiteX117" fmla="*/ 31557 w 155880"/>
                <a:gd name="connsiteY117" fmla="*/ 103907 h 144778"/>
                <a:gd name="connsiteX118" fmla="*/ 32017 w 155880"/>
                <a:gd name="connsiteY118" fmla="*/ 72741 h 144778"/>
                <a:gd name="connsiteX119" fmla="*/ 31206 w 155880"/>
                <a:gd name="connsiteY119" fmla="*/ 71179 h 144778"/>
                <a:gd name="connsiteX120" fmla="*/ 40326 w 155880"/>
                <a:gd name="connsiteY120" fmla="*/ 42955 h 144778"/>
                <a:gd name="connsiteX121" fmla="*/ 40198 w 155880"/>
                <a:gd name="connsiteY121" fmla="*/ 42478 h 144778"/>
                <a:gd name="connsiteX122" fmla="*/ 51926 w 155880"/>
                <a:gd name="connsiteY122" fmla="*/ 21117 h 144778"/>
                <a:gd name="connsiteX123" fmla="*/ 69343 w 155880"/>
                <a:gd name="connsiteY123" fmla="*/ 3945 h 144778"/>
                <a:gd name="connsiteX124" fmla="*/ 29270 w 155880"/>
                <a:gd name="connsiteY124" fmla="*/ 1166 h 144778"/>
                <a:gd name="connsiteX125" fmla="*/ 29367 w 155880"/>
                <a:gd name="connsiteY125" fmla="*/ 1268 h 144778"/>
                <a:gd name="connsiteX126" fmla="*/ 37737 w 155880"/>
                <a:gd name="connsiteY126" fmla="*/ 10080 h 144778"/>
                <a:gd name="connsiteX127" fmla="*/ 37736 w 155880"/>
                <a:gd name="connsiteY127" fmla="*/ 15955 h 144778"/>
                <a:gd name="connsiteX128" fmla="*/ 34947 w 155880"/>
                <a:gd name="connsiteY128" fmla="*/ 17171 h 144778"/>
                <a:gd name="connsiteX129" fmla="*/ 32157 w 155880"/>
                <a:gd name="connsiteY129" fmla="*/ 15954 h 144778"/>
                <a:gd name="connsiteX130" fmla="*/ 23787 w 155880"/>
                <a:gd name="connsiteY130" fmla="*/ 7141 h 144778"/>
                <a:gd name="connsiteX131" fmla="*/ 23690 w 155880"/>
                <a:gd name="connsiteY131" fmla="*/ 1268 h 144778"/>
                <a:gd name="connsiteX132" fmla="*/ 29270 w 155880"/>
                <a:gd name="connsiteY132" fmla="*/ 1166 h 144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155880" h="144778">
                  <a:moveTo>
                    <a:pt x="30932" y="128876"/>
                  </a:moveTo>
                  <a:cubicBezTo>
                    <a:pt x="32530" y="127316"/>
                    <a:pt x="35027" y="127415"/>
                    <a:pt x="36509" y="129098"/>
                  </a:cubicBezTo>
                  <a:cubicBezTo>
                    <a:pt x="37914" y="130693"/>
                    <a:pt x="37911" y="133159"/>
                    <a:pt x="36504" y="134751"/>
                  </a:cubicBezTo>
                  <a:lnTo>
                    <a:pt x="28140" y="143563"/>
                  </a:lnTo>
                  <a:cubicBezTo>
                    <a:pt x="27400" y="144343"/>
                    <a:pt x="26396" y="144780"/>
                    <a:pt x="25350" y="144778"/>
                  </a:cubicBezTo>
                  <a:cubicBezTo>
                    <a:pt x="23170" y="144779"/>
                    <a:pt x="21403" y="142920"/>
                    <a:pt x="21402" y="140626"/>
                  </a:cubicBezTo>
                  <a:cubicBezTo>
                    <a:pt x="21402" y="139523"/>
                    <a:pt x="21818" y="138465"/>
                    <a:pt x="22559" y="137686"/>
                  </a:cubicBezTo>
                  <a:close/>
                  <a:moveTo>
                    <a:pt x="14763" y="100661"/>
                  </a:moveTo>
                  <a:cubicBezTo>
                    <a:pt x="16745" y="99707"/>
                    <a:pt x="19087" y="100625"/>
                    <a:pt x="19993" y="102712"/>
                  </a:cubicBezTo>
                  <a:cubicBezTo>
                    <a:pt x="20899" y="104798"/>
                    <a:pt x="20026" y="107263"/>
                    <a:pt x="18044" y="108217"/>
                  </a:cubicBezTo>
                  <a:lnTo>
                    <a:pt x="7569" y="113253"/>
                  </a:lnTo>
                  <a:cubicBezTo>
                    <a:pt x="7055" y="113500"/>
                    <a:pt x="6496" y="113629"/>
                    <a:pt x="5931" y="113629"/>
                  </a:cubicBezTo>
                  <a:cubicBezTo>
                    <a:pt x="3751" y="113632"/>
                    <a:pt x="1982" y="111775"/>
                    <a:pt x="1979" y="109481"/>
                  </a:cubicBezTo>
                  <a:cubicBezTo>
                    <a:pt x="1977" y="107851"/>
                    <a:pt x="2880" y="106371"/>
                    <a:pt x="4289" y="105695"/>
                  </a:cubicBezTo>
                  <a:close/>
                  <a:moveTo>
                    <a:pt x="52656" y="71759"/>
                  </a:moveTo>
                  <a:lnTo>
                    <a:pt x="49396" y="72798"/>
                  </a:lnTo>
                  <a:lnTo>
                    <a:pt x="48834" y="76283"/>
                  </a:lnTo>
                  <a:cubicBezTo>
                    <a:pt x="48021" y="76821"/>
                    <a:pt x="47273" y="77462"/>
                    <a:pt x="46606" y="78191"/>
                  </a:cubicBezTo>
                  <a:lnTo>
                    <a:pt x="43236" y="78089"/>
                  </a:lnTo>
                  <a:lnTo>
                    <a:pt x="41618" y="81257"/>
                  </a:lnTo>
                  <a:lnTo>
                    <a:pt x="43542" y="84162"/>
                  </a:lnTo>
                  <a:cubicBezTo>
                    <a:pt x="43339" y="85155"/>
                    <a:pt x="43252" y="86171"/>
                    <a:pt x="43282" y="87186"/>
                  </a:cubicBezTo>
                  <a:lnTo>
                    <a:pt x="40825" y="89585"/>
                  </a:lnTo>
                  <a:lnTo>
                    <a:pt x="41812" y="93016"/>
                  </a:lnTo>
                  <a:lnTo>
                    <a:pt x="45125" y="93622"/>
                  </a:lnTo>
                  <a:cubicBezTo>
                    <a:pt x="45631" y="94484"/>
                    <a:pt x="46234" y="95278"/>
                    <a:pt x="46922" y="95986"/>
                  </a:cubicBezTo>
                  <a:lnTo>
                    <a:pt x="46845" y="99517"/>
                  </a:lnTo>
                  <a:lnTo>
                    <a:pt x="49838" y="101211"/>
                  </a:lnTo>
                  <a:lnTo>
                    <a:pt x="52601" y="99193"/>
                  </a:lnTo>
                  <a:cubicBezTo>
                    <a:pt x="53538" y="99414"/>
                    <a:pt x="54497" y="99515"/>
                    <a:pt x="55458" y="99494"/>
                  </a:cubicBezTo>
                  <a:lnTo>
                    <a:pt x="57759" y="102050"/>
                  </a:lnTo>
                  <a:lnTo>
                    <a:pt x="61018" y="101012"/>
                  </a:lnTo>
                  <a:lnTo>
                    <a:pt x="61581" y="97527"/>
                  </a:lnTo>
                  <a:cubicBezTo>
                    <a:pt x="62402" y="96994"/>
                    <a:pt x="63158" y="96358"/>
                    <a:pt x="63832" y="95633"/>
                  </a:cubicBezTo>
                  <a:lnTo>
                    <a:pt x="67186" y="95739"/>
                  </a:lnTo>
                  <a:lnTo>
                    <a:pt x="68804" y="92565"/>
                  </a:lnTo>
                  <a:lnTo>
                    <a:pt x="66867" y="89664"/>
                  </a:lnTo>
                  <a:cubicBezTo>
                    <a:pt x="67078" y="88677"/>
                    <a:pt x="67174" y="87668"/>
                    <a:pt x="67153" y="86657"/>
                  </a:cubicBezTo>
                  <a:lnTo>
                    <a:pt x="69610" y="84218"/>
                  </a:lnTo>
                  <a:lnTo>
                    <a:pt x="68623" y="80787"/>
                  </a:lnTo>
                  <a:lnTo>
                    <a:pt x="65312" y="80197"/>
                  </a:lnTo>
                  <a:cubicBezTo>
                    <a:pt x="64801" y="79333"/>
                    <a:pt x="64189" y="78538"/>
                    <a:pt x="63493" y="77832"/>
                  </a:cubicBezTo>
                  <a:lnTo>
                    <a:pt x="63593" y="74301"/>
                  </a:lnTo>
                  <a:lnTo>
                    <a:pt x="60584" y="72596"/>
                  </a:lnTo>
                  <a:lnTo>
                    <a:pt x="57840" y="74631"/>
                  </a:lnTo>
                  <a:cubicBezTo>
                    <a:pt x="56895" y="74410"/>
                    <a:pt x="55928" y="74311"/>
                    <a:pt x="54961" y="74337"/>
                  </a:cubicBezTo>
                  <a:close/>
                  <a:moveTo>
                    <a:pt x="3946" y="67618"/>
                  </a:moveTo>
                  <a:lnTo>
                    <a:pt x="14874" y="67618"/>
                  </a:lnTo>
                  <a:cubicBezTo>
                    <a:pt x="17053" y="67618"/>
                    <a:pt x="18820" y="69478"/>
                    <a:pt x="18820" y="71772"/>
                  </a:cubicBezTo>
                  <a:cubicBezTo>
                    <a:pt x="18820" y="74066"/>
                    <a:pt x="17053" y="75926"/>
                    <a:pt x="14874" y="75926"/>
                  </a:cubicBezTo>
                  <a:lnTo>
                    <a:pt x="3946" y="75926"/>
                  </a:lnTo>
                  <a:cubicBezTo>
                    <a:pt x="1767" y="75926"/>
                    <a:pt x="0" y="74066"/>
                    <a:pt x="0" y="71772"/>
                  </a:cubicBezTo>
                  <a:cubicBezTo>
                    <a:pt x="0" y="69478"/>
                    <a:pt x="1767" y="67618"/>
                    <a:pt x="3946" y="67618"/>
                  </a:cubicBezTo>
                  <a:close/>
                  <a:moveTo>
                    <a:pt x="60267" y="40729"/>
                  </a:moveTo>
                  <a:lnTo>
                    <a:pt x="57007" y="41767"/>
                  </a:lnTo>
                  <a:lnTo>
                    <a:pt x="56431" y="45256"/>
                  </a:lnTo>
                  <a:cubicBezTo>
                    <a:pt x="55612" y="45788"/>
                    <a:pt x="54858" y="46424"/>
                    <a:pt x="54185" y="47148"/>
                  </a:cubicBezTo>
                  <a:lnTo>
                    <a:pt x="50831" y="47042"/>
                  </a:lnTo>
                  <a:lnTo>
                    <a:pt x="49187" y="50224"/>
                  </a:lnTo>
                  <a:lnTo>
                    <a:pt x="51151" y="53119"/>
                  </a:lnTo>
                  <a:cubicBezTo>
                    <a:pt x="50943" y="54106"/>
                    <a:pt x="50849" y="55116"/>
                    <a:pt x="50870" y="56126"/>
                  </a:cubicBezTo>
                  <a:lnTo>
                    <a:pt x="48422" y="58554"/>
                  </a:lnTo>
                  <a:lnTo>
                    <a:pt x="49408" y="61985"/>
                  </a:lnTo>
                  <a:lnTo>
                    <a:pt x="52717" y="62575"/>
                  </a:lnTo>
                  <a:cubicBezTo>
                    <a:pt x="53229" y="63431"/>
                    <a:pt x="53838" y="64219"/>
                    <a:pt x="54531" y="64920"/>
                  </a:cubicBezTo>
                  <a:lnTo>
                    <a:pt x="54406" y="68490"/>
                  </a:lnTo>
                  <a:lnTo>
                    <a:pt x="57415" y="70195"/>
                  </a:lnTo>
                  <a:lnTo>
                    <a:pt x="60160" y="68160"/>
                  </a:lnTo>
                  <a:cubicBezTo>
                    <a:pt x="61098" y="68383"/>
                    <a:pt x="62058" y="68484"/>
                    <a:pt x="63019" y="68461"/>
                  </a:cubicBezTo>
                  <a:lnTo>
                    <a:pt x="65324" y="71038"/>
                  </a:lnTo>
                  <a:lnTo>
                    <a:pt x="68583" y="70000"/>
                  </a:lnTo>
                  <a:lnTo>
                    <a:pt x="69160" y="66511"/>
                  </a:lnTo>
                  <a:cubicBezTo>
                    <a:pt x="69975" y="65968"/>
                    <a:pt x="70723" y="65322"/>
                    <a:pt x="71389" y="64588"/>
                  </a:cubicBezTo>
                  <a:lnTo>
                    <a:pt x="74744" y="64694"/>
                  </a:lnTo>
                  <a:lnTo>
                    <a:pt x="76362" y="61526"/>
                  </a:lnTo>
                  <a:lnTo>
                    <a:pt x="74428" y="58652"/>
                  </a:lnTo>
                  <a:cubicBezTo>
                    <a:pt x="74651" y="57654"/>
                    <a:pt x="74756" y="56630"/>
                    <a:pt x="74740" y="55605"/>
                  </a:cubicBezTo>
                  <a:lnTo>
                    <a:pt x="77188" y="53179"/>
                  </a:lnTo>
                  <a:lnTo>
                    <a:pt x="76202" y="49746"/>
                  </a:lnTo>
                  <a:lnTo>
                    <a:pt x="72891" y="49156"/>
                  </a:lnTo>
                  <a:cubicBezTo>
                    <a:pt x="72379" y="48300"/>
                    <a:pt x="71771" y="47513"/>
                    <a:pt x="71078" y="46812"/>
                  </a:cubicBezTo>
                  <a:lnTo>
                    <a:pt x="71180" y="43262"/>
                  </a:lnTo>
                  <a:lnTo>
                    <a:pt x="68171" y="41559"/>
                  </a:lnTo>
                  <a:lnTo>
                    <a:pt x="65424" y="43586"/>
                  </a:lnTo>
                  <a:cubicBezTo>
                    <a:pt x="64487" y="43365"/>
                    <a:pt x="63528" y="43264"/>
                    <a:pt x="62567" y="43285"/>
                  </a:cubicBezTo>
                  <a:close/>
                  <a:moveTo>
                    <a:pt x="10491" y="31563"/>
                  </a:moveTo>
                  <a:lnTo>
                    <a:pt x="22867" y="37071"/>
                  </a:lnTo>
                  <a:cubicBezTo>
                    <a:pt x="24874" y="37964"/>
                    <a:pt x="25813" y="40402"/>
                    <a:pt x="24964" y="42514"/>
                  </a:cubicBezTo>
                  <a:cubicBezTo>
                    <a:pt x="24346" y="44052"/>
                    <a:pt x="22914" y="45051"/>
                    <a:pt x="21328" y="45050"/>
                  </a:cubicBezTo>
                  <a:cubicBezTo>
                    <a:pt x="20800" y="45051"/>
                    <a:pt x="20277" y="44939"/>
                    <a:pt x="19791" y="44722"/>
                  </a:cubicBezTo>
                  <a:lnTo>
                    <a:pt x="7417" y="39214"/>
                  </a:lnTo>
                  <a:cubicBezTo>
                    <a:pt x="5415" y="38306"/>
                    <a:pt x="4493" y="35862"/>
                    <a:pt x="5355" y="33755"/>
                  </a:cubicBezTo>
                  <a:cubicBezTo>
                    <a:pt x="6210" y="31669"/>
                    <a:pt x="8498" y="30693"/>
                    <a:pt x="10491" y="31563"/>
                  </a:cubicBezTo>
                  <a:close/>
                  <a:moveTo>
                    <a:pt x="111035" y="3977"/>
                  </a:moveTo>
                  <a:cubicBezTo>
                    <a:pt x="120661" y="3312"/>
                    <a:pt x="128976" y="10987"/>
                    <a:pt x="129607" y="21118"/>
                  </a:cubicBezTo>
                  <a:cubicBezTo>
                    <a:pt x="129758" y="21161"/>
                    <a:pt x="129908" y="21205"/>
                    <a:pt x="130057" y="21252"/>
                  </a:cubicBezTo>
                  <a:cubicBezTo>
                    <a:pt x="138829" y="24005"/>
                    <a:pt x="143821" y="33721"/>
                    <a:pt x="141206" y="42955"/>
                  </a:cubicBezTo>
                  <a:cubicBezTo>
                    <a:pt x="141709" y="43216"/>
                    <a:pt x="142202" y="43499"/>
                    <a:pt x="142683" y="43804"/>
                  </a:cubicBezTo>
                  <a:cubicBezTo>
                    <a:pt x="152162" y="49809"/>
                    <a:pt x="155222" y="62764"/>
                    <a:pt x="149517" y="72741"/>
                  </a:cubicBezTo>
                  <a:cubicBezTo>
                    <a:pt x="153588" y="76889"/>
                    <a:pt x="155884" y="82599"/>
                    <a:pt x="155880" y="88563"/>
                  </a:cubicBezTo>
                  <a:cubicBezTo>
                    <a:pt x="155879" y="97190"/>
                    <a:pt x="151099" y="105024"/>
                    <a:pt x="143647" y="108615"/>
                  </a:cubicBezTo>
                  <a:cubicBezTo>
                    <a:pt x="143647" y="108677"/>
                    <a:pt x="143647" y="108738"/>
                    <a:pt x="143647" y="108798"/>
                  </a:cubicBezTo>
                  <a:cubicBezTo>
                    <a:pt x="143648" y="110262"/>
                    <a:pt x="143499" y="111721"/>
                    <a:pt x="143201" y="113151"/>
                  </a:cubicBezTo>
                  <a:cubicBezTo>
                    <a:pt x="140929" y="124055"/>
                    <a:pt x="130689" y="130955"/>
                    <a:pt x="120330" y="128563"/>
                  </a:cubicBezTo>
                  <a:cubicBezTo>
                    <a:pt x="118615" y="134314"/>
                    <a:pt x="113552" y="138228"/>
                    <a:pt x="107825" y="138229"/>
                  </a:cubicBezTo>
                  <a:cubicBezTo>
                    <a:pt x="100585" y="138232"/>
                    <a:pt x="94714" y="132056"/>
                    <a:pt x="94712" y="124435"/>
                  </a:cubicBezTo>
                  <a:lnTo>
                    <a:pt x="94712" y="22342"/>
                  </a:lnTo>
                  <a:cubicBezTo>
                    <a:pt x="94702" y="12648"/>
                    <a:pt x="101845" y="4612"/>
                    <a:pt x="111035" y="3977"/>
                  </a:cubicBezTo>
                  <a:close/>
                  <a:moveTo>
                    <a:pt x="69343" y="3945"/>
                  </a:moveTo>
                  <a:cubicBezTo>
                    <a:pt x="69344" y="3945"/>
                    <a:pt x="69345" y="3945"/>
                    <a:pt x="69345" y="3945"/>
                  </a:cubicBezTo>
                  <a:cubicBezTo>
                    <a:pt x="78997" y="3946"/>
                    <a:pt x="86821" y="12183"/>
                    <a:pt x="86820" y="22342"/>
                  </a:cubicBezTo>
                  <a:lnTo>
                    <a:pt x="86820" y="124435"/>
                  </a:lnTo>
                  <a:cubicBezTo>
                    <a:pt x="86807" y="130441"/>
                    <a:pt x="83104" y="135749"/>
                    <a:pt x="77663" y="137560"/>
                  </a:cubicBezTo>
                  <a:cubicBezTo>
                    <a:pt x="70760" y="139857"/>
                    <a:pt x="63396" y="135829"/>
                    <a:pt x="61214" y="128564"/>
                  </a:cubicBezTo>
                  <a:cubicBezTo>
                    <a:pt x="59856" y="128877"/>
                    <a:pt x="58470" y="129035"/>
                    <a:pt x="57080" y="129033"/>
                  </a:cubicBezTo>
                  <a:cubicBezTo>
                    <a:pt x="46474" y="129021"/>
                    <a:pt x="37884" y="119962"/>
                    <a:pt x="37895" y="108798"/>
                  </a:cubicBezTo>
                  <a:cubicBezTo>
                    <a:pt x="37895" y="108738"/>
                    <a:pt x="37895" y="108678"/>
                    <a:pt x="37895" y="108615"/>
                  </a:cubicBezTo>
                  <a:cubicBezTo>
                    <a:pt x="35522" y="107475"/>
                    <a:pt x="33372" y="105878"/>
                    <a:pt x="31557" y="103907"/>
                  </a:cubicBezTo>
                  <a:cubicBezTo>
                    <a:pt x="23507" y="95167"/>
                    <a:pt x="23713" y="81214"/>
                    <a:pt x="32017" y="72741"/>
                  </a:cubicBezTo>
                  <a:cubicBezTo>
                    <a:pt x="31726" y="72233"/>
                    <a:pt x="31456" y="71712"/>
                    <a:pt x="31206" y="71179"/>
                  </a:cubicBezTo>
                  <a:cubicBezTo>
                    <a:pt x="26320" y="60735"/>
                    <a:pt x="30403" y="48098"/>
                    <a:pt x="40326" y="42955"/>
                  </a:cubicBezTo>
                  <a:cubicBezTo>
                    <a:pt x="40281" y="42797"/>
                    <a:pt x="40238" y="42638"/>
                    <a:pt x="40198" y="42478"/>
                  </a:cubicBezTo>
                  <a:cubicBezTo>
                    <a:pt x="37832" y="33170"/>
                    <a:pt x="43083" y="23607"/>
                    <a:pt x="51926" y="21117"/>
                  </a:cubicBezTo>
                  <a:cubicBezTo>
                    <a:pt x="52531" y="11459"/>
                    <a:pt x="60148" y="3949"/>
                    <a:pt x="69343" y="3945"/>
                  </a:cubicBezTo>
                  <a:close/>
                  <a:moveTo>
                    <a:pt x="29270" y="1166"/>
                  </a:moveTo>
                  <a:cubicBezTo>
                    <a:pt x="29303" y="1199"/>
                    <a:pt x="29335" y="1233"/>
                    <a:pt x="29367" y="1268"/>
                  </a:cubicBezTo>
                  <a:lnTo>
                    <a:pt x="37737" y="10080"/>
                  </a:lnTo>
                  <a:cubicBezTo>
                    <a:pt x="39278" y="11703"/>
                    <a:pt x="39278" y="14333"/>
                    <a:pt x="37736" y="15955"/>
                  </a:cubicBezTo>
                  <a:cubicBezTo>
                    <a:pt x="36996" y="16733"/>
                    <a:pt x="35993" y="17171"/>
                    <a:pt x="34947" y="17171"/>
                  </a:cubicBezTo>
                  <a:cubicBezTo>
                    <a:pt x="33900" y="17172"/>
                    <a:pt x="32896" y="16734"/>
                    <a:pt x="32157" y="15954"/>
                  </a:cubicBezTo>
                  <a:lnTo>
                    <a:pt x="23787" y="7141"/>
                  </a:lnTo>
                  <a:cubicBezTo>
                    <a:pt x="22219" y="5548"/>
                    <a:pt x="22176" y="2918"/>
                    <a:pt x="23690" y="1268"/>
                  </a:cubicBezTo>
                  <a:cubicBezTo>
                    <a:pt x="25204" y="-382"/>
                    <a:pt x="27702" y="-428"/>
                    <a:pt x="29270" y="1166"/>
                  </a:cubicBezTo>
                  <a:close/>
                </a:path>
              </a:pathLst>
            </a:custGeom>
            <a:gradFill>
              <a:gsLst>
                <a:gs pos="2917">
                  <a:schemeClr val="accent1"/>
                </a:gs>
                <a:gs pos="100000">
                  <a:schemeClr val="accent2"/>
                </a:gs>
              </a:gsLst>
              <a:lin ang="5400000" scaled="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01D2B0F7-0521-33DA-1DC4-0A9238756D61}"/>
                </a:ext>
              </a:extLst>
            </p:cNvPr>
            <p:cNvSpPr/>
            <p:nvPr/>
          </p:nvSpPr>
          <p:spPr>
            <a:xfrm>
              <a:off x="1029503" y="3742804"/>
              <a:ext cx="10239" cy="10778"/>
            </a:xfrm>
            <a:custGeom>
              <a:avLst/>
              <a:gdLst>
                <a:gd name="connsiteX0" fmla="*/ 3646 w 10239"/>
                <a:gd name="connsiteY0" fmla="*/ 230 h 10778"/>
                <a:gd name="connsiteX1" fmla="*/ 218 w 10239"/>
                <a:gd name="connsiteY1" fmla="*/ 6940 h 10778"/>
                <a:gd name="connsiteX2" fmla="*/ 6593 w 10239"/>
                <a:gd name="connsiteY2" fmla="*/ 10549 h 10778"/>
                <a:gd name="connsiteX3" fmla="*/ 10022 w 10239"/>
                <a:gd name="connsiteY3" fmla="*/ 3840 h 10778"/>
                <a:gd name="connsiteX4" fmla="*/ 3651 w 10239"/>
                <a:gd name="connsiteY4" fmla="*/ 228 h 10778"/>
                <a:gd name="connsiteX5" fmla="*/ 3646 w 10239"/>
                <a:gd name="connsiteY5" fmla="*/ 230 h 10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39" h="10778">
                  <a:moveTo>
                    <a:pt x="3646" y="230"/>
                  </a:moveTo>
                  <a:cubicBezTo>
                    <a:pt x="939" y="1086"/>
                    <a:pt x="-596" y="4091"/>
                    <a:pt x="218" y="6940"/>
                  </a:cubicBezTo>
                  <a:cubicBezTo>
                    <a:pt x="1032" y="9790"/>
                    <a:pt x="3886" y="11405"/>
                    <a:pt x="6593" y="10549"/>
                  </a:cubicBezTo>
                  <a:cubicBezTo>
                    <a:pt x="9300" y="9692"/>
                    <a:pt x="10835" y="6689"/>
                    <a:pt x="10022" y="3840"/>
                  </a:cubicBezTo>
                  <a:cubicBezTo>
                    <a:pt x="9210" y="991"/>
                    <a:pt x="6358" y="-626"/>
                    <a:pt x="3651" y="228"/>
                  </a:cubicBezTo>
                  <a:cubicBezTo>
                    <a:pt x="3650" y="229"/>
                    <a:pt x="3648" y="229"/>
                    <a:pt x="3646" y="230"/>
                  </a:cubicBezTo>
                  <a:close/>
                </a:path>
              </a:pathLst>
            </a:custGeom>
            <a:solidFill>
              <a:srgbClr val="0078D4"/>
            </a:solidFill>
            <a:ln w="18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92750B83-3B8D-9312-4DF5-9F3C2DA841DD}"/>
                </a:ext>
              </a:extLst>
            </p:cNvPr>
            <p:cNvSpPr/>
            <p:nvPr/>
          </p:nvSpPr>
          <p:spPr>
            <a:xfrm>
              <a:off x="1021910" y="3773839"/>
              <a:ext cx="10239" cy="10778"/>
            </a:xfrm>
            <a:custGeom>
              <a:avLst/>
              <a:gdLst>
                <a:gd name="connsiteX0" fmla="*/ 3646 w 10239"/>
                <a:gd name="connsiteY0" fmla="*/ 230 h 10778"/>
                <a:gd name="connsiteX1" fmla="*/ 218 w 10239"/>
                <a:gd name="connsiteY1" fmla="*/ 6940 h 10778"/>
                <a:gd name="connsiteX2" fmla="*/ 6593 w 10239"/>
                <a:gd name="connsiteY2" fmla="*/ 10549 h 10778"/>
                <a:gd name="connsiteX3" fmla="*/ 10022 w 10239"/>
                <a:gd name="connsiteY3" fmla="*/ 3839 h 10778"/>
                <a:gd name="connsiteX4" fmla="*/ 3651 w 10239"/>
                <a:gd name="connsiteY4" fmla="*/ 228 h 10778"/>
                <a:gd name="connsiteX5" fmla="*/ 3646 w 10239"/>
                <a:gd name="connsiteY5" fmla="*/ 230 h 10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239" h="10778">
                  <a:moveTo>
                    <a:pt x="3646" y="230"/>
                  </a:moveTo>
                  <a:cubicBezTo>
                    <a:pt x="939" y="1086"/>
                    <a:pt x="-596" y="4091"/>
                    <a:pt x="218" y="6940"/>
                  </a:cubicBezTo>
                  <a:cubicBezTo>
                    <a:pt x="1032" y="9790"/>
                    <a:pt x="3886" y="11405"/>
                    <a:pt x="6593" y="10549"/>
                  </a:cubicBezTo>
                  <a:cubicBezTo>
                    <a:pt x="9300" y="9692"/>
                    <a:pt x="10835" y="6689"/>
                    <a:pt x="10022" y="3839"/>
                  </a:cubicBezTo>
                  <a:cubicBezTo>
                    <a:pt x="9210" y="991"/>
                    <a:pt x="6358" y="-626"/>
                    <a:pt x="3651" y="228"/>
                  </a:cubicBezTo>
                  <a:cubicBezTo>
                    <a:pt x="3650" y="229"/>
                    <a:pt x="3648" y="229"/>
                    <a:pt x="3646" y="230"/>
                  </a:cubicBezTo>
                  <a:close/>
                </a:path>
              </a:pathLst>
            </a:custGeom>
            <a:solidFill>
              <a:srgbClr val="0078D4"/>
            </a:solidFill>
            <a:ln w="18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034" name="Graphic 11">
            <a:extLst>
              <a:ext uri="{FF2B5EF4-FFF2-40B4-BE49-F238E27FC236}">
                <a16:creationId xmlns:a16="http://schemas.microsoft.com/office/drawing/2014/main" id="{3A3B2532-F003-EC4C-B838-55A40EDBE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76506" y="3881898"/>
            <a:ext cx="297552" cy="299270"/>
          </a:xfrm>
          <a:custGeom>
            <a:avLst/>
            <a:gdLst>
              <a:gd name="connsiteX0" fmla="*/ 30956 w 171450"/>
              <a:gd name="connsiteY0" fmla="*/ 0 h 171450"/>
              <a:gd name="connsiteX1" fmla="*/ 0 w 171450"/>
              <a:gd name="connsiteY1" fmla="*/ 30956 h 171450"/>
              <a:gd name="connsiteX2" fmla="*/ 0 w 171450"/>
              <a:gd name="connsiteY2" fmla="*/ 140494 h 171450"/>
              <a:gd name="connsiteX3" fmla="*/ 30956 w 171450"/>
              <a:gd name="connsiteY3" fmla="*/ 171450 h 171450"/>
              <a:gd name="connsiteX4" fmla="*/ 140494 w 171450"/>
              <a:gd name="connsiteY4" fmla="*/ 171450 h 171450"/>
              <a:gd name="connsiteX5" fmla="*/ 171450 w 171450"/>
              <a:gd name="connsiteY5" fmla="*/ 140494 h 171450"/>
              <a:gd name="connsiteX6" fmla="*/ 171450 w 171450"/>
              <a:gd name="connsiteY6" fmla="*/ 30956 h 171450"/>
              <a:gd name="connsiteX7" fmla="*/ 140494 w 171450"/>
              <a:gd name="connsiteY7" fmla="*/ 0 h 171450"/>
              <a:gd name="connsiteX8" fmla="*/ 30956 w 171450"/>
              <a:gd name="connsiteY8" fmla="*/ 0 h 171450"/>
              <a:gd name="connsiteX9" fmla="*/ 136017 w 171450"/>
              <a:gd name="connsiteY9" fmla="*/ 59823 h 171450"/>
              <a:gd name="connsiteX10" fmla="*/ 71688 w 171450"/>
              <a:gd name="connsiteY10" fmla="*/ 124078 h 171450"/>
              <a:gd name="connsiteX11" fmla="*/ 61588 w 171450"/>
              <a:gd name="connsiteY11" fmla="*/ 124075 h 171450"/>
              <a:gd name="connsiteX12" fmla="*/ 35434 w 171450"/>
              <a:gd name="connsiteY12" fmla="*/ 97920 h 171450"/>
              <a:gd name="connsiteX13" fmla="*/ 35435 w 171450"/>
              <a:gd name="connsiteY13" fmla="*/ 87817 h 171450"/>
              <a:gd name="connsiteX14" fmla="*/ 45538 w 171450"/>
              <a:gd name="connsiteY14" fmla="*/ 87818 h 171450"/>
              <a:gd name="connsiteX15" fmla="*/ 66642 w 171450"/>
              <a:gd name="connsiteY15" fmla="*/ 108924 h 171450"/>
              <a:gd name="connsiteX16" fmla="*/ 125920 w 171450"/>
              <a:gd name="connsiteY16" fmla="*/ 49714 h 171450"/>
              <a:gd name="connsiteX17" fmla="*/ 136023 w 171450"/>
              <a:gd name="connsiteY17" fmla="*/ 49720 h 171450"/>
              <a:gd name="connsiteX18" fmla="*/ 136017 w 171450"/>
              <a:gd name="connsiteY18" fmla="*/ 59823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71450" h="171450">
                <a:moveTo>
                  <a:pt x="30956" y="0"/>
                </a:moveTo>
                <a:cubicBezTo>
                  <a:pt x="13860" y="0"/>
                  <a:pt x="0" y="13860"/>
                  <a:pt x="0" y="30956"/>
                </a:cubicBezTo>
                <a:lnTo>
                  <a:pt x="0" y="140494"/>
                </a:lnTo>
                <a:cubicBezTo>
                  <a:pt x="0" y="157590"/>
                  <a:pt x="13860" y="171450"/>
                  <a:pt x="30956" y="171450"/>
                </a:cubicBezTo>
                <a:lnTo>
                  <a:pt x="140494" y="171450"/>
                </a:lnTo>
                <a:cubicBezTo>
                  <a:pt x="157590" y="171450"/>
                  <a:pt x="171450" y="157590"/>
                  <a:pt x="171450" y="140494"/>
                </a:cubicBezTo>
                <a:lnTo>
                  <a:pt x="171450" y="30956"/>
                </a:lnTo>
                <a:cubicBezTo>
                  <a:pt x="171450" y="13860"/>
                  <a:pt x="157590" y="0"/>
                  <a:pt x="140494" y="0"/>
                </a:cubicBezTo>
                <a:lnTo>
                  <a:pt x="30956" y="0"/>
                </a:lnTo>
                <a:close/>
                <a:moveTo>
                  <a:pt x="136017" y="59823"/>
                </a:moveTo>
                <a:lnTo>
                  <a:pt x="71688" y="124078"/>
                </a:lnTo>
                <a:cubicBezTo>
                  <a:pt x="68897" y="126865"/>
                  <a:pt x="64376" y="126863"/>
                  <a:pt x="61588" y="124075"/>
                </a:cubicBezTo>
                <a:lnTo>
                  <a:pt x="35434" y="97920"/>
                </a:lnTo>
                <a:cubicBezTo>
                  <a:pt x="32645" y="95130"/>
                  <a:pt x="32645" y="90607"/>
                  <a:pt x="35435" y="87817"/>
                </a:cubicBezTo>
                <a:cubicBezTo>
                  <a:pt x="38225" y="85028"/>
                  <a:pt x="42748" y="85028"/>
                  <a:pt x="45538" y="87818"/>
                </a:cubicBezTo>
                <a:lnTo>
                  <a:pt x="66642" y="108924"/>
                </a:lnTo>
                <a:lnTo>
                  <a:pt x="125920" y="49714"/>
                </a:lnTo>
                <a:cubicBezTo>
                  <a:pt x="128711" y="46926"/>
                  <a:pt x="133235" y="46929"/>
                  <a:pt x="136023" y="49720"/>
                </a:cubicBezTo>
                <a:cubicBezTo>
                  <a:pt x="138812" y="52512"/>
                  <a:pt x="138809" y="57035"/>
                  <a:pt x="136017" y="59823"/>
                </a:cubicBezTo>
                <a:close/>
              </a:path>
            </a:pathLst>
          </a:custGeom>
          <a:gradFill>
            <a:gsLst>
              <a:gs pos="2917">
                <a:schemeClr val="accent1"/>
              </a:gs>
              <a:gs pos="100000">
                <a:schemeClr val="accent2"/>
              </a:gs>
            </a:gsLst>
            <a:lin ang="54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EFB29A0-5EC6-0695-EEE5-7E705C69B65C}"/>
              </a:ext>
            </a:extLst>
          </p:cNvPr>
          <p:cNvSpPr txBox="1"/>
          <p:nvPr/>
        </p:nvSpPr>
        <p:spPr>
          <a:xfrm>
            <a:off x="8397450" y="4409777"/>
            <a:ext cx="2067874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Mission critical engine</a:t>
            </a:r>
          </a:p>
        </p:txBody>
      </p:sp>
      <p:sp>
        <p:nvSpPr>
          <p:cNvPr id="25" name="Rectangle: Rounded Corners 135">
            <a:extLst>
              <a:ext uri="{FF2B5EF4-FFF2-40B4-BE49-F238E27FC236}">
                <a16:creationId xmlns:a16="http://schemas.microsoft.com/office/drawing/2014/main" id="{26B42FE9-4880-49F3-02C7-69F445A78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3406" y="4989675"/>
            <a:ext cx="11025188" cy="1373025"/>
          </a:xfrm>
          <a:prstGeom prst="roundRect">
            <a:avLst>
              <a:gd name="adj" fmla="val 12876"/>
            </a:avLst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3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67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50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3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18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01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284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469" algn="l" defTabSz="914367" rtl="0" eaLnBrk="1" latinLnBrk="0" hangingPunct="1">
              <a:defRPr sz="1765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pic>
        <p:nvPicPr>
          <p:cNvPr id="9" name="Graphic 8" descr="Azure Arc icon">
            <a:extLst>
              <a:ext uri="{FF2B5EF4-FFF2-40B4-BE49-F238E27FC236}">
                <a16:creationId xmlns:a16="http://schemas.microsoft.com/office/drawing/2014/main" id="{50CEDF9D-2E6A-587B-7283-2384979B67F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549964" y="5233232"/>
            <a:ext cx="515093" cy="515093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F21F1A33-F33F-F5DB-0E92-90CA19495B34}"/>
              </a:ext>
            </a:extLst>
          </p:cNvPr>
          <p:cNvSpPr txBox="1"/>
          <p:nvPr/>
        </p:nvSpPr>
        <p:spPr>
          <a:xfrm>
            <a:off x="1121055" y="5842892"/>
            <a:ext cx="135973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Connected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with Arc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FA17D01-C3B9-D061-5073-ADC576845882}"/>
              </a:ext>
            </a:extLst>
          </p:cNvPr>
          <p:cNvSpPr txBox="1"/>
          <p:nvPr/>
        </p:nvSpPr>
        <p:spPr>
          <a:xfrm>
            <a:off x="5553526" y="5842892"/>
            <a:ext cx="78297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Assisted by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Copilots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ED2E9EF-8312-7FFA-2341-CD4D64E7218D}"/>
              </a:ext>
            </a:extLst>
          </p:cNvPr>
          <p:cNvSpPr txBox="1"/>
          <p:nvPr/>
        </p:nvSpPr>
        <p:spPr>
          <a:xfrm>
            <a:off x="7658021" y="5842892"/>
            <a:ext cx="84318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Benchmark</a:t>
            </a:r>
            <a:r>
              <a:rPr kumimoji="0" lang="en-US" sz="1200" b="0" i="0" u="none" strike="noStrike" kern="1200" cap="none" spc="0" normalizeH="0" baseline="3000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leader</a:t>
            </a:r>
          </a:p>
        </p:txBody>
      </p:sp>
      <p:pic>
        <p:nvPicPr>
          <p:cNvPr id="1040" name="Picture 1039" descr="Image">
            <a:extLst>
              <a:ext uri="{FF2B5EF4-FFF2-40B4-BE49-F238E27FC236}">
                <a16:creationId xmlns:a16="http://schemas.microsoft.com/office/drawing/2014/main" id="{FD8184CB-0D57-DA95-37AB-07D4F65C0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print">
            <a:clrChange>
              <a:clrFrom>
                <a:srgbClr val="212121"/>
              </a:clrFrom>
              <a:clrTo>
                <a:srgbClr val="21212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3900" y="5141363"/>
            <a:ext cx="406009" cy="32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035">
            <a:extLst>
              <a:ext uri="{FF2B5EF4-FFF2-40B4-BE49-F238E27FC236}">
                <a16:creationId xmlns:a16="http://schemas.microsoft.com/office/drawing/2014/main" id="{64BAC4CE-0929-0BE3-4933-E825D8A6C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9" cstate="print">
            <a:duotone>
              <a:srgbClr val="0078D7">
                <a:shade val="45000"/>
                <a:satMod val="135000"/>
              </a:srgbClr>
              <a:prstClr val="white"/>
            </a:duotone>
            <a:lum bright="14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3477" y="5533382"/>
            <a:ext cx="226855" cy="270066"/>
          </a:xfrm>
          <a:prstGeom prst="rect">
            <a:avLst/>
          </a:prstGeom>
        </p:spPr>
      </p:pic>
      <p:pic>
        <p:nvPicPr>
          <p:cNvPr id="1037" name="Picture 1036">
            <a:extLst>
              <a:ext uri="{FF2B5EF4-FFF2-40B4-BE49-F238E27FC236}">
                <a16:creationId xmlns:a16="http://schemas.microsoft.com/office/drawing/2014/main" id="{1F15B05C-95CE-C8E0-DC76-5E068ACCB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118"/>
          <a:stretch/>
        </p:blipFill>
        <p:spPr>
          <a:xfrm>
            <a:off x="10366698" y="5516948"/>
            <a:ext cx="520824" cy="304985"/>
          </a:xfrm>
          <a:prstGeom prst="rect">
            <a:avLst/>
          </a:prstGeom>
        </p:spPr>
      </p:pic>
      <p:pic>
        <p:nvPicPr>
          <p:cNvPr id="1038" name="Picture 2" descr="See the source image">
            <a:extLst>
              <a:ext uri="{FF2B5EF4-FFF2-40B4-BE49-F238E27FC236}">
                <a16:creationId xmlns:a16="http://schemas.microsoft.com/office/drawing/2014/main" id="{2CFF9737-034E-2A05-48DC-D502E86DEC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53" t="24336" r="31353" b="24336"/>
          <a:stretch/>
        </p:blipFill>
        <p:spPr bwMode="auto">
          <a:xfrm>
            <a:off x="10483472" y="5131850"/>
            <a:ext cx="287276" cy="289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TextBox 1038">
            <a:extLst>
              <a:ext uri="{FF2B5EF4-FFF2-40B4-BE49-F238E27FC236}">
                <a16:creationId xmlns:a16="http://schemas.microsoft.com/office/drawing/2014/main" id="{E5D5F0DB-2BAF-707E-6654-8A578E4B67CB}"/>
              </a:ext>
            </a:extLst>
          </p:cNvPr>
          <p:cNvSpPr txBox="1"/>
          <p:nvPr/>
        </p:nvSpPr>
        <p:spPr>
          <a:xfrm>
            <a:off x="9925075" y="5842892"/>
            <a:ext cx="8779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Built for all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platforms</a:t>
            </a: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8E5763F6-2BD7-24A5-6DCB-82ACCC097470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390737" y="4956630"/>
            <a:ext cx="1011577" cy="1011577"/>
          </a:xfrm>
          <a:prstGeom prst="rect">
            <a:avLst/>
          </a:prstGeom>
        </p:spPr>
      </p:pic>
      <p:pic>
        <p:nvPicPr>
          <p:cNvPr id="39" name="Picture 2" descr="Microsoft 365 Copilot Logo, symbol, meaning, history, PNG, brand">
            <a:extLst>
              <a:ext uri="{FF2B5EF4-FFF2-40B4-BE49-F238E27FC236}">
                <a16:creationId xmlns:a16="http://schemas.microsoft.com/office/drawing/2014/main" id="{C82B7B77-044A-F16E-0E97-43A3D668C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897" y="5468034"/>
            <a:ext cx="624845" cy="35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9889EC1-45E8-64AE-D7BA-37833129C198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451183" y="3533145"/>
            <a:ext cx="1289634" cy="1289634"/>
          </a:xfrm>
          <a:prstGeom prst="rect">
            <a:avLst/>
          </a:prstGeom>
        </p:spPr>
      </p:pic>
      <p:pic>
        <p:nvPicPr>
          <p:cNvPr id="7" name="Picture 2" descr="Nvidia PNG Images Transparent Free Download | PNGMart.com">
            <a:extLst>
              <a:ext uri="{FF2B5EF4-FFF2-40B4-BE49-F238E27FC236}">
                <a16:creationId xmlns:a16="http://schemas.microsoft.com/office/drawing/2014/main" id="{9EFE3BD8-AAF5-5B29-59C9-C1DA9CD34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7689" y="2440740"/>
            <a:ext cx="551411" cy="428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9">
            <a:extLst>
              <a:ext uri="{FF2B5EF4-FFF2-40B4-BE49-F238E27FC236}">
                <a16:creationId xmlns:a16="http://schemas.microsoft.com/office/drawing/2014/main" id="{3670C64B-95AF-D19A-C273-754E12AA8384}"/>
              </a:ext>
            </a:extLst>
          </p:cNvPr>
          <p:cNvSpPr/>
          <p:nvPr/>
        </p:nvSpPr>
        <p:spPr>
          <a:xfrm>
            <a:off x="7925309" y="5260326"/>
            <a:ext cx="322607" cy="460903"/>
          </a:xfrm>
          <a:custGeom>
            <a:avLst/>
            <a:gdLst>
              <a:gd name="connsiteX0" fmla="*/ 141557 w 274153"/>
              <a:gd name="connsiteY0" fmla="*/ 71326 h 391678"/>
              <a:gd name="connsiteX1" fmla="*/ 159428 w 274153"/>
              <a:gd name="connsiteY1" fmla="*/ 107605 h 391678"/>
              <a:gd name="connsiteX2" fmla="*/ 199453 w 274153"/>
              <a:gd name="connsiteY2" fmla="*/ 113389 h 391678"/>
              <a:gd name="connsiteX3" fmla="*/ 202224 w 274153"/>
              <a:gd name="connsiteY3" fmla="*/ 121909 h 391678"/>
              <a:gd name="connsiteX4" fmla="*/ 173275 w 274153"/>
              <a:gd name="connsiteY4" fmla="*/ 150117 h 391678"/>
              <a:gd name="connsiteX5" fmla="*/ 180109 w 274153"/>
              <a:gd name="connsiteY5" fmla="*/ 189975 h 391678"/>
              <a:gd name="connsiteX6" fmla="*/ 172860 w 274153"/>
              <a:gd name="connsiteY6" fmla="*/ 195237 h 391678"/>
              <a:gd name="connsiteX7" fmla="*/ 137079 w 274153"/>
              <a:gd name="connsiteY7" fmla="*/ 176391 h 391678"/>
              <a:gd name="connsiteX8" fmla="*/ 101296 w 274153"/>
              <a:gd name="connsiteY8" fmla="*/ 195237 h 391678"/>
              <a:gd name="connsiteX9" fmla="*/ 94048 w 274153"/>
              <a:gd name="connsiteY9" fmla="*/ 189971 h 391678"/>
              <a:gd name="connsiteX10" fmla="*/ 100916 w 274153"/>
              <a:gd name="connsiteY10" fmla="*/ 150117 h 391678"/>
              <a:gd name="connsiteX11" fmla="*/ 71934 w 274153"/>
              <a:gd name="connsiteY11" fmla="*/ 121911 h 391678"/>
              <a:gd name="connsiteX12" fmla="*/ 74703 w 274153"/>
              <a:gd name="connsiteY12" fmla="*/ 113389 h 391678"/>
              <a:gd name="connsiteX13" fmla="*/ 114728 w 274153"/>
              <a:gd name="connsiteY13" fmla="*/ 107605 h 391678"/>
              <a:gd name="connsiteX14" fmla="*/ 132598 w 274153"/>
              <a:gd name="connsiteY14" fmla="*/ 71326 h 391678"/>
              <a:gd name="connsiteX15" fmla="*/ 141557 w 274153"/>
              <a:gd name="connsiteY15" fmla="*/ 71326 h 391678"/>
              <a:gd name="connsiteX16" fmla="*/ 274154 w 274153"/>
              <a:gd name="connsiteY16" fmla="*/ 137077 h 391678"/>
              <a:gd name="connsiteX17" fmla="*/ 137077 w 274153"/>
              <a:gd name="connsiteY17" fmla="*/ 0 h 391678"/>
              <a:gd name="connsiteX18" fmla="*/ 0 w 274153"/>
              <a:gd name="connsiteY18" fmla="*/ 137077 h 391678"/>
              <a:gd name="connsiteX19" fmla="*/ 39153 w 274153"/>
              <a:gd name="connsiteY19" fmla="*/ 232997 h 391678"/>
              <a:gd name="connsiteX20" fmla="*/ 39181 w 274153"/>
              <a:gd name="connsiteY20" fmla="*/ 376965 h 391678"/>
              <a:gd name="connsiteX21" fmla="*/ 39316 w 274153"/>
              <a:gd name="connsiteY21" fmla="*/ 379012 h 391678"/>
              <a:gd name="connsiteX22" fmla="*/ 62324 w 274153"/>
              <a:gd name="connsiteY22" fmla="*/ 388973 h 391678"/>
              <a:gd name="connsiteX23" fmla="*/ 137059 w 274153"/>
              <a:gd name="connsiteY23" fmla="*/ 336342 h 391678"/>
              <a:gd name="connsiteX24" fmla="*/ 211833 w 274153"/>
              <a:gd name="connsiteY24" fmla="*/ 388975 h 391678"/>
              <a:gd name="connsiteX25" fmla="*/ 213585 w 274153"/>
              <a:gd name="connsiteY25" fmla="*/ 390043 h 391678"/>
              <a:gd name="connsiteX26" fmla="*/ 234973 w 274153"/>
              <a:gd name="connsiteY26" fmla="*/ 376965 h 391678"/>
              <a:gd name="connsiteX27" fmla="*/ 235001 w 274153"/>
              <a:gd name="connsiteY27" fmla="*/ 232997 h 391678"/>
              <a:gd name="connsiteX28" fmla="*/ 274154 w 274153"/>
              <a:gd name="connsiteY28" fmla="*/ 137077 h 391678"/>
              <a:gd name="connsiteX29" fmla="*/ 205604 w 274153"/>
              <a:gd name="connsiteY29" fmla="*/ 255823 h 391678"/>
              <a:gd name="connsiteX30" fmla="*/ 205600 w 274153"/>
              <a:gd name="connsiteY30" fmla="*/ 348667 h 391678"/>
              <a:gd name="connsiteX31" fmla="*/ 145509 w 274153"/>
              <a:gd name="connsiteY31" fmla="*/ 306371 h 391678"/>
              <a:gd name="connsiteX32" fmla="*/ 143535 w 274153"/>
              <a:gd name="connsiteY32" fmla="*/ 305198 h 391678"/>
              <a:gd name="connsiteX33" fmla="*/ 128600 w 274153"/>
              <a:gd name="connsiteY33" fmla="*/ 306373 h 391678"/>
              <a:gd name="connsiteX34" fmla="*/ 68554 w 274153"/>
              <a:gd name="connsiteY34" fmla="*/ 348659 h 391678"/>
              <a:gd name="connsiteX35" fmla="*/ 68550 w 274153"/>
              <a:gd name="connsiteY35" fmla="*/ 255823 h 391678"/>
              <a:gd name="connsiteX36" fmla="*/ 137077 w 274153"/>
              <a:gd name="connsiteY36" fmla="*/ 274154 h 391678"/>
              <a:gd name="connsiteX37" fmla="*/ 205604 w 274153"/>
              <a:gd name="connsiteY37" fmla="*/ 255823 h 391678"/>
              <a:gd name="connsiteX38" fmla="*/ 29374 w 274153"/>
              <a:gd name="connsiteY38" fmla="*/ 137077 h 391678"/>
              <a:gd name="connsiteX39" fmla="*/ 137077 w 274153"/>
              <a:gd name="connsiteY39" fmla="*/ 29374 h 391678"/>
              <a:gd name="connsiteX40" fmla="*/ 244780 w 274153"/>
              <a:gd name="connsiteY40" fmla="*/ 137077 h 391678"/>
              <a:gd name="connsiteX41" fmla="*/ 137077 w 274153"/>
              <a:gd name="connsiteY41" fmla="*/ 244780 h 391678"/>
              <a:gd name="connsiteX42" fmla="*/ 29374 w 274153"/>
              <a:gd name="connsiteY42" fmla="*/ 137077 h 391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274153" h="391678">
                <a:moveTo>
                  <a:pt x="141557" y="71326"/>
                </a:moveTo>
                <a:lnTo>
                  <a:pt x="159428" y="107605"/>
                </a:lnTo>
                <a:lnTo>
                  <a:pt x="199453" y="113389"/>
                </a:lnTo>
                <a:cubicBezTo>
                  <a:pt x="203551" y="113981"/>
                  <a:pt x="205190" y="119019"/>
                  <a:pt x="202224" y="121909"/>
                </a:cubicBezTo>
                <a:lnTo>
                  <a:pt x="173275" y="150117"/>
                </a:lnTo>
                <a:lnTo>
                  <a:pt x="180109" y="189975"/>
                </a:lnTo>
                <a:cubicBezTo>
                  <a:pt x="180808" y="194056"/>
                  <a:pt x="176524" y="197168"/>
                  <a:pt x="172860" y="195237"/>
                </a:cubicBezTo>
                <a:lnTo>
                  <a:pt x="137079" y="176391"/>
                </a:lnTo>
                <a:lnTo>
                  <a:pt x="101296" y="195237"/>
                </a:lnTo>
                <a:cubicBezTo>
                  <a:pt x="97631" y="197168"/>
                  <a:pt x="93344" y="194054"/>
                  <a:pt x="94048" y="189971"/>
                </a:cubicBezTo>
                <a:lnTo>
                  <a:pt x="100916" y="150117"/>
                </a:lnTo>
                <a:lnTo>
                  <a:pt x="71934" y="121911"/>
                </a:lnTo>
                <a:cubicBezTo>
                  <a:pt x="68965" y="119022"/>
                  <a:pt x="70602" y="113982"/>
                  <a:pt x="74703" y="113389"/>
                </a:cubicBezTo>
                <a:lnTo>
                  <a:pt x="114728" y="107605"/>
                </a:lnTo>
                <a:lnTo>
                  <a:pt x="132598" y="71326"/>
                </a:lnTo>
                <a:cubicBezTo>
                  <a:pt x="134429" y="67609"/>
                  <a:pt x="139728" y="67609"/>
                  <a:pt x="141557" y="71326"/>
                </a:cubicBezTo>
                <a:close/>
                <a:moveTo>
                  <a:pt x="274154" y="137077"/>
                </a:moveTo>
                <a:cubicBezTo>
                  <a:pt x="274154" y="61371"/>
                  <a:pt x="212783" y="0"/>
                  <a:pt x="137077" y="0"/>
                </a:cubicBezTo>
                <a:cubicBezTo>
                  <a:pt x="61371" y="0"/>
                  <a:pt x="0" y="61371"/>
                  <a:pt x="0" y="137077"/>
                </a:cubicBezTo>
                <a:cubicBezTo>
                  <a:pt x="0" y="174421"/>
                  <a:pt x="14933" y="208277"/>
                  <a:pt x="39153" y="232997"/>
                </a:cubicBezTo>
                <a:lnTo>
                  <a:pt x="39181" y="376965"/>
                </a:lnTo>
                <a:lnTo>
                  <a:pt x="39316" y="379012"/>
                </a:lnTo>
                <a:cubicBezTo>
                  <a:pt x="40746" y="389637"/>
                  <a:pt x="53166" y="395422"/>
                  <a:pt x="62324" y="388973"/>
                </a:cubicBezTo>
                <a:lnTo>
                  <a:pt x="137059" y="336342"/>
                </a:lnTo>
                <a:lnTo>
                  <a:pt x="211833" y="388975"/>
                </a:lnTo>
                <a:lnTo>
                  <a:pt x="213585" y="390043"/>
                </a:lnTo>
                <a:cubicBezTo>
                  <a:pt x="223095" y="394989"/>
                  <a:pt x="234973" y="388165"/>
                  <a:pt x="234973" y="376965"/>
                </a:cubicBezTo>
                <a:lnTo>
                  <a:pt x="235001" y="232997"/>
                </a:lnTo>
                <a:cubicBezTo>
                  <a:pt x="259220" y="208277"/>
                  <a:pt x="274154" y="174421"/>
                  <a:pt x="274154" y="137077"/>
                </a:cubicBezTo>
                <a:close/>
                <a:moveTo>
                  <a:pt x="205604" y="255823"/>
                </a:moveTo>
                <a:lnTo>
                  <a:pt x="205600" y="348667"/>
                </a:lnTo>
                <a:lnTo>
                  <a:pt x="145509" y="306371"/>
                </a:lnTo>
                <a:lnTo>
                  <a:pt x="143535" y="305198"/>
                </a:lnTo>
                <a:cubicBezTo>
                  <a:pt x="138773" y="302856"/>
                  <a:pt x="133037" y="303247"/>
                  <a:pt x="128600" y="306373"/>
                </a:cubicBezTo>
                <a:lnTo>
                  <a:pt x="68554" y="348659"/>
                </a:lnTo>
                <a:lnTo>
                  <a:pt x="68550" y="255823"/>
                </a:lnTo>
                <a:cubicBezTo>
                  <a:pt x="88710" y="267480"/>
                  <a:pt x="112113" y="274154"/>
                  <a:pt x="137077" y="274154"/>
                </a:cubicBezTo>
                <a:cubicBezTo>
                  <a:pt x="162041" y="274154"/>
                  <a:pt x="185444" y="267480"/>
                  <a:pt x="205604" y="255823"/>
                </a:cubicBezTo>
                <a:close/>
                <a:moveTo>
                  <a:pt x="29374" y="137077"/>
                </a:moveTo>
                <a:cubicBezTo>
                  <a:pt x="29374" y="77594"/>
                  <a:pt x="77594" y="29374"/>
                  <a:pt x="137077" y="29374"/>
                </a:cubicBezTo>
                <a:cubicBezTo>
                  <a:pt x="196560" y="29374"/>
                  <a:pt x="244780" y="77594"/>
                  <a:pt x="244780" y="137077"/>
                </a:cubicBezTo>
                <a:cubicBezTo>
                  <a:pt x="244780" y="196560"/>
                  <a:pt x="196560" y="244780"/>
                  <a:pt x="137077" y="244780"/>
                </a:cubicBezTo>
                <a:cubicBezTo>
                  <a:pt x="77594" y="244780"/>
                  <a:pt x="29374" y="196560"/>
                  <a:pt x="29374" y="137077"/>
                </a:cubicBezTo>
                <a:close/>
              </a:path>
            </a:pathLst>
          </a:custGeom>
          <a:solidFill>
            <a:schemeClr val="tx1"/>
          </a:solidFill>
          <a:ln w="194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16">
            <a:extLst>
              <a:ext uri="{FF2B5EF4-FFF2-40B4-BE49-F238E27FC236}">
                <a16:creationId xmlns:a16="http://schemas.microsoft.com/office/drawing/2014/main" id="{74E173DA-0101-AB9B-2577-C967F1186899}"/>
              </a:ext>
            </a:extLst>
          </p:cNvPr>
          <p:cNvSpPr/>
          <p:nvPr/>
        </p:nvSpPr>
        <p:spPr>
          <a:xfrm>
            <a:off x="8427058" y="3879013"/>
            <a:ext cx="277151" cy="274603"/>
          </a:xfrm>
          <a:custGeom>
            <a:avLst/>
            <a:gdLst>
              <a:gd name="connsiteX0" fmla="*/ 193074 w 277151"/>
              <a:gd name="connsiteY0" fmla="*/ 0 h 274603"/>
              <a:gd name="connsiteX1" fmla="*/ 119840 w 277151"/>
              <a:gd name="connsiteY1" fmla="*/ 73234 h 274603"/>
              <a:gd name="connsiteX2" fmla="*/ 121866 w 277151"/>
              <a:gd name="connsiteY2" fmla="*/ 90397 h 274603"/>
              <a:gd name="connsiteX3" fmla="*/ 11198 w 277151"/>
              <a:gd name="connsiteY3" fmla="*/ 201065 h 274603"/>
              <a:gd name="connsiteX4" fmla="*/ 11198 w 277151"/>
              <a:gd name="connsiteY4" fmla="*/ 255133 h 274603"/>
              <a:gd name="connsiteX5" fmla="*/ 65267 w 277151"/>
              <a:gd name="connsiteY5" fmla="*/ 255133 h 274603"/>
              <a:gd name="connsiteX6" fmla="*/ 120044 w 277151"/>
              <a:gd name="connsiteY6" fmla="*/ 200357 h 274603"/>
              <a:gd name="connsiteX7" fmla="*/ 206387 w 277151"/>
              <a:gd name="connsiteY7" fmla="*/ 119838 h 274603"/>
              <a:gd name="connsiteX8" fmla="*/ 242183 w 277151"/>
              <a:gd name="connsiteY8" fmla="*/ 127563 h 274603"/>
              <a:gd name="connsiteX9" fmla="*/ 266309 w 277151"/>
              <a:gd name="connsiteY9" fmla="*/ 73234 h 274603"/>
              <a:gd name="connsiteX10" fmla="*/ 262544 w 277151"/>
              <a:gd name="connsiteY10" fmla="*/ 50001 h 274603"/>
              <a:gd name="connsiteX11" fmla="*/ 255363 w 277151"/>
              <a:gd name="connsiteY11" fmla="*/ 43447 h 274603"/>
              <a:gd name="connsiteX12" fmla="*/ 246011 w 277151"/>
              <a:gd name="connsiteY12" fmla="*/ 46106 h 274603"/>
              <a:gd name="connsiteX13" fmla="*/ 213467 w 277151"/>
              <a:gd name="connsiteY13" fmla="*/ 78653 h 274603"/>
              <a:gd name="connsiteX14" fmla="*/ 199345 w 277151"/>
              <a:gd name="connsiteY14" fmla="*/ 78653 h 274603"/>
              <a:gd name="connsiteX15" fmla="*/ 187658 w 277151"/>
              <a:gd name="connsiteY15" fmla="*/ 66967 h 274603"/>
              <a:gd name="connsiteX16" fmla="*/ 187656 w 277151"/>
              <a:gd name="connsiteY16" fmla="*/ 52844 h 274603"/>
              <a:gd name="connsiteX17" fmla="*/ 220202 w 277151"/>
              <a:gd name="connsiteY17" fmla="*/ 20297 h 274603"/>
              <a:gd name="connsiteX18" fmla="*/ 222859 w 277151"/>
              <a:gd name="connsiteY18" fmla="*/ 10945 h 274603"/>
              <a:gd name="connsiteX19" fmla="*/ 216306 w 277151"/>
              <a:gd name="connsiteY19" fmla="*/ 3764 h 274603"/>
              <a:gd name="connsiteX20" fmla="*/ 193074 w 277151"/>
              <a:gd name="connsiteY20" fmla="*/ 0 h 274603"/>
              <a:gd name="connsiteX21" fmla="*/ 163475 w 277151"/>
              <a:gd name="connsiteY21" fmla="*/ 159459 h 274603"/>
              <a:gd name="connsiteX22" fmla="*/ 144285 w 277151"/>
              <a:gd name="connsiteY22" fmla="*/ 192696 h 274603"/>
              <a:gd name="connsiteX23" fmla="*/ 136506 w 277151"/>
              <a:gd name="connsiteY23" fmla="*/ 194622 h 274603"/>
              <a:gd name="connsiteX24" fmla="*/ 135598 w 277151"/>
              <a:gd name="connsiteY24" fmla="*/ 206388 h 274603"/>
              <a:gd name="connsiteX25" fmla="*/ 136591 w 277151"/>
              <a:gd name="connsiteY25" fmla="*/ 218684 h 274603"/>
              <a:gd name="connsiteX26" fmla="*/ 143773 w 277151"/>
              <a:gd name="connsiteY26" fmla="*/ 220413 h 274603"/>
              <a:gd name="connsiteX27" fmla="*/ 163080 w 277151"/>
              <a:gd name="connsiteY27" fmla="*/ 253841 h 274603"/>
              <a:gd name="connsiteX28" fmla="*/ 160600 w 277151"/>
              <a:gd name="connsiteY28" fmla="*/ 262246 h 274603"/>
              <a:gd name="connsiteX29" fmla="*/ 180362 w 277151"/>
              <a:gd name="connsiteY29" fmla="*/ 274517 h 274603"/>
              <a:gd name="connsiteX30" fmla="*/ 186931 w 277151"/>
              <a:gd name="connsiteY30" fmla="*/ 267611 h 274603"/>
              <a:gd name="connsiteX31" fmla="*/ 225533 w 277151"/>
              <a:gd name="connsiteY31" fmla="*/ 267617 h 274603"/>
              <a:gd name="connsiteX32" fmla="*/ 232173 w 277151"/>
              <a:gd name="connsiteY32" fmla="*/ 274604 h 274603"/>
              <a:gd name="connsiteX33" fmla="*/ 251917 w 277151"/>
              <a:gd name="connsiteY33" fmla="*/ 262448 h 274603"/>
              <a:gd name="connsiteX34" fmla="*/ 249281 w 277151"/>
              <a:gd name="connsiteY34" fmla="*/ 253315 h 274603"/>
              <a:gd name="connsiteX35" fmla="*/ 268471 w 277151"/>
              <a:gd name="connsiteY35" fmla="*/ 220078 h 274603"/>
              <a:gd name="connsiteX36" fmla="*/ 276243 w 277151"/>
              <a:gd name="connsiteY36" fmla="*/ 218155 h 274603"/>
              <a:gd name="connsiteX37" fmla="*/ 277151 w 277151"/>
              <a:gd name="connsiteY37" fmla="*/ 206388 h 274603"/>
              <a:gd name="connsiteX38" fmla="*/ 276158 w 277151"/>
              <a:gd name="connsiteY38" fmla="*/ 194089 h 274603"/>
              <a:gd name="connsiteX39" fmla="*/ 268981 w 277151"/>
              <a:gd name="connsiteY39" fmla="*/ 192361 h 274603"/>
              <a:gd name="connsiteX40" fmla="*/ 249675 w 277151"/>
              <a:gd name="connsiteY40" fmla="*/ 158934 h 274603"/>
              <a:gd name="connsiteX41" fmla="*/ 252153 w 277151"/>
              <a:gd name="connsiteY41" fmla="*/ 150533 h 274603"/>
              <a:gd name="connsiteX42" fmla="*/ 232390 w 277151"/>
              <a:gd name="connsiteY42" fmla="*/ 138259 h 274603"/>
              <a:gd name="connsiteX43" fmla="*/ 225825 w 277151"/>
              <a:gd name="connsiteY43" fmla="*/ 145165 h 274603"/>
              <a:gd name="connsiteX44" fmla="*/ 187222 w 277151"/>
              <a:gd name="connsiteY44" fmla="*/ 145158 h 274603"/>
              <a:gd name="connsiteX45" fmla="*/ 180581 w 277151"/>
              <a:gd name="connsiteY45" fmla="*/ 138169 h 274603"/>
              <a:gd name="connsiteX46" fmla="*/ 160837 w 277151"/>
              <a:gd name="connsiteY46" fmla="*/ 150322 h 274603"/>
              <a:gd name="connsiteX47" fmla="*/ 163475 w 277151"/>
              <a:gd name="connsiteY47" fmla="*/ 159459 h 274603"/>
              <a:gd name="connsiteX48" fmla="*/ 206375 w 277151"/>
              <a:gd name="connsiteY48" fmla="*/ 226361 h 274603"/>
              <a:gd name="connsiteX49" fmla="*/ 187072 w 277151"/>
              <a:gd name="connsiteY49" fmla="*/ 206388 h 274603"/>
              <a:gd name="connsiteX50" fmla="*/ 206375 w 277151"/>
              <a:gd name="connsiteY50" fmla="*/ 186415 h 274603"/>
              <a:gd name="connsiteX51" fmla="*/ 225677 w 277151"/>
              <a:gd name="connsiteY51" fmla="*/ 206388 h 274603"/>
              <a:gd name="connsiteX52" fmla="*/ 206375 w 277151"/>
              <a:gd name="connsiteY52" fmla="*/ 226361 h 274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277151" h="274603">
                <a:moveTo>
                  <a:pt x="193074" y="0"/>
                </a:moveTo>
                <a:cubicBezTo>
                  <a:pt x="152629" y="0"/>
                  <a:pt x="119840" y="32788"/>
                  <a:pt x="119840" y="73234"/>
                </a:cubicBezTo>
                <a:cubicBezTo>
                  <a:pt x="119840" y="79136"/>
                  <a:pt x="120541" y="84884"/>
                  <a:pt x="121866" y="90397"/>
                </a:cubicBezTo>
                <a:lnTo>
                  <a:pt x="11198" y="201065"/>
                </a:lnTo>
                <a:cubicBezTo>
                  <a:pt x="-3733" y="215995"/>
                  <a:pt x="-3733" y="240203"/>
                  <a:pt x="11198" y="255133"/>
                </a:cubicBezTo>
                <a:cubicBezTo>
                  <a:pt x="26129" y="270065"/>
                  <a:pt x="50336" y="270065"/>
                  <a:pt x="65267" y="255133"/>
                </a:cubicBezTo>
                <a:lnTo>
                  <a:pt x="120044" y="200357"/>
                </a:lnTo>
                <a:cubicBezTo>
                  <a:pt x="123141" y="155369"/>
                  <a:pt x="160614" y="119838"/>
                  <a:pt x="206387" y="119838"/>
                </a:cubicBezTo>
                <a:cubicBezTo>
                  <a:pt x="219154" y="119838"/>
                  <a:pt x="231273" y="122602"/>
                  <a:pt x="242183" y="127563"/>
                </a:cubicBezTo>
                <a:cubicBezTo>
                  <a:pt x="257000" y="114163"/>
                  <a:pt x="266309" y="94786"/>
                  <a:pt x="266309" y="73234"/>
                </a:cubicBezTo>
                <a:cubicBezTo>
                  <a:pt x="266309" y="65130"/>
                  <a:pt x="264989" y="57314"/>
                  <a:pt x="262544" y="50001"/>
                </a:cubicBezTo>
                <a:cubicBezTo>
                  <a:pt x="261447" y="46720"/>
                  <a:pt x="258731" y="44240"/>
                  <a:pt x="255363" y="43447"/>
                </a:cubicBezTo>
                <a:cubicBezTo>
                  <a:pt x="251996" y="42654"/>
                  <a:pt x="248457" y="43660"/>
                  <a:pt x="246011" y="46106"/>
                </a:cubicBezTo>
                <a:lnTo>
                  <a:pt x="213467" y="78653"/>
                </a:lnTo>
                <a:cubicBezTo>
                  <a:pt x="209568" y="82553"/>
                  <a:pt x="203245" y="82554"/>
                  <a:pt x="199345" y="78653"/>
                </a:cubicBezTo>
                <a:lnTo>
                  <a:pt x="187658" y="66967"/>
                </a:lnTo>
                <a:cubicBezTo>
                  <a:pt x="183758" y="63067"/>
                  <a:pt x="183758" y="56744"/>
                  <a:pt x="187656" y="52844"/>
                </a:cubicBezTo>
                <a:lnTo>
                  <a:pt x="220202" y="20297"/>
                </a:lnTo>
                <a:cubicBezTo>
                  <a:pt x="222648" y="17850"/>
                  <a:pt x="223653" y="14312"/>
                  <a:pt x="222859" y="10945"/>
                </a:cubicBezTo>
                <a:cubicBezTo>
                  <a:pt x="222066" y="7577"/>
                  <a:pt x="219586" y="4861"/>
                  <a:pt x="216306" y="3764"/>
                </a:cubicBezTo>
                <a:cubicBezTo>
                  <a:pt x="208993" y="1320"/>
                  <a:pt x="201178" y="0"/>
                  <a:pt x="193074" y="0"/>
                </a:cubicBezTo>
                <a:close/>
                <a:moveTo>
                  <a:pt x="163475" y="159459"/>
                </a:moveTo>
                <a:cubicBezTo>
                  <a:pt x="167666" y="173976"/>
                  <a:pt x="158953" y="189068"/>
                  <a:pt x="144285" y="192696"/>
                </a:cubicBezTo>
                <a:lnTo>
                  <a:pt x="136506" y="194622"/>
                </a:lnTo>
                <a:cubicBezTo>
                  <a:pt x="135908" y="198452"/>
                  <a:pt x="135598" y="202382"/>
                  <a:pt x="135598" y="206388"/>
                </a:cubicBezTo>
                <a:cubicBezTo>
                  <a:pt x="135598" y="210577"/>
                  <a:pt x="135937" y="214685"/>
                  <a:pt x="136591" y="218684"/>
                </a:cubicBezTo>
                <a:lnTo>
                  <a:pt x="143773" y="220413"/>
                </a:lnTo>
                <a:cubicBezTo>
                  <a:pt x="158588" y="223981"/>
                  <a:pt x="167393" y="239227"/>
                  <a:pt x="163080" y="253841"/>
                </a:cubicBezTo>
                <a:lnTo>
                  <a:pt x="160600" y="262246"/>
                </a:lnTo>
                <a:cubicBezTo>
                  <a:pt x="166448" y="267382"/>
                  <a:pt x="173111" y="271551"/>
                  <a:pt x="180362" y="274517"/>
                </a:cubicBezTo>
                <a:lnTo>
                  <a:pt x="186931" y="267611"/>
                </a:lnTo>
                <a:cubicBezTo>
                  <a:pt x="197430" y="256568"/>
                  <a:pt x="215037" y="256571"/>
                  <a:pt x="225533" y="267617"/>
                </a:cubicBezTo>
                <a:lnTo>
                  <a:pt x="232173" y="274604"/>
                </a:lnTo>
                <a:cubicBezTo>
                  <a:pt x="239410" y="271672"/>
                  <a:pt x="246068" y="267542"/>
                  <a:pt x="251917" y="262448"/>
                </a:cubicBezTo>
                <a:lnTo>
                  <a:pt x="249281" y="253315"/>
                </a:lnTo>
                <a:cubicBezTo>
                  <a:pt x="245089" y="238799"/>
                  <a:pt x="253803" y="223706"/>
                  <a:pt x="268471" y="220078"/>
                </a:cubicBezTo>
                <a:lnTo>
                  <a:pt x="276243" y="218155"/>
                </a:lnTo>
                <a:cubicBezTo>
                  <a:pt x="276841" y="214324"/>
                  <a:pt x="277151" y="210394"/>
                  <a:pt x="277151" y="206388"/>
                </a:cubicBezTo>
                <a:cubicBezTo>
                  <a:pt x="277151" y="202197"/>
                  <a:pt x="276812" y="198088"/>
                  <a:pt x="276158" y="194089"/>
                </a:cubicBezTo>
                <a:lnTo>
                  <a:pt x="268981" y="192361"/>
                </a:lnTo>
                <a:cubicBezTo>
                  <a:pt x="254168" y="188794"/>
                  <a:pt x="245362" y="173548"/>
                  <a:pt x="249675" y="158934"/>
                </a:cubicBezTo>
                <a:lnTo>
                  <a:pt x="252153" y="150533"/>
                </a:lnTo>
                <a:cubicBezTo>
                  <a:pt x="246306" y="145398"/>
                  <a:pt x="239642" y="141227"/>
                  <a:pt x="232390" y="138259"/>
                </a:cubicBezTo>
                <a:lnTo>
                  <a:pt x="225825" y="145165"/>
                </a:lnTo>
                <a:cubicBezTo>
                  <a:pt x="215326" y="156206"/>
                  <a:pt x="197719" y="156203"/>
                  <a:pt x="187222" y="145158"/>
                </a:cubicBezTo>
                <a:lnTo>
                  <a:pt x="180581" y="138169"/>
                </a:lnTo>
                <a:cubicBezTo>
                  <a:pt x="173344" y="141101"/>
                  <a:pt x="166686" y="145231"/>
                  <a:pt x="160837" y="150322"/>
                </a:cubicBezTo>
                <a:lnTo>
                  <a:pt x="163475" y="159459"/>
                </a:lnTo>
                <a:close/>
                <a:moveTo>
                  <a:pt x="206375" y="226361"/>
                </a:moveTo>
                <a:cubicBezTo>
                  <a:pt x="195713" y="226361"/>
                  <a:pt x="187072" y="217419"/>
                  <a:pt x="187072" y="206388"/>
                </a:cubicBezTo>
                <a:cubicBezTo>
                  <a:pt x="187072" y="195357"/>
                  <a:pt x="195713" y="186415"/>
                  <a:pt x="206375" y="186415"/>
                </a:cubicBezTo>
                <a:cubicBezTo>
                  <a:pt x="217035" y="186415"/>
                  <a:pt x="225677" y="195357"/>
                  <a:pt x="225677" y="206388"/>
                </a:cubicBezTo>
                <a:cubicBezTo>
                  <a:pt x="225677" y="217419"/>
                  <a:pt x="217035" y="226361"/>
                  <a:pt x="206375" y="226361"/>
                </a:cubicBezTo>
                <a:close/>
              </a:path>
            </a:pathLst>
          </a:custGeom>
          <a:solidFill>
            <a:schemeClr val="tx1"/>
          </a:solidFill>
          <a:ln w="1309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9" name="Graphic 18" descr="Azure SQL Managed Instance icon">
            <a:extLst>
              <a:ext uri="{FF2B5EF4-FFF2-40B4-BE49-F238E27FC236}">
                <a16:creationId xmlns:a16="http://schemas.microsoft.com/office/drawing/2014/main" id="{F843A06C-127D-76F4-BD31-D4CCB8B24F73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601505" y="5283681"/>
            <a:ext cx="535828" cy="53582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DA3E0B8-9483-C3A1-BB86-5744E1A20425}"/>
              </a:ext>
            </a:extLst>
          </p:cNvPr>
          <p:cNvSpPr txBox="1"/>
          <p:nvPr/>
        </p:nvSpPr>
        <p:spPr>
          <a:xfrm>
            <a:off x="3520462" y="5842892"/>
            <a:ext cx="66043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Managed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latin typeface="+mj-lt"/>
              </a:rPr>
              <a:t>DR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3E3BEC-C1F9-8F8A-6E63-4A14D2499D63}"/>
              </a:ext>
            </a:extLst>
          </p:cNvPr>
          <p:cNvSpPr txBox="1"/>
          <p:nvPr/>
        </p:nvSpPr>
        <p:spPr>
          <a:xfrm>
            <a:off x="479211" y="6397108"/>
            <a:ext cx="712053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000"/>
              <a:t>1</a:t>
            </a:r>
            <a:r>
              <a:rPr lang="en-US" sz="2000"/>
              <a:t> </a:t>
            </a:r>
            <a:r>
              <a:rPr lang="en-US" sz="1100">
                <a:solidFill>
                  <a:srgbClr val="757575"/>
                </a:solidFill>
              </a:rPr>
              <a:t>All TPC Claims as of 11/18/2025 </a:t>
            </a:r>
            <a:r>
              <a:rPr lang="en-US" sz="1100" u="sng">
                <a:hlinkClick r:id="rId39" tooltip="https://www.tpc.org/3408"/>
              </a:rPr>
              <a:t>https://www.tpc.org/3408</a:t>
            </a:r>
            <a:r>
              <a:rPr lang="en-US" sz="1100" u="sng"/>
              <a:t>, </a:t>
            </a:r>
            <a:r>
              <a:rPr lang="en-US" sz="1100" u="sng">
                <a:hlinkClick r:id="rId40" tooltip="https://www.tpc.org/3409"/>
              </a:rPr>
              <a:t>https://www.tpc.org/3409</a:t>
            </a:r>
            <a:r>
              <a:rPr lang="en-US" sz="1100" u="sng"/>
              <a:t>, </a:t>
            </a:r>
            <a:r>
              <a:rPr lang="en-US" sz="1100" u="sng">
                <a:hlinkClick r:id="rId41"/>
              </a:rPr>
              <a:t>https://www.tpc.org/3410</a:t>
            </a:r>
            <a:r>
              <a:rPr lang="en-US" sz="1100" u="sng"/>
              <a:t>  </a:t>
            </a:r>
            <a:endParaRPr lang="en-US" sz="110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EC71FDB6-1381-9C20-7834-07B067BF6881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057286" y="1819807"/>
            <a:ext cx="599206" cy="45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2184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48" grpId="0"/>
      <p:bldP spid="21" grpId="0" animBg="1"/>
      <p:bldP spid="56" grpId="0"/>
      <p:bldP spid="22" grpId="0" animBg="1"/>
      <p:bldP spid="64" grpId="0"/>
      <p:bldP spid="23" grpId="0" animBg="1"/>
      <p:bldP spid="85" grpId="0"/>
      <p:bldP spid="24" grpId="0" animBg="1"/>
      <p:bldP spid="1034" grpId="0" animBg="1"/>
      <p:bldP spid="83" grpId="0"/>
      <p:bldP spid="25" grpId="0" animBg="1"/>
      <p:bldP spid="80" grpId="0"/>
      <p:bldP spid="78" grpId="0"/>
      <p:bldP spid="92" grpId="0"/>
      <p:bldP spid="1039" grpId="0"/>
      <p:bldP spid="30" grpId="0" animBg="1"/>
      <p:bldP spid="18" grpId="0" animBg="1"/>
      <p:bldP spid="26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C9D26-FEA0-3847-4984-032A09C77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EF80DA2-F3B2-91CB-E054-A401E9540920}"/>
              </a:ext>
            </a:extLst>
          </p:cNvPr>
          <p:cNvSpPr txBox="1">
            <a:spLocks/>
          </p:cNvSpPr>
          <p:nvPr/>
        </p:nvSpPr>
        <p:spPr>
          <a:xfrm>
            <a:off x="401102" y="420336"/>
            <a:ext cx="8272251" cy="42088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769435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-41" baseline="0" dirty="0" smtClean="0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defTabSz="899010">
              <a:spcBef>
                <a:spcPts val="0"/>
              </a:spcBef>
              <a:defRPr/>
            </a:pPr>
            <a:r>
              <a:rPr lang="en-US" sz="2735" spc="0">
                <a:solidFill>
                  <a:schemeClr val="tx1"/>
                </a:solidFill>
                <a:cs typeface="Segoe UI Semibold" panose="020B0702040204020203" pitchFamily="34" charset="0"/>
              </a:rPr>
              <a:t>SQL Server 2025 editions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12BA70-725B-75F4-F06B-9CD678632A34}"/>
              </a:ext>
            </a:extLst>
          </p:cNvPr>
          <p:cNvSpPr/>
          <p:nvPr/>
        </p:nvSpPr>
        <p:spPr>
          <a:xfrm>
            <a:off x="401102" y="858474"/>
            <a:ext cx="5116209" cy="336695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defTabSz="899010">
              <a:defRPr/>
            </a:pPr>
            <a:r>
              <a:rPr lang="en-US" sz="1588">
                <a:solidFill>
                  <a:srgbClr val="0078D4"/>
                </a:solidFill>
                <a:latin typeface="Segoe UI Semibold"/>
                <a:cs typeface="Segoe UI Semilight" panose="020B0402040204020203" pitchFamily="34" charset="0"/>
              </a:rPr>
              <a:t>The AI-ready enterprise database from ground to cloud</a:t>
            </a:r>
          </a:p>
        </p:txBody>
      </p:sp>
      <p:sp>
        <p:nvSpPr>
          <p:cNvPr id="39" name="Rounded Rectangle 305">
            <a:extLst>
              <a:ext uri="{FF2B5EF4-FFF2-40B4-BE49-F238E27FC236}">
                <a16:creationId xmlns:a16="http://schemas.microsoft.com/office/drawing/2014/main" id="{40AA5FC5-8348-1053-873A-95BC5C430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03412" y="5432269"/>
            <a:ext cx="10980964" cy="631394"/>
          </a:xfrm>
          <a:prstGeom prst="roundRect">
            <a:avLst>
              <a:gd name="adj" fmla="val 18054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333431" dist="38100" dir="2700000" algn="tl" rotWithShape="0">
              <a:prstClr val="black">
                <a:alpha val="1523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0682" tIns="80682" rIns="80682" bIns="8068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50727" indent="-150727" defTabSz="899010" fontAlgn="t">
              <a:spcAft>
                <a:spcPts val="353"/>
              </a:spcAft>
              <a:buFont typeface="Arial" panose="020B0604020202020204" pitchFamily="34" charset="0"/>
              <a:buChar char="•"/>
              <a:defRPr/>
            </a:pPr>
            <a:endParaRPr lang="en-US" sz="882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6ED43E-6B14-0DF0-7447-1D5F005DC119}"/>
              </a:ext>
            </a:extLst>
          </p:cNvPr>
          <p:cNvSpPr txBox="1"/>
          <p:nvPr/>
        </p:nvSpPr>
        <p:spPr>
          <a:xfrm>
            <a:off x="667077" y="5542027"/>
            <a:ext cx="3721326" cy="458561"/>
          </a:xfrm>
          <a:prstGeom prst="rect">
            <a:avLst/>
          </a:prstGeom>
          <a:noFill/>
        </p:spPr>
        <p:txBody>
          <a:bodyPr wrap="square" lIns="0" tIns="40341" rIns="64546" bIns="40341" rtlCol="0">
            <a:spAutoFit/>
          </a:bodyPr>
          <a:lstStyle/>
          <a:p>
            <a:pPr defTabSz="899010">
              <a:spcBef>
                <a:spcPts val="353"/>
              </a:spcBef>
              <a:defRPr/>
            </a:pPr>
            <a:r>
              <a:rPr lang="en-US" sz="1235" b="1">
                <a:solidFill>
                  <a:srgbClr val="0078D4"/>
                </a:solidFill>
                <a:latin typeface="Segoe UI Semibold"/>
              </a:rPr>
              <a:t>Developer</a:t>
            </a:r>
          </a:p>
          <a:p>
            <a:pPr defTabSz="323736">
              <a:spcBef>
                <a:spcPts val="353"/>
              </a:spcBef>
              <a:spcAft>
                <a:spcPts val="529"/>
              </a:spcAft>
              <a:defRPr/>
            </a:pPr>
            <a:r>
              <a:rPr lang="en-US" sz="882" kern="0">
                <a:solidFill>
                  <a:prstClr val="black"/>
                </a:solidFill>
                <a:latin typeface="Segoe UI"/>
              </a:rPr>
              <a:t>Free to use for dev/test in non-production environments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C54EBE-6A87-0DE9-1A72-6C898303012A}"/>
              </a:ext>
            </a:extLst>
          </p:cNvPr>
          <p:cNvSpPr txBox="1"/>
          <p:nvPr/>
        </p:nvSpPr>
        <p:spPr>
          <a:xfrm>
            <a:off x="5437315" y="5625761"/>
            <a:ext cx="2424469" cy="271522"/>
          </a:xfrm>
          <a:prstGeom prst="rect">
            <a:avLst/>
          </a:prstGeom>
          <a:noFill/>
        </p:spPr>
        <p:txBody>
          <a:bodyPr wrap="square" lIns="0" tIns="40341" rIns="64546" bIns="40341" rtlCol="0">
            <a:spAutoFit/>
          </a:bodyPr>
          <a:lstStyle/>
          <a:p>
            <a:pPr defTabSz="899010">
              <a:spcBef>
                <a:spcPts val="353"/>
              </a:spcBef>
              <a:defRPr/>
            </a:pPr>
            <a:r>
              <a:rPr lang="en-US" sz="1235" b="1">
                <a:solidFill>
                  <a:srgbClr val="0078D4"/>
                </a:solidFill>
                <a:latin typeface="Segoe UI Semibold"/>
              </a:rPr>
              <a:t>Standard Developer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8A61722-024C-350E-B246-8AC277CE8935}"/>
              </a:ext>
            </a:extLst>
          </p:cNvPr>
          <p:cNvSpPr txBox="1"/>
          <p:nvPr/>
        </p:nvSpPr>
        <p:spPr>
          <a:xfrm>
            <a:off x="9119314" y="5625761"/>
            <a:ext cx="2424469" cy="271522"/>
          </a:xfrm>
          <a:prstGeom prst="rect">
            <a:avLst/>
          </a:prstGeom>
          <a:noFill/>
        </p:spPr>
        <p:txBody>
          <a:bodyPr wrap="square" lIns="0" tIns="40341" rIns="64546" bIns="40341" rtlCol="0">
            <a:spAutoFit/>
          </a:bodyPr>
          <a:lstStyle/>
          <a:p>
            <a:pPr defTabSz="899010">
              <a:spcBef>
                <a:spcPts val="353"/>
              </a:spcBef>
              <a:defRPr/>
            </a:pPr>
            <a:r>
              <a:rPr lang="en-US" sz="1235" b="1">
                <a:solidFill>
                  <a:srgbClr val="0078D4"/>
                </a:solidFill>
                <a:latin typeface="Segoe UI Semibold"/>
              </a:rPr>
              <a:t>Enterprise Developer</a:t>
            </a:r>
          </a:p>
        </p:txBody>
      </p:sp>
      <p:sp>
        <p:nvSpPr>
          <p:cNvPr id="37" name="Rounded Rectangle 266">
            <a:extLst>
              <a:ext uri="{FF2B5EF4-FFF2-40B4-BE49-F238E27FC236}">
                <a16:creationId xmlns:a16="http://schemas.microsoft.com/office/drawing/2014/main" id="{379B9B83-D8E9-3FA9-FF98-B088FE708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002591" y="1454441"/>
            <a:ext cx="3386409" cy="631394"/>
          </a:xfrm>
          <a:prstGeom prst="roundRect">
            <a:avLst>
              <a:gd name="adj" fmla="val 18054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333431" dist="38100" dir="2700000" algn="tl" rotWithShape="0">
              <a:prstClr val="black">
                <a:alpha val="1523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0682" tIns="80682" rIns="80682" bIns="8068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50727" indent="-150727" defTabSz="899010" fontAlgn="t">
              <a:spcAft>
                <a:spcPts val="353"/>
              </a:spcAft>
              <a:buFont typeface="Arial" panose="020B0604020202020204" pitchFamily="34" charset="0"/>
              <a:buChar char="•"/>
              <a:defRPr/>
            </a:pPr>
            <a:endParaRPr lang="en-US" sz="882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1" name="Rounded Rectangle 5">
            <a:extLst>
              <a:ext uri="{FF2B5EF4-FFF2-40B4-BE49-F238E27FC236}">
                <a16:creationId xmlns:a16="http://schemas.microsoft.com/office/drawing/2014/main" id="{063FB124-CA45-48EF-9ED6-19E696160A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002592" y="2183320"/>
            <a:ext cx="3375293" cy="2775967"/>
          </a:xfrm>
          <a:prstGeom prst="roundRect">
            <a:avLst>
              <a:gd name="adj" fmla="val 7134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333431" dist="38100" dir="2700000" algn="tl" rotWithShape="0">
              <a:prstClr val="black">
                <a:alpha val="1523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0682" tIns="80682" rIns="80682" bIns="8068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50727" indent="-150727" defTabSz="899010">
              <a:spcAft>
                <a:spcPts val="353"/>
              </a:spcAft>
              <a:buFont typeface="Arial,Sans-Serif"/>
              <a:buChar char="•"/>
              <a:defRPr/>
            </a:pPr>
            <a:endParaRPr lang="en-US" sz="882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5" name="Rounded Rectangle 19">
            <a:extLst>
              <a:ext uri="{FF2B5EF4-FFF2-40B4-BE49-F238E27FC236}">
                <a16:creationId xmlns:a16="http://schemas.microsoft.com/office/drawing/2014/main" id="{785A16B7-86C6-9A43-9D21-D2912EC7E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002592" y="2516842"/>
            <a:ext cx="3385242" cy="371301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A6DC5"/>
              </a:gs>
              <a:gs pos="99000">
                <a:srgbClr val="299CB0"/>
              </a:gs>
            </a:gsLst>
            <a:path path="circle">
              <a:fillToRect l="100000" t="100000"/>
            </a:path>
            <a:tileRect r="-100000" b="-100000"/>
          </a:gradFill>
          <a:ln w="5238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0682" tIns="40341" rIns="80682" bIns="4034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806837">
              <a:defRPr/>
            </a:pPr>
            <a:endParaRPr lang="en-US">
              <a:solidFill>
                <a:srgbClr val="000000"/>
              </a:solidFill>
              <a:latin typeface="Segoe Sans Tex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4551276-6C5B-0E1A-8267-62EE3398DA25}"/>
              </a:ext>
            </a:extLst>
          </p:cNvPr>
          <p:cNvSpPr txBox="1"/>
          <p:nvPr/>
        </p:nvSpPr>
        <p:spPr>
          <a:xfrm>
            <a:off x="8962217" y="1503097"/>
            <a:ext cx="2424469" cy="594303"/>
          </a:xfrm>
          <a:prstGeom prst="rect">
            <a:avLst/>
          </a:prstGeom>
          <a:noFill/>
        </p:spPr>
        <p:txBody>
          <a:bodyPr wrap="square" lIns="0" tIns="40341" rIns="64546" bIns="40341" rtlCol="0">
            <a:spAutoFit/>
          </a:bodyPr>
          <a:lstStyle/>
          <a:p>
            <a:pPr defTabSz="899010">
              <a:spcBef>
                <a:spcPts val="353"/>
              </a:spcBef>
              <a:defRPr/>
            </a:pPr>
            <a:r>
              <a:rPr lang="en-US" sz="1235" b="1">
                <a:solidFill>
                  <a:srgbClr val="0078D4"/>
                </a:solidFill>
                <a:latin typeface="Segoe UI Semibold"/>
              </a:rPr>
              <a:t>Enterprise</a:t>
            </a:r>
          </a:p>
          <a:p>
            <a:pPr defTabSz="899010">
              <a:spcBef>
                <a:spcPts val="353"/>
              </a:spcBef>
              <a:defRPr/>
            </a:pPr>
            <a:r>
              <a:rPr lang="en-US" sz="882">
                <a:gradFill>
                  <a:gsLst>
                    <a:gs pos="2917">
                      <a:srgbClr val="000000"/>
                    </a:gs>
                    <a:gs pos="30000">
                      <a:srgbClr val="000000"/>
                    </a:gs>
                  </a:gsLst>
                  <a:lin ang="5400000" scaled="0"/>
                </a:gradFill>
                <a:latin typeface="Segoe UI"/>
                <a:ea typeface="+mn-lt"/>
                <a:cs typeface="Segoe UI"/>
              </a:rPr>
              <a:t>Highest performance and scaling for business-critical workloads</a:t>
            </a:r>
            <a:endParaRPr lang="en-US" sz="882">
              <a:solidFill>
                <a:prstClr val="black"/>
              </a:solidFill>
              <a:latin typeface="Segoe U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CCDC67A-D303-975E-8221-BA37C1D6F42D}"/>
              </a:ext>
            </a:extLst>
          </p:cNvPr>
          <p:cNvSpPr txBox="1"/>
          <p:nvPr/>
        </p:nvSpPr>
        <p:spPr>
          <a:xfrm>
            <a:off x="8189161" y="2250045"/>
            <a:ext cx="3105680" cy="298773"/>
          </a:xfrm>
          <a:prstGeom prst="rect">
            <a:avLst/>
          </a:prstGeom>
          <a:noFill/>
        </p:spPr>
        <p:txBody>
          <a:bodyPr wrap="square" lIns="0" tIns="40341" rIns="64546" bIns="40341" rtlCol="0" anchor="t">
            <a:spAutoFit/>
          </a:bodyPr>
          <a:lstStyle/>
          <a:p>
            <a:pPr defTabSz="323736">
              <a:spcAft>
                <a:spcPts val="529"/>
              </a:spcAft>
              <a:defRPr/>
            </a:pPr>
            <a:r>
              <a:rPr lang="en-US" sz="1412" b="1">
                <a:solidFill>
                  <a:srgbClr val="0078D4"/>
                </a:solidFill>
                <a:latin typeface="Segoe UI Semibold"/>
              </a:rPr>
              <a:t>Feature highlights 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FF8FB8-91E2-A6E3-1B9B-F1B5CA05A047}"/>
              </a:ext>
            </a:extLst>
          </p:cNvPr>
          <p:cNvSpPr txBox="1"/>
          <p:nvPr/>
        </p:nvSpPr>
        <p:spPr>
          <a:xfrm>
            <a:off x="8166448" y="2600655"/>
            <a:ext cx="3105680" cy="224138"/>
          </a:xfrm>
          <a:prstGeom prst="rect">
            <a:avLst/>
          </a:prstGeom>
          <a:noFill/>
        </p:spPr>
        <p:txBody>
          <a:bodyPr wrap="square" lIns="0" tIns="40341" rIns="64546" bIns="40341" rtlCol="0">
            <a:spAutoFit/>
          </a:bodyPr>
          <a:lstStyle/>
          <a:p>
            <a:pPr defTabSz="899010">
              <a:defRPr/>
            </a:pPr>
            <a:r>
              <a:rPr lang="en-US" sz="927" b="1">
                <a:solidFill>
                  <a:prstClr val="white"/>
                </a:solidFill>
                <a:latin typeface="Segoe UI"/>
              </a:rPr>
              <a:t>+   </a:t>
            </a:r>
            <a:r>
              <a:rPr lang="en-US" sz="353" b="1">
                <a:solidFill>
                  <a:prstClr val="white"/>
                </a:solidFill>
                <a:latin typeface="Segoe UI"/>
              </a:rPr>
              <a:t> </a:t>
            </a:r>
            <a:r>
              <a:rPr lang="en-US" sz="927">
                <a:solidFill>
                  <a:prstClr val="white"/>
                </a:solidFill>
                <a:latin typeface="Segoe UI"/>
              </a:rPr>
              <a:t>Express </a:t>
            </a:r>
            <a:r>
              <a:rPr lang="en-US" sz="927" kern="0">
                <a:solidFill>
                  <a:prstClr val="white"/>
                </a:solidFill>
                <a:latin typeface="Segoe UI"/>
                <a:cs typeface="Segoe UI"/>
              </a:rPr>
              <a:t>and Standard features</a:t>
            </a:r>
            <a:endParaRPr lang="en-US" sz="927">
              <a:solidFill>
                <a:prstClr val="white"/>
              </a:solidFill>
              <a:latin typeface="Segoe UI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3693DA4-C661-BD26-90AC-2EE60AF6EE96}"/>
              </a:ext>
            </a:extLst>
          </p:cNvPr>
          <p:cNvSpPr txBox="1"/>
          <p:nvPr/>
        </p:nvSpPr>
        <p:spPr>
          <a:xfrm>
            <a:off x="8189161" y="2942542"/>
            <a:ext cx="3105680" cy="1464862"/>
          </a:xfrm>
          <a:prstGeom prst="rect">
            <a:avLst/>
          </a:prstGeom>
          <a:noFill/>
        </p:spPr>
        <p:txBody>
          <a:bodyPr wrap="square" lIns="0" tIns="40341" rIns="64546" bIns="40341" rtlCol="0" anchor="t" anchorCtr="0">
            <a:spAutoFit/>
          </a:bodyPr>
          <a:lstStyle/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 kern="0">
                <a:solidFill>
                  <a:prstClr val="black"/>
                </a:solidFill>
                <a:latin typeface="Segoe UI"/>
              </a:rPr>
              <a:t>Highest core count supported</a:t>
            </a:r>
            <a:endParaRPr lang="en-US" sz="927" kern="0">
              <a:solidFill>
                <a:prstClr val="black"/>
              </a:solidFill>
              <a:latin typeface="Segoe UI"/>
              <a:cs typeface="Segoe UI"/>
            </a:endParaRP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 kern="0">
                <a:solidFill>
                  <a:prstClr val="black"/>
                </a:solidFill>
                <a:latin typeface="Segoe UI"/>
              </a:rPr>
              <a:t>Highest memory supported</a:t>
            </a:r>
            <a:endParaRPr lang="en-US" sz="927" kern="0">
              <a:solidFill>
                <a:prstClr val="black"/>
              </a:solidFill>
              <a:latin typeface="Segoe UI"/>
              <a:cs typeface="Segoe UI"/>
            </a:endParaRP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 kern="0">
                <a:solidFill>
                  <a:prstClr val="black"/>
                </a:solidFill>
                <a:latin typeface="Segoe UI"/>
              </a:rPr>
              <a:t>Built-in Intelligent Query Processing </a:t>
            </a:r>
            <a:endParaRPr lang="en-US" sz="927" kern="0">
              <a:solidFill>
                <a:prstClr val="black"/>
              </a:solidFill>
              <a:latin typeface="Segoe UI"/>
              <a:cs typeface="Segoe UI"/>
            </a:endParaRP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 kern="0">
                <a:solidFill>
                  <a:prstClr val="black"/>
                </a:solidFill>
                <a:latin typeface="Segoe UI"/>
                <a:cs typeface="Segoe UI"/>
              </a:rPr>
              <a:t>Online and Resumable Index Operations</a:t>
            </a: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 kern="0">
                <a:solidFill>
                  <a:prstClr val="black"/>
                </a:solidFill>
                <a:latin typeface="Segoe UI"/>
                <a:cs typeface="Segoe UI"/>
              </a:rPr>
              <a:t>Availability Groups: including distributed and contained</a:t>
            </a: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 kern="0">
                <a:solidFill>
                  <a:prstClr val="black"/>
                </a:solidFill>
                <a:latin typeface="Segoe UI"/>
                <a:cs typeface="Segoe UI"/>
              </a:rPr>
              <a:t>Query Store for readable secondaries</a:t>
            </a:r>
            <a:endParaRPr lang="en-US" sz="2471">
              <a:solidFill>
                <a:prstClr val="black"/>
              </a:solidFill>
              <a:latin typeface="Segoe UI"/>
              <a:cs typeface="Segoe UI"/>
            </a:endParaRP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 kern="0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Persisted Statistics for Secondary Replicas (Query store)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CFFD1369-F540-4C84-8ECC-D5B9FBDF9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5996" y="1547389"/>
            <a:ext cx="625928" cy="45633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>
            <a:outerShdw blurRad="92834" dist="38100" dir="2700000" sx="96000" sy="96000" algn="tl" rotWithShape="0">
              <a:prstClr val="black">
                <a:alpha val="30000"/>
              </a:prstClr>
            </a:outerShdw>
          </a:effectLst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2D1B891-4350-97A5-7851-D17812D3F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9091" y="5519798"/>
            <a:ext cx="625928" cy="45633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>
            <a:outerShdw blurRad="92834" dist="38100" dir="2700000" sx="96000" sy="96000" algn="tl" rotWithShape="0">
              <a:prstClr val="black">
                <a:alpha val="30000"/>
              </a:prstClr>
            </a:outerShdw>
          </a:effectLst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CA32DEE0-6E6D-CB5B-3926-75971CC47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064" y="5512987"/>
            <a:ext cx="644611" cy="469957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>
            <a:outerShdw blurRad="92834" dist="38100" dir="2700000" sx="96000" sy="96000" algn="tl" rotWithShape="0">
              <a:prstClr val="black">
                <a:alpha val="30000"/>
              </a:prstClr>
            </a:outerShdw>
          </a:effectLst>
        </p:spPr>
      </p:pic>
      <p:sp>
        <p:nvSpPr>
          <p:cNvPr id="31" name="Rounded Rectangle 198">
            <a:extLst>
              <a:ext uri="{FF2B5EF4-FFF2-40B4-BE49-F238E27FC236}">
                <a16:creationId xmlns:a16="http://schemas.microsoft.com/office/drawing/2014/main" id="{65AA1C48-0081-4D9B-2366-981CB1810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03412" y="1454441"/>
            <a:ext cx="3386409" cy="631394"/>
          </a:xfrm>
          <a:prstGeom prst="roundRect">
            <a:avLst>
              <a:gd name="adj" fmla="val 18054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333431" dist="38100" dir="2700000" algn="tl" rotWithShape="0">
              <a:prstClr val="black">
                <a:alpha val="1523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0682" tIns="80682" rIns="80682" bIns="8068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50727" indent="-150727" defTabSz="899010" fontAlgn="t">
              <a:spcAft>
                <a:spcPts val="353"/>
              </a:spcAft>
              <a:buFont typeface="Arial" panose="020B0604020202020204" pitchFamily="34" charset="0"/>
              <a:buChar char="•"/>
              <a:defRPr/>
            </a:pPr>
            <a:endParaRPr lang="en-US" sz="882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Rounded Rectangle 201">
            <a:extLst>
              <a:ext uri="{FF2B5EF4-FFF2-40B4-BE49-F238E27FC236}">
                <a16:creationId xmlns:a16="http://schemas.microsoft.com/office/drawing/2014/main" id="{46691A59-7021-9C1C-60C4-C4163948D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03412" y="2178471"/>
            <a:ext cx="3386409" cy="2352319"/>
          </a:xfrm>
          <a:prstGeom prst="roundRect">
            <a:avLst>
              <a:gd name="adj" fmla="val 7134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333431" dist="38100" dir="2700000" algn="tl" rotWithShape="0">
              <a:prstClr val="black">
                <a:alpha val="1523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0682" tIns="80682" rIns="80682" bIns="8068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50727" indent="-150727" defTabSz="899010" fontAlgn="t">
              <a:spcAft>
                <a:spcPts val="353"/>
              </a:spcAft>
              <a:buFont typeface="Arial" panose="020B0604020202020204" pitchFamily="34" charset="0"/>
              <a:buChar char="•"/>
              <a:defRPr/>
            </a:pPr>
            <a:endParaRPr lang="en-US" sz="882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3E0C59-F1A0-B3E0-218E-546EE78A6205}"/>
              </a:ext>
            </a:extLst>
          </p:cNvPr>
          <p:cNvSpPr txBox="1"/>
          <p:nvPr/>
        </p:nvSpPr>
        <p:spPr>
          <a:xfrm>
            <a:off x="1374829" y="1503097"/>
            <a:ext cx="2208188" cy="594303"/>
          </a:xfrm>
          <a:prstGeom prst="rect">
            <a:avLst/>
          </a:prstGeom>
          <a:noFill/>
        </p:spPr>
        <p:txBody>
          <a:bodyPr wrap="square" lIns="0" tIns="40341" rIns="64546" bIns="40341" rtlCol="0">
            <a:spAutoFit/>
          </a:bodyPr>
          <a:lstStyle/>
          <a:p>
            <a:pPr defTabSz="899010">
              <a:spcBef>
                <a:spcPts val="353"/>
              </a:spcBef>
              <a:defRPr/>
            </a:pPr>
            <a:r>
              <a:rPr lang="en-US" sz="1235" b="1">
                <a:solidFill>
                  <a:srgbClr val="0078D4"/>
                </a:solidFill>
                <a:latin typeface="Segoe UI Semibold"/>
              </a:rPr>
              <a:t>Express</a:t>
            </a:r>
          </a:p>
          <a:p>
            <a:pPr defTabSz="323736">
              <a:spcBef>
                <a:spcPts val="353"/>
              </a:spcBef>
              <a:spcAft>
                <a:spcPts val="529"/>
              </a:spcAft>
              <a:defRPr/>
            </a:pPr>
            <a:r>
              <a:rPr lang="en-US" sz="882" kern="0">
                <a:solidFill>
                  <a:prstClr val="black"/>
                </a:solidFill>
                <a:latin typeface="Segoe UI"/>
              </a:rPr>
              <a:t>Free, entry-level database for small AI, web and mobile apps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49B2086E-5195-C7F3-FDA1-832FD2DD6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02" y="1531909"/>
            <a:ext cx="642711" cy="468572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>
            <a:outerShdw blurRad="92834" dist="38100" dir="2700000" sx="96000" sy="96000" algn="tl" rotWithShape="0">
              <a:prstClr val="black">
                <a:alpha val="30000"/>
              </a:prstClr>
            </a:outerShdw>
          </a:effectLst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5E983354-C58F-3E3A-9F46-E7FC6392016B}"/>
              </a:ext>
            </a:extLst>
          </p:cNvPr>
          <p:cNvSpPr txBox="1"/>
          <p:nvPr/>
        </p:nvSpPr>
        <p:spPr>
          <a:xfrm>
            <a:off x="2950785" y="2588107"/>
            <a:ext cx="479612" cy="12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94" b="1">
                <a:solidFill>
                  <a:srgbClr val="EE0000"/>
                </a:solidFill>
              </a:rPr>
              <a:t>NEW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0513752-13DE-AB72-988F-C6A38198A72F}"/>
              </a:ext>
            </a:extLst>
          </p:cNvPr>
          <p:cNvSpPr txBox="1"/>
          <p:nvPr/>
        </p:nvSpPr>
        <p:spPr>
          <a:xfrm>
            <a:off x="2962142" y="3214309"/>
            <a:ext cx="479612" cy="12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94" b="1">
                <a:solidFill>
                  <a:srgbClr val="EE0000"/>
                </a:solidFill>
              </a:rPr>
              <a:t>NEW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D9768DF-292E-98D7-0EFE-11604033D6D0}"/>
              </a:ext>
            </a:extLst>
          </p:cNvPr>
          <p:cNvSpPr txBox="1"/>
          <p:nvPr/>
        </p:nvSpPr>
        <p:spPr>
          <a:xfrm>
            <a:off x="2156661" y="3429000"/>
            <a:ext cx="479612" cy="12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94" b="1">
                <a:solidFill>
                  <a:srgbClr val="EE0000"/>
                </a:solidFill>
              </a:rPr>
              <a:t>NEW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79E4CFC-D021-4496-8769-17D9A77B07F2}"/>
              </a:ext>
            </a:extLst>
          </p:cNvPr>
          <p:cNvSpPr txBox="1"/>
          <p:nvPr/>
        </p:nvSpPr>
        <p:spPr>
          <a:xfrm>
            <a:off x="2565738" y="3629860"/>
            <a:ext cx="479612" cy="12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94" b="1">
                <a:solidFill>
                  <a:srgbClr val="EE0000"/>
                </a:solidFill>
              </a:rPr>
              <a:t>NEW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75F0096-52FB-AC0A-C953-FD68582CEDBF}"/>
              </a:ext>
            </a:extLst>
          </p:cNvPr>
          <p:cNvSpPr txBox="1"/>
          <p:nvPr/>
        </p:nvSpPr>
        <p:spPr>
          <a:xfrm>
            <a:off x="2068073" y="3843388"/>
            <a:ext cx="479612" cy="12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94" b="1">
                <a:solidFill>
                  <a:srgbClr val="EE0000"/>
                </a:solidFill>
              </a:rPr>
              <a:t>NEW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9BB4735-A99E-1879-3CDE-51AA1EEEEB37}"/>
              </a:ext>
            </a:extLst>
          </p:cNvPr>
          <p:cNvSpPr txBox="1"/>
          <p:nvPr/>
        </p:nvSpPr>
        <p:spPr>
          <a:xfrm>
            <a:off x="2527740" y="4046457"/>
            <a:ext cx="479612" cy="12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94" b="1">
                <a:solidFill>
                  <a:srgbClr val="EE0000"/>
                </a:solidFill>
              </a:rPr>
              <a:t>NEW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A1CC8B2-5A5E-2E5C-D708-B0529426697D}"/>
              </a:ext>
            </a:extLst>
          </p:cNvPr>
          <p:cNvSpPr txBox="1"/>
          <p:nvPr/>
        </p:nvSpPr>
        <p:spPr>
          <a:xfrm>
            <a:off x="1768093" y="4257775"/>
            <a:ext cx="479612" cy="12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94" b="1">
                <a:solidFill>
                  <a:srgbClr val="EE0000"/>
                </a:solidFill>
              </a:rPr>
              <a:t>NEW</a:t>
            </a:r>
          </a:p>
        </p:txBody>
      </p:sp>
      <p:sp>
        <p:nvSpPr>
          <p:cNvPr id="35" name="Rounded Rectangle 243">
            <a:extLst>
              <a:ext uri="{FF2B5EF4-FFF2-40B4-BE49-F238E27FC236}">
                <a16:creationId xmlns:a16="http://schemas.microsoft.com/office/drawing/2014/main" id="{00AD214F-3AD6-F525-47F4-BB922F4C0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203001" y="1454441"/>
            <a:ext cx="3386409" cy="631394"/>
          </a:xfrm>
          <a:prstGeom prst="roundRect">
            <a:avLst>
              <a:gd name="adj" fmla="val 18054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333431" dist="38100" dir="2700000" algn="tl" rotWithShape="0">
              <a:prstClr val="black">
                <a:alpha val="1523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0682" tIns="80682" rIns="80682" bIns="8068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50727" indent="-150727" defTabSz="899010" fontAlgn="t">
              <a:spcAft>
                <a:spcPts val="353"/>
              </a:spcAft>
              <a:buFont typeface="Arial" panose="020B0604020202020204" pitchFamily="34" charset="0"/>
              <a:buChar char="•"/>
              <a:defRPr/>
            </a:pPr>
            <a:endParaRPr lang="en-US" sz="882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3" name="Rounded Rectangle 7">
            <a:extLst>
              <a:ext uri="{FF2B5EF4-FFF2-40B4-BE49-F238E27FC236}">
                <a16:creationId xmlns:a16="http://schemas.microsoft.com/office/drawing/2014/main" id="{372EEC8E-FD18-4BA4-EF5C-E146911AC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203001" y="2178469"/>
            <a:ext cx="3385242" cy="2957914"/>
          </a:xfrm>
          <a:prstGeom prst="roundRect">
            <a:avLst>
              <a:gd name="adj" fmla="val 646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333431" dist="38100" dir="2700000" algn="tl" rotWithShape="0">
              <a:prstClr val="black">
                <a:alpha val="1523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0682" tIns="80682" rIns="80682" bIns="8068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50727" indent="-150727" defTabSz="899010" fontAlgn="t">
              <a:spcAft>
                <a:spcPts val="353"/>
              </a:spcAft>
              <a:buFont typeface="Arial" panose="020B0604020202020204" pitchFamily="34" charset="0"/>
              <a:buChar char="•"/>
              <a:defRPr/>
            </a:pPr>
            <a:endParaRPr lang="en-US" sz="882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4" name="Rounded Rectangle 16">
            <a:extLst>
              <a:ext uri="{FF2B5EF4-FFF2-40B4-BE49-F238E27FC236}">
                <a16:creationId xmlns:a16="http://schemas.microsoft.com/office/drawing/2014/main" id="{400557C6-1C11-2BCA-DA61-7BE8C3718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201835" y="2516842"/>
            <a:ext cx="3385242" cy="371301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A6DC5"/>
              </a:gs>
              <a:gs pos="99000">
                <a:srgbClr val="299CB0"/>
              </a:gs>
            </a:gsLst>
            <a:path path="circle">
              <a:fillToRect l="100000" t="100000"/>
            </a:path>
            <a:tileRect r="-100000" b="-100000"/>
          </a:gradFill>
          <a:ln w="52388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80682" tIns="40341" rIns="80682" bIns="4034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806837">
              <a:defRPr/>
            </a:pPr>
            <a:endParaRPr lang="en-US">
              <a:solidFill>
                <a:srgbClr val="000000"/>
              </a:solidFill>
              <a:latin typeface="Segoe Sans Text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12BB28-9789-1C67-5B85-FBDDB1316B5C}"/>
              </a:ext>
            </a:extLst>
          </p:cNvPr>
          <p:cNvSpPr txBox="1"/>
          <p:nvPr/>
        </p:nvSpPr>
        <p:spPr>
          <a:xfrm>
            <a:off x="5163774" y="1503097"/>
            <a:ext cx="2424469" cy="594303"/>
          </a:xfrm>
          <a:prstGeom prst="rect">
            <a:avLst/>
          </a:prstGeom>
          <a:noFill/>
        </p:spPr>
        <p:txBody>
          <a:bodyPr wrap="square" lIns="0" tIns="40341" rIns="64546" bIns="40341" rtlCol="0">
            <a:spAutoFit/>
          </a:bodyPr>
          <a:lstStyle/>
          <a:p>
            <a:pPr defTabSz="899010">
              <a:spcBef>
                <a:spcPts val="353"/>
              </a:spcBef>
              <a:defRPr/>
            </a:pPr>
            <a:r>
              <a:rPr lang="en-US" sz="1235" b="1">
                <a:solidFill>
                  <a:srgbClr val="0078D4"/>
                </a:solidFill>
                <a:latin typeface="Segoe UI Semibold"/>
              </a:rPr>
              <a:t>Standard</a:t>
            </a:r>
          </a:p>
          <a:p>
            <a:pPr defTabSz="899010">
              <a:spcBef>
                <a:spcPts val="353"/>
              </a:spcBef>
              <a:defRPr/>
            </a:pPr>
            <a:r>
              <a:rPr lang="en-US" sz="882" kern="0">
                <a:solidFill>
                  <a:prstClr val="black"/>
                </a:solidFill>
                <a:latin typeface="Segoe UI"/>
              </a:rPr>
              <a:t>Full featured database with extensive scale for mid-tier applications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A7A1B9-18A3-BD96-1F22-B825E12FAF4A}"/>
              </a:ext>
            </a:extLst>
          </p:cNvPr>
          <p:cNvSpPr txBox="1"/>
          <p:nvPr/>
        </p:nvSpPr>
        <p:spPr>
          <a:xfrm>
            <a:off x="4388404" y="2250045"/>
            <a:ext cx="3105680" cy="298773"/>
          </a:xfrm>
          <a:prstGeom prst="rect">
            <a:avLst/>
          </a:prstGeom>
          <a:noFill/>
        </p:spPr>
        <p:txBody>
          <a:bodyPr wrap="square" lIns="0" tIns="40341" rIns="64546" bIns="40341" rtlCol="0" anchor="t">
            <a:spAutoFit/>
          </a:bodyPr>
          <a:lstStyle/>
          <a:p>
            <a:pPr defTabSz="323736">
              <a:spcAft>
                <a:spcPts val="529"/>
              </a:spcAft>
              <a:defRPr/>
            </a:pPr>
            <a:r>
              <a:rPr lang="en-US" sz="1412" b="1">
                <a:solidFill>
                  <a:srgbClr val="0078D4"/>
                </a:solidFill>
                <a:latin typeface="Segoe UI Semibold"/>
              </a:rPr>
              <a:t>Feature highlights 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8DF1E5-15EB-424B-24BC-860DF5296FD3}"/>
              </a:ext>
            </a:extLst>
          </p:cNvPr>
          <p:cNvSpPr txBox="1"/>
          <p:nvPr/>
        </p:nvSpPr>
        <p:spPr>
          <a:xfrm>
            <a:off x="4365691" y="2600655"/>
            <a:ext cx="3105680" cy="224138"/>
          </a:xfrm>
          <a:prstGeom prst="rect">
            <a:avLst/>
          </a:prstGeom>
          <a:noFill/>
        </p:spPr>
        <p:txBody>
          <a:bodyPr wrap="square" lIns="0" tIns="40341" rIns="64546" bIns="40341" rtlCol="0">
            <a:spAutoFit/>
          </a:bodyPr>
          <a:lstStyle/>
          <a:p>
            <a:pPr defTabSz="899010">
              <a:defRPr/>
            </a:pPr>
            <a:r>
              <a:rPr lang="en-US" sz="927" b="1">
                <a:solidFill>
                  <a:prstClr val="white"/>
                </a:solidFill>
                <a:latin typeface="Segoe UI"/>
              </a:rPr>
              <a:t>+   </a:t>
            </a:r>
            <a:r>
              <a:rPr lang="en-US" sz="353" b="1">
                <a:solidFill>
                  <a:prstClr val="white"/>
                </a:solidFill>
                <a:latin typeface="Segoe UI"/>
              </a:rPr>
              <a:t> </a:t>
            </a:r>
            <a:r>
              <a:rPr lang="en-US" sz="927">
                <a:solidFill>
                  <a:prstClr val="white"/>
                </a:solidFill>
                <a:latin typeface="Segoe UI"/>
              </a:rPr>
              <a:t>Express features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C2E5A76-6A0F-6B41-F414-7CB88738BF89}"/>
              </a:ext>
            </a:extLst>
          </p:cNvPr>
          <p:cNvSpPr txBox="1"/>
          <p:nvPr/>
        </p:nvSpPr>
        <p:spPr>
          <a:xfrm>
            <a:off x="4388404" y="2942542"/>
            <a:ext cx="3105680" cy="2085224"/>
          </a:xfrm>
          <a:prstGeom prst="rect">
            <a:avLst/>
          </a:prstGeom>
          <a:noFill/>
        </p:spPr>
        <p:txBody>
          <a:bodyPr wrap="square" lIns="0" tIns="40341" rIns="64546" bIns="40341" rtlCol="0" anchor="t" anchorCtr="0">
            <a:spAutoFit/>
          </a:bodyPr>
          <a:lstStyle/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 kern="0">
                <a:solidFill>
                  <a:prstClr val="black"/>
                </a:solidFill>
                <a:latin typeface="Segoe UI"/>
                <a:cs typeface="Segoe UI"/>
              </a:rPr>
              <a:t>Up to 32 cores of CPU</a:t>
            </a: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 kern="0">
                <a:solidFill>
                  <a:prstClr val="black"/>
                </a:solidFill>
                <a:latin typeface="Segoe UI"/>
              </a:rPr>
              <a:t>Up to 256 GB of memory</a:t>
            </a:r>
            <a:endParaRPr lang="en-US" sz="927" kern="0">
              <a:solidFill>
                <a:prstClr val="black"/>
              </a:solidFill>
              <a:latin typeface="Segoe UI"/>
              <a:cs typeface="Segoe UI"/>
            </a:endParaRP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>
                <a:solidFill>
                  <a:prstClr val="black"/>
                </a:solidFill>
                <a:ea typeface="+mn-lt"/>
                <a:cs typeface="Segoe UI"/>
              </a:rPr>
              <a:t>Optimized locking</a:t>
            </a:r>
            <a:endParaRPr lang="en-US" sz="927" kern="0">
              <a:solidFill>
                <a:prstClr val="black"/>
              </a:solidFill>
              <a:latin typeface="Segoe UI"/>
              <a:cs typeface="Segoe UI"/>
            </a:endParaRP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 kern="0">
                <a:solidFill>
                  <a:prstClr val="black"/>
                </a:solidFill>
                <a:latin typeface="Segoe UI"/>
                <a:cs typeface="Segoe UI"/>
              </a:rPr>
              <a:t>Resource Governor </a:t>
            </a: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 kern="0">
                <a:solidFill>
                  <a:prstClr val="black"/>
                </a:solidFill>
                <a:cs typeface="Segoe UI"/>
              </a:rPr>
              <a:t>ZSTD Backup Compression Algorithm</a:t>
            </a: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 kern="0">
                <a:solidFill>
                  <a:prstClr val="black"/>
                </a:solidFill>
                <a:cs typeface="Segoe UI"/>
              </a:rPr>
              <a:t>Basic Availability Groups</a:t>
            </a:r>
            <a:endParaRPr lang="en-US" sz="927" kern="0">
              <a:solidFill>
                <a:prstClr val="black"/>
              </a:solidFill>
              <a:latin typeface="Segoe UI"/>
            </a:endParaRP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 kern="0">
                <a:solidFill>
                  <a:prstClr val="black"/>
                </a:solidFill>
                <a:latin typeface="Segoe UI"/>
              </a:rPr>
              <a:t>Azure SQL Managed Instance link</a:t>
            </a:r>
            <a:endParaRPr lang="en-US" sz="927" kern="0">
              <a:solidFill>
                <a:prstClr val="black"/>
              </a:solidFill>
              <a:latin typeface="Segoe UI"/>
              <a:cs typeface="Segoe UI"/>
            </a:endParaRP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 kern="0">
                <a:solidFill>
                  <a:prstClr val="black"/>
                </a:solidFill>
                <a:latin typeface="Segoe UI"/>
              </a:rPr>
              <a:t>Accelerated Database Recovery</a:t>
            </a:r>
            <a:endParaRPr lang="en-US" sz="927" kern="0">
              <a:solidFill>
                <a:prstClr val="black"/>
              </a:solidFill>
              <a:latin typeface="Segoe UI"/>
              <a:cs typeface="Segoe UI"/>
            </a:endParaRP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 kern="0">
                <a:solidFill>
                  <a:prstClr val="black"/>
                </a:solidFill>
                <a:latin typeface="Segoe UI"/>
                <a:cs typeface="Segoe UI"/>
              </a:rPr>
              <a:t>Backups to S3-compatible object storage</a:t>
            </a: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>
                <a:solidFill>
                  <a:srgbClr val="000000"/>
                </a:solidFill>
                <a:latin typeface="Segoe UI"/>
              </a:rPr>
              <a:t>524 PB </a:t>
            </a:r>
            <a:r>
              <a:rPr lang="en-US" sz="927" kern="0">
                <a:solidFill>
                  <a:prstClr val="black"/>
                </a:solidFill>
                <a:latin typeface="Segoe UI"/>
              </a:rPr>
              <a:t>maximum relational databases size </a:t>
            </a:r>
            <a:endParaRPr lang="en-US" sz="927" kern="0">
              <a:solidFill>
                <a:prstClr val="black"/>
              </a:solidFill>
              <a:latin typeface="Segoe UI"/>
              <a:cs typeface="Segoe UI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30C0AB9A-B224-E6CC-D079-BFC2B5319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759" y="1532218"/>
            <a:ext cx="644611" cy="469957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>
            <a:outerShdw blurRad="92834" dist="38100" dir="2700000" sx="96000" sy="96000" algn="tl" rotWithShape="0">
              <a:prstClr val="black">
                <a:alpha val="30000"/>
              </a:prstClr>
            </a:outerShdw>
          </a:effectLst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7B15553A-2FB0-DA7B-2AE6-EC54022A740C}"/>
              </a:ext>
            </a:extLst>
          </p:cNvPr>
          <p:cNvSpPr txBox="1"/>
          <p:nvPr/>
        </p:nvSpPr>
        <p:spPr>
          <a:xfrm>
            <a:off x="5739346" y="2997758"/>
            <a:ext cx="479612" cy="12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94" b="1">
                <a:solidFill>
                  <a:srgbClr val="EE0000"/>
                </a:solidFill>
              </a:rPr>
              <a:t>NEW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99AF524-12BA-1412-44CF-59C362F58D16}"/>
              </a:ext>
            </a:extLst>
          </p:cNvPr>
          <p:cNvSpPr txBox="1"/>
          <p:nvPr/>
        </p:nvSpPr>
        <p:spPr>
          <a:xfrm>
            <a:off x="5899046" y="3214309"/>
            <a:ext cx="479612" cy="12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94" b="1">
                <a:solidFill>
                  <a:srgbClr val="EE0000"/>
                </a:solidFill>
              </a:rPr>
              <a:t>NEW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658E05C-1BB9-21BD-9B55-E4AC66F219F7}"/>
              </a:ext>
            </a:extLst>
          </p:cNvPr>
          <p:cNvSpPr txBox="1"/>
          <p:nvPr/>
        </p:nvSpPr>
        <p:spPr>
          <a:xfrm>
            <a:off x="5532850" y="3407801"/>
            <a:ext cx="479612" cy="12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94" b="1">
                <a:solidFill>
                  <a:srgbClr val="EE0000"/>
                </a:solidFill>
              </a:rPr>
              <a:t>NEW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DD7C41B-8DD5-3AA0-1879-B699AE02C802}"/>
              </a:ext>
            </a:extLst>
          </p:cNvPr>
          <p:cNvSpPr txBox="1"/>
          <p:nvPr/>
        </p:nvSpPr>
        <p:spPr>
          <a:xfrm>
            <a:off x="5654088" y="3613943"/>
            <a:ext cx="479612" cy="12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94" b="1">
                <a:solidFill>
                  <a:srgbClr val="EE0000"/>
                </a:solidFill>
              </a:rPr>
              <a:t>NEW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D8E6B86-FD40-BCE5-448F-79EB78CBFA4B}"/>
              </a:ext>
            </a:extLst>
          </p:cNvPr>
          <p:cNvSpPr txBox="1"/>
          <p:nvPr/>
        </p:nvSpPr>
        <p:spPr>
          <a:xfrm>
            <a:off x="6561549" y="3828956"/>
            <a:ext cx="479612" cy="12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94" b="1">
                <a:solidFill>
                  <a:srgbClr val="EE0000"/>
                </a:solidFill>
              </a:rPr>
              <a:t>NEW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EBA47F5-A410-39C9-6F09-2C89B5F572B1}"/>
              </a:ext>
            </a:extLst>
          </p:cNvPr>
          <p:cNvSpPr txBox="1"/>
          <p:nvPr/>
        </p:nvSpPr>
        <p:spPr>
          <a:xfrm>
            <a:off x="6935142" y="5675177"/>
            <a:ext cx="479612" cy="12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794" b="1">
                <a:solidFill>
                  <a:srgbClr val="EE0000"/>
                </a:solidFill>
              </a:rPr>
              <a:t>NEW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700E1BD-38D0-318F-BA49-90068B988793}"/>
              </a:ext>
            </a:extLst>
          </p:cNvPr>
          <p:cNvSpPr txBox="1"/>
          <p:nvPr/>
        </p:nvSpPr>
        <p:spPr>
          <a:xfrm>
            <a:off x="588814" y="2250045"/>
            <a:ext cx="3199840" cy="2159859"/>
          </a:xfrm>
          <a:prstGeom prst="rect">
            <a:avLst/>
          </a:prstGeom>
          <a:noFill/>
        </p:spPr>
        <p:txBody>
          <a:bodyPr wrap="square" lIns="0" tIns="40341" rIns="64546" bIns="40341" rtlCol="0" anchor="t">
            <a:spAutoFit/>
          </a:bodyPr>
          <a:lstStyle/>
          <a:p>
            <a:pPr defTabSz="323736">
              <a:spcAft>
                <a:spcPts val="529"/>
              </a:spcAft>
              <a:defRPr/>
            </a:pPr>
            <a:r>
              <a:rPr lang="en-US" sz="1412" b="1">
                <a:solidFill>
                  <a:srgbClr val="0078D4"/>
                </a:solidFill>
                <a:latin typeface="Segoe UI Semibold"/>
              </a:rPr>
              <a:t>Feature highlights </a:t>
            </a: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 kern="0">
                <a:solidFill>
                  <a:prstClr val="black"/>
                </a:solidFill>
                <a:latin typeface="Segoe UI"/>
              </a:rPr>
              <a:t>50 GB maximum relational databases size</a:t>
            </a:r>
            <a:endParaRPr lang="en-US" sz="927" kern="0">
              <a:solidFill>
                <a:prstClr val="black"/>
              </a:solidFill>
              <a:latin typeface="Segoe UI"/>
              <a:cs typeface="Segoe UI"/>
            </a:endParaRP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 kern="0">
                <a:solidFill>
                  <a:prstClr val="black"/>
                </a:solidFill>
                <a:latin typeface="Segoe UI"/>
              </a:rPr>
              <a:t>Up to 4 cores of CPU</a:t>
            </a:r>
            <a:endParaRPr lang="en-US" sz="927" kern="0">
              <a:solidFill>
                <a:prstClr val="black"/>
              </a:solidFill>
              <a:latin typeface="Segoe UI"/>
              <a:cs typeface="Segoe UI"/>
            </a:endParaRP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 kern="0">
                <a:solidFill>
                  <a:prstClr val="black"/>
                </a:solidFill>
                <a:latin typeface="Segoe UI"/>
              </a:rPr>
              <a:t>Up to 1410 MBs of memory</a:t>
            </a:r>
            <a:endParaRPr lang="en-US" sz="927" kern="0">
              <a:solidFill>
                <a:prstClr val="black"/>
              </a:solidFill>
              <a:latin typeface="Segoe UI"/>
              <a:cs typeface="Segoe UI"/>
            </a:endParaRP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Built-in vector search and semantic search </a:t>
            </a: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Native JSON type support</a:t>
            </a: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External REST endpoint invocation</a:t>
            </a: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Change event streaming</a:t>
            </a: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Microsoft Entra ID authentication</a:t>
            </a:r>
          </a:p>
          <a:p>
            <a:pPr marL="150727" indent="-150727" defTabSz="323736">
              <a:spcAft>
                <a:spcPts val="529"/>
              </a:spcAft>
              <a:buFont typeface="Arial" panose="020B0604020202020204" pitchFamily="34" charset="0"/>
              <a:buChar char="•"/>
              <a:defRPr/>
            </a:pPr>
            <a:r>
              <a:rPr lang="en-US" sz="927">
                <a:solidFill>
                  <a:prstClr val="black"/>
                </a:solidFill>
                <a:latin typeface="Segoe UI"/>
                <a:ea typeface="+mn-lt"/>
                <a:cs typeface="Segoe UI"/>
              </a:rPr>
              <a:t>Mirroring in Fabric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FE4F88-B2AA-8B36-182F-790A7883A4BB}"/>
              </a:ext>
            </a:extLst>
          </p:cNvPr>
          <p:cNvSpPr txBox="1"/>
          <p:nvPr/>
        </p:nvSpPr>
        <p:spPr>
          <a:xfrm>
            <a:off x="8258901" y="240529"/>
            <a:ext cx="366286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>
                <a:solidFill>
                  <a:schemeClr val="accent1"/>
                </a:solidFill>
                <a:latin typeface="+mj-lt"/>
              </a:rPr>
              <a:t>No pricing or licensing changes</a:t>
            </a:r>
          </a:p>
        </p:txBody>
      </p:sp>
    </p:spTree>
    <p:extLst>
      <p:ext uri="{BB962C8B-B14F-4D97-AF65-F5344CB8AC3E}">
        <p14:creationId xmlns:p14="http://schemas.microsoft.com/office/powerpoint/2010/main" val="3954853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5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59" grpId="0"/>
      <p:bldP spid="60" grpId="0"/>
      <p:bldP spid="61" grpId="0"/>
      <p:bldP spid="37" grpId="0" animBg="1"/>
      <p:bldP spid="41" grpId="0" animBg="1"/>
      <p:bldP spid="45" grpId="0" animBg="1"/>
      <p:bldP spid="55" grpId="0"/>
      <p:bldP spid="56" grpId="0"/>
      <p:bldP spid="57" grpId="0"/>
      <p:bldP spid="58" grpId="0"/>
      <p:bldP spid="31" grpId="0" animBg="1"/>
      <p:bldP spid="32" grpId="0" animBg="1"/>
      <p:bldP spid="46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35" grpId="0" animBg="1"/>
      <p:bldP spid="43" grpId="0" animBg="1"/>
      <p:bldP spid="44" grpId="0" animBg="1"/>
      <p:bldP spid="50" grpId="0"/>
      <p:bldP spid="52" grpId="0"/>
      <p:bldP spid="53" grpId="0"/>
      <p:bldP spid="54" grpId="0"/>
      <p:bldP spid="67" grpId="0"/>
      <p:bldP spid="68" grpId="0"/>
      <p:bldP spid="69" grpId="0"/>
      <p:bldP spid="77" grpId="0"/>
      <p:bldP spid="78" grpId="0"/>
      <p:bldP spid="79" grpId="0"/>
      <p:bldP spid="4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F199-61CC-4830-ABA8-05D1F958E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6547" y="1834397"/>
            <a:ext cx="8278906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3000"/>
              </a:spcAft>
              <a:buNone/>
            </a:pPr>
            <a:r>
              <a:rPr lang="en-US" sz="2400" b="1" dirty="0">
                <a:ln w="3175">
                  <a:noFill/>
                </a:ln>
                <a:gradFill>
                  <a:gsLst>
                    <a:gs pos="0">
                      <a:srgbClr val="73262F"/>
                    </a:gs>
                    <a:gs pos="70000">
                      <a:srgbClr val="2A446F"/>
                    </a:gs>
                  </a:gsLst>
                  <a:path path="circle">
                    <a:fillToRect l="100000" t="100000"/>
                  </a:path>
                </a:gradFill>
                <a:cs typeface="Segoe UI"/>
              </a:rPr>
              <a:t>Smarter searching </a:t>
            </a:r>
            <a:r>
              <a:rPr lang="en-US" sz="2400" dirty="0"/>
              <a:t>on your existing text data</a:t>
            </a:r>
          </a:p>
          <a:p>
            <a:pPr marL="0" indent="0">
              <a:spcBef>
                <a:spcPts val="0"/>
              </a:spcBef>
              <a:spcAft>
                <a:spcPts val="3000"/>
              </a:spcAft>
              <a:buNone/>
            </a:pPr>
            <a:r>
              <a:rPr lang="en-US" sz="2400" dirty="0"/>
              <a:t>Bring in other documents/text for </a:t>
            </a:r>
            <a:r>
              <a:rPr lang="en-US" sz="2400" b="1" dirty="0">
                <a:ln w="3175">
                  <a:noFill/>
                </a:ln>
                <a:gradFill>
                  <a:gsLst>
                    <a:gs pos="0">
                      <a:srgbClr val="73262F"/>
                    </a:gs>
                    <a:gs pos="70000">
                      <a:srgbClr val="2A446F"/>
                    </a:gs>
                  </a:gsLst>
                  <a:path path="circle">
                    <a:fillToRect l="100000" t="100000"/>
                  </a:path>
                </a:gradFill>
                <a:cs typeface="Segoe UI"/>
              </a:rPr>
              <a:t>centralized vector searching</a:t>
            </a:r>
          </a:p>
          <a:p>
            <a:pPr marL="0" indent="0">
              <a:spcBef>
                <a:spcPts val="0"/>
              </a:spcBef>
              <a:spcAft>
                <a:spcPts val="3000"/>
              </a:spcAft>
              <a:buNone/>
            </a:pPr>
            <a:r>
              <a:rPr lang="en-US" sz="2400" dirty="0"/>
              <a:t>Provide </a:t>
            </a:r>
            <a:r>
              <a:rPr lang="en-US" sz="2400" b="1" dirty="0">
                <a:ln w="3175">
                  <a:noFill/>
                </a:ln>
                <a:gradFill>
                  <a:gsLst>
                    <a:gs pos="0">
                      <a:srgbClr val="73262F"/>
                    </a:gs>
                    <a:gs pos="70000">
                      <a:srgbClr val="2A446F"/>
                    </a:gs>
                  </a:gsLst>
                  <a:path path="circle">
                    <a:fillToRect l="100000" t="100000"/>
                  </a:path>
                </a:gradFill>
                <a:cs typeface="Segoe UI"/>
              </a:rPr>
              <a:t>building blocks </a:t>
            </a:r>
            <a:r>
              <a:rPr lang="en-US" sz="2400" dirty="0"/>
              <a:t>- Intelligent assistants, RAG, AI Agents</a:t>
            </a:r>
          </a:p>
          <a:p>
            <a:pPr marL="0" indent="0">
              <a:spcBef>
                <a:spcPts val="0"/>
              </a:spcBef>
              <a:spcAft>
                <a:spcPts val="3000"/>
              </a:spcAft>
              <a:buNone/>
            </a:pPr>
            <a:r>
              <a:rPr lang="en-US" sz="2400" dirty="0"/>
              <a:t>Take advantage of AI in a </a:t>
            </a:r>
            <a:r>
              <a:rPr lang="en-US" sz="2400" b="1" dirty="0">
                <a:ln w="3175">
                  <a:noFill/>
                </a:ln>
                <a:gradFill>
                  <a:gsLst>
                    <a:gs pos="0">
                      <a:srgbClr val="73262F"/>
                    </a:gs>
                    <a:gs pos="70000">
                      <a:srgbClr val="2A446F"/>
                    </a:gs>
                  </a:gsLst>
                  <a:path path="circle">
                    <a:fillToRect l="100000" t="100000"/>
                  </a:path>
                </a:gradFill>
                <a:cs typeface="Segoe UI"/>
              </a:rPr>
              <a:t>secure and scalable </a:t>
            </a:r>
            <a:r>
              <a:rPr lang="en-US" sz="2400" dirty="0"/>
              <a:t>fashion</a:t>
            </a:r>
          </a:p>
          <a:p>
            <a:pPr marL="0" indent="0">
              <a:spcBef>
                <a:spcPts val="0"/>
              </a:spcBef>
              <a:spcAft>
                <a:spcPts val="3000"/>
              </a:spcAft>
              <a:buNone/>
            </a:pPr>
            <a:r>
              <a:rPr lang="en-US" sz="2400" b="1" dirty="0">
                <a:ln w="3175">
                  <a:noFill/>
                </a:ln>
                <a:gradFill>
                  <a:gsLst>
                    <a:gs pos="0">
                      <a:srgbClr val="73262F"/>
                    </a:gs>
                    <a:gs pos="70000">
                      <a:srgbClr val="2A446F"/>
                    </a:gs>
                  </a:gsLst>
                  <a:path path="circle">
                    <a:fillToRect l="100000" t="100000"/>
                  </a:path>
                </a:gradFill>
                <a:cs typeface="Segoe UI"/>
              </a:rPr>
              <a:t>Overcome complexity </a:t>
            </a:r>
            <a:r>
              <a:rPr lang="en-US" sz="2400" dirty="0"/>
              <a:t>by using the familiar T-SQL language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8459DB-CF74-1CD8-29D5-A65835C23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What problems are we trying to solve with AI?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FF8C07F-A849-B231-BB5F-B4E68FE407F2}"/>
              </a:ext>
            </a:extLst>
          </p:cNvPr>
          <p:cNvGrpSpPr/>
          <p:nvPr/>
        </p:nvGrpSpPr>
        <p:grpSpPr>
          <a:xfrm>
            <a:off x="1591578" y="1834397"/>
            <a:ext cx="364969" cy="3189206"/>
            <a:chOff x="695548" y="1430703"/>
            <a:chExt cx="364969" cy="3189206"/>
          </a:xfr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grpSpPr>
        <p:sp>
          <p:nvSpPr>
            <p:cNvPr id="6" name="Graphic 4">
              <a:extLst>
                <a:ext uri="{FF2B5EF4-FFF2-40B4-BE49-F238E27FC236}">
                  <a16:creationId xmlns:a16="http://schemas.microsoft.com/office/drawing/2014/main" id="{5B74D6AD-3F88-20F7-AEB6-70F082328CEF}"/>
                </a:ext>
              </a:extLst>
            </p:cNvPr>
            <p:cNvSpPr/>
            <p:nvPr/>
          </p:nvSpPr>
          <p:spPr>
            <a:xfrm>
              <a:off x="695548" y="1430703"/>
              <a:ext cx="364969" cy="364969"/>
            </a:xfrm>
            <a:custGeom>
              <a:avLst/>
              <a:gdLst>
                <a:gd name="connsiteX0" fmla="*/ 220807 w 441613"/>
                <a:gd name="connsiteY0" fmla="*/ 0 h 441613"/>
                <a:gd name="connsiteX1" fmla="*/ 441613 w 441613"/>
                <a:gd name="connsiteY1" fmla="*/ 220807 h 441613"/>
                <a:gd name="connsiteX2" fmla="*/ 220807 w 441613"/>
                <a:gd name="connsiteY2" fmla="*/ 441613 h 441613"/>
                <a:gd name="connsiteX3" fmla="*/ 0 w 441613"/>
                <a:gd name="connsiteY3" fmla="*/ 220807 h 441613"/>
                <a:gd name="connsiteX4" fmla="*/ 220807 w 441613"/>
                <a:gd name="connsiteY4" fmla="*/ 0 h 441613"/>
                <a:gd name="connsiteX5" fmla="*/ 291906 w 441613"/>
                <a:gd name="connsiteY5" fmla="*/ 153902 h 441613"/>
                <a:gd name="connsiteX6" fmla="*/ 193206 w 441613"/>
                <a:gd name="connsiteY6" fmla="*/ 252603 h 441613"/>
                <a:gd name="connsiteX7" fmla="*/ 149707 w 441613"/>
                <a:gd name="connsiteY7" fmla="*/ 209104 h 441613"/>
                <a:gd name="connsiteX8" fmla="*/ 126301 w 441613"/>
                <a:gd name="connsiteY8" fmla="*/ 209930 h 441613"/>
                <a:gd name="connsiteX9" fmla="*/ 126301 w 441613"/>
                <a:gd name="connsiteY9" fmla="*/ 232509 h 441613"/>
                <a:gd name="connsiteX10" fmla="*/ 181503 w 441613"/>
                <a:gd name="connsiteY10" fmla="*/ 287711 h 441613"/>
                <a:gd name="connsiteX11" fmla="*/ 204909 w 441613"/>
                <a:gd name="connsiteY11" fmla="*/ 287711 h 441613"/>
                <a:gd name="connsiteX12" fmla="*/ 315312 w 441613"/>
                <a:gd name="connsiteY12" fmla="*/ 177308 h 441613"/>
                <a:gd name="connsiteX13" fmla="*/ 316138 w 441613"/>
                <a:gd name="connsiteY13" fmla="*/ 153902 h 441613"/>
                <a:gd name="connsiteX14" fmla="*/ 292732 w 441613"/>
                <a:gd name="connsiteY14" fmla="*/ 153076 h 441613"/>
                <a:gd name="connsiteX15" fmla="*/ 291906 w 441613"/>
                <a:gd name="connsiteY15" fmla="*/ 153902 h 441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1613" h="441613">
                  <a:moveTo>
                    <a:pt x="220807" y="0"/>
                  </a:moveTo>
                  <a:cubicBezTo>
                    <a:pt x="342758" y="0"/>
                    <a:pt x="441613" y="98855"/>
                    <a:pt x="441613" y="220807"/>
                  </a:cubicBezTo>
                  <a:cubicBezTo>
                    <a:pt x="441613" y="342758"/>
                    <a:pt x="342758" y="441613"/>
                    <a:pt x="220807" y="441613"/>
                  </a:cubicBezTo>
                  <a:cubicBezTo>
                    <a:pt x="98855" y="441613"/>
                    <a:pt x="0" y="342758"/>
                    <a:pt x="0" y="220807"/>
                  </a:cubicBezTo>
                  <a:cubicBezTo>
                    <a:pt x="0" y="98855"/>
                    <a:pt x="98855" y="0"/>
                    <a:pt x="220807" y="0"/>
                  </a:cubicBezTo>
                  <a:close/>
                  <a:moveTo>
                    <a:pt x="291906" y="153902"/>
                  </a:moveTo>
                  <a:lnTo>
                    <a:pt x="193206" y="252603"/>
                  </a:lnTo>
                  <a:lnTo>
                    <a:pt x="149707" y="209104"/>
                  </a:lnTo>
                  <a:cubicBezTo>
                    <a:pt x="143016" y="202868"/>
                    <a:pt x="132537" y="203239"/>
                    <a:pt x="126301" y="209930"/>
                  </a:cubicBezTo>
                  <a:cubicBezTo>
                    <a:pt x="120375" y="216289"/>
                    <a:pt x="120375" y="226150"/>
                    <a:pt x="126301" y="232509"/>
                  </a:cubicBezTo>
                  <a:lnTo>
                    <a:pt x="181503" y="287711"/>
                  </a:lnTo>
                  <a:cubicBezTo>
                    <a:pt x="187968" y="294170"/>
                    <a:pt x="198443" y="294170"/>
                    <a:pt x="204909" y="287711"/>
                  </a:cubicBezTo>
                  <a:lnTo>
                    <a:pt x="315312" y="177308"/>
                  </a:lnTo>
                  <a:cubicBezTo>
                    <a:pt x="322002" y="171073"/>
                    <a:pt x="322373" y="160594"/>
                    <a:pt x="316138" y="153902"/>
                  </a:cubicBezTo>
                  <a:cubicBezTo>
                    <a:pt x="309902" y="147211"/>
                    <a:pt x="299425" y="146841"/>
                    <a:pt x="292732" y="153076"/>
                  </a:cubicBezTo>
                  <a:cubicBezTo>
                    <a:pt x="292447" y="153342"/>
                    <a:pt x="292171" y="153617"/>
                    <a:pt x="291906" y="153902"/>
                  </a:cubicBezTo>
                  <a:close/>
                </a:path>
              </a:pathLst>
            </a:custGeom>
            <a:grpFill/>
            <a:ln w="63897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" name="Graphic 4">
              <a:extLst>
                <a:ext uri="{FF2B5EF4-FFF2-40B4-BE49-F238E27FC236}">
                  <a16:creationId xmlns:a16="http://schemas.microsoft.com/office/drawing/2014/main" id="{DB71F502-15FB-5F62-AD40-AFAE299376F0}"/>
                </a:ext>
              </a:extLst>
            </p:cNvPr>
            <p:cNvSpPr/>
            <p:nvPr/>
          </p:nvSpPr>
          <p:spPr>
            <a:xfrm>
              <a:off x="695548" y="2130358"/>
              <a:ext cx="364969" cy="364969"/>
            </a:xfrm>
            <a:custGeom>
              <a:avLst/>
              <a:gdLst>
                <a:gd name="connsiteX0" fmla="*/ 220807 w 441613"/>
                <a:gd name="connsiteY0" fmla="*/ 0 h 441613"/>
                <a:gd name="connsiteX1" fmla="*/ 441613 w 441613"/>
                <a:gd name="connsiteY1" fmla="*/ 220807 h 441613"/>
                <a:gd name="connsiteX2" fmla="*/ 220807 w 441613"/>
                <a:gd name="connsiteY2" fmla="*/ 441613 h 441613"/>
                <a:gd name="connsiteX3" fmla="*/ 0 w 441613"/>
                <a:gd name="connsiteY3" fmla="*/ 220807 h 441613"/>
                <a:gd name="connsiteX4" fmla="*/ 220807 w 441613"/>
                <a:gd name="connsiteY4" fmla="*/ 0 h 441613"/>
                <a:gd name="connsiteX5" fmla="*/ 291906 w 441613"/>
                <a:gd name="connsiteY5" fmla="*/ 153902 h 441613"/>
                <a:gd name="connsiteX6" fmla="*/ 193206 w 441613"/>
                <a:gd name="connsiteY6" fmla="*/ 252603 h 441613"/>
                <a:gd name="connsiteX7" fmla="*/ 149707 w 441613"/>
                <a:gd name="connsiteY7" fmla="*/ 209104 h 441613"/>
                <a:gd name="connsiteX8" fmla="*/ 126301 w 441613"/>
                <a:gd name="connsiteY8" fmla="*/ 209930 h 441613"/>
                <a:gd name="connsiteX9" fmla="*/ 126301 w 441613"/>
                <a:gd name="connsiteY9" fmla="*/ 232509 h 441613"/>
                <a:gd name="connsiteX10" fmla="*/ 181503 w 441613"/>
                <a:gd name="connsiteY10" fmla="*/ 287711 h 441613"/>
                <a:gd name="connsiteX11" fmla="*/ 204909 w 441613"/>
                <a:gd name="connsiteY11" fmla="*/ 287711 h 441613"/>
                <a:gd name="connsiteX12" fmla="*/ 315312 w 441613"/>
                <a:gd name="connsiteY12" fmla="*/ 177308 h 441613"/>
                <a:gd name="connsiteX13" fmla="*/ 316138 w 441613"/>
                <a:gd name="connsiteY13" fmla="*/ 153902 h 441613"/>
                <a:gd name="connsiteX14" fmla="*/ 292732 w 441613"/>
                <a:gd name="connsiteY14" fmla="*/ 153076 h 441613"/>
                <a:gd name="connsiteX15" fmla="*/ 291906 w 441613"/>
                <a:gd name="connsiteY15" fmla="*/ 153902 h 441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1613" h="441613">
                  <a:moveTo>
                    <a:pt x="220807" y="0"/>
                  </a:moveTo>
                  <a:cubicBezTo>
                    <a:pt x="342758" y="0"/>
                    <a:pt x="441613" y="98855"/>
                    <a:pt x="441613" y="220807"/>
                  </a:cubicBezTo>
                  <a:cubicBezTo>
                    <a:pt x="441613" y="342758"/>
                    <a:pt x="342758" y="441613"/>
                    <a:pt x="220807" y="441613"/>
                  </a:cubicBezTo>
                  <a:cubicBezTo>
                    <a:pt x="98855" y="441613"/>
                    <a:pt x="0" y="342758"/>
                    <a:pt x="0" y="220807"/>
                  </a:cubicBezTo>
                  <a:cubicBezTo>
                    <a:pt x="0" y="98855"/>
                    <a:pt x="98855" y="0"/>
                    <a:pt x="220807" y="0"/>
                  </a:cubicBezTo>
                  <a:close/>
                  <a:moveTo>
                    <a:pt x="291906" y="153902"/>
                  </a:moveTo>
                  <a:lnTo>
                    <a:pt x="193206" y="252603"/>
                  </a:lnTo>
                  <a:lnTo>
                    <a:pt x="149707" y="209104"/>
                  </a:lnTo>
                  <a:cubicBezTo>
                    <a:pt x="143016" y="202868"/>
                    <a:pt x="132537" y="203239"/>
                    <a:pt x="126301" y="209930"/>
                  </a:cubicBezTo>
                  <a:cubicBezTo>
                    <a:pt x="120375" y="216289"/>
                    <a:pt x="120375" y="226150"/>
                    <a:pt x="126301" y="232509"/>
                  </a:cubicBezTo>
                  <a:lnTo>
                    <a:pt x="181503" y="287711"/>
                  </a:lnTo>
                  <a:cubicBezTo>
                    <a:pt x="187968" y="294170"/>
                    <a:pt x="198443" y="294170"/>
                    <a:pt x="204909" y="287711"/>
                  </a:cubicBezTo>
                  <a:lnTo>
                    <a:pt x="315312" y="177308"/>
                  </a:lnTo>
                  <a:cubicBezTo>
                    <a:pt x="322002" y="171073"/>
                    <a:pt x="322373" y="160594"/>
                    <a:pt x="316138" y="153902"/>
                  </a:cubicBezTo>
                  <a:cubicBezTo>
                    <a:pt x="309902" y="147211"/>
                    <a:pt x="299425" y="146841"/>
                    <a:pt x="292732" y="153076"/>
                  </a:cubicBezTo>
                  <a:cubicBezTo>
                    <a:pt x="292447" y="153342"/>
                    <a:pt x="292171" y="153617"/>
                    <a:pt x="291906" y="153902"/>
                  </a:cubicBezTo>
                  <a:close/>
                </a:path>
              </a:pathLst>
            </a:custGeom>
            <a:grpFill/>
            <a:ln w="63897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" name="Graphic 4">
              <a:extLst>
                <a:ext uri="{FF2B5EF4-FFF2-40B4-BE49-F238E27FC236}">
                  <a16:creationId xmlns:a16="http://schemas.microsoft.com/office/drawing/2014/main" id="{64C629BB-16E7-C43F-27A4-56D2E590D0AF}"/>
                </a:ext>
              </a:extLst>
            </p:cNvPr>
            <p:cNvSpPr/>
            <p:nvPr/>
          </p:nvSpPr>
          <p:spPr>
            <a:xfrm>
              <a:off x="695548" y="2843867"/>
              <a:ext cx="364969" cy="364969"/>
            </a:xfrm>
            <a:custGeom>
              <a:avLst/>
              <a:gdLst>
                <a:gd name="connsiteX0" fmla="*/ 220807 w 441613"/>
                <a:gd name="connsiteY0" fmla="*/ 0 h 441613"/>
                <a:gd name="connsiteX1" fmla="*/ 441613 w 441613"/>
                <a:gd name="connsiteY1" fmla="*/ 220807 h 441613"/>
                <a:gd name="connsiteX2" fmla="*/ 220807 w 441613"/>
                <a:gd name="connsiteY2" fmla="*/ 441613 h 441613"/>
                <a:gd name="connsiteX3" fmla="*/ 0 w 441613"/>
                <a:gd name="connsiteY3" fmla="*/ 220807 h 441613"/>
                <a:gd name="connsiteX4" fmla="*/ 220807 w 441613"/>
                <a:gd name="connsiteY4" fmla="*/ 0 h 441613"/>
                <a:gd name="connsiteX5" fmla="*/ 291906 w 441613"/>
                <a:gd name="connsiteY5" fmla="*/ 153902 h 441613"/>
                <a:gd name="connsiteX6" fmla="*/ 193206 w 441613"/>
                <a:gd name="connsiteY6" fmla="*/ 252603 h 441613"/>
                <a:gd name="connsiteX7" fmla="*/ 149707 w 441613"/>
                <a:gd name="connsiteY7" fmla="*/ 209104 h 441613"/>
                <a:gd name="connsiteX8" fmla="*/ 126301 w 441613"/>
                <a:gd name="connsiteY8" fmla="*/ 209930 h 441613"/>
                <a:gd name="connsiteX9" fmla="*/ 126301 w 441613"/>
                <a:gd name="connsiteY9" fmla="*/ 232509 h 441613"/>
                <a:gd name="connsiteX10" fmla="*/ 181503 w 441613"/>
                <a:gd name="connsiteY10" fmla="*/ 287711 h 441613"/>
                <a:gd name="connsiteX11" fmla="*/ 204909 w 441613"/>
                <a:gd name="connsiteY11" fmla="*/ 287711 h 441613"/>
                <a:gd name="connsiteX12" fmla="*/ 315312 w 441613"/>
                <a:gd name="connsiteY12" fmla="*/ 177308 h 441613"/>
                <a:gd name="connsiteX13" fmla="*/ 316138 w 441613"/>
                <a:gd name="connsiteY13" fmla="*/ 153902 h 441613"/>
                <a:gd name="connsiteX14" fmla="*/ 292732 w 441613"/>
                <a:gd name="connsiteY14" fmla="*/ 153076 h 441613"/>
                <a:gd name="connsiteX15" fmla="*/ 291906 w 441613"/>
                <a:gd name="connsiteY15" fmla="*/ 153902 h 441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1613" h="441613">
                  <a:moveTo>
                    <a:pt x="220807" y="0"/>
                  </a:moveTo>
                  <a:cubicBezTo>
                    <a:pt x="342758" y="0"/>
                    <a:pt x="441613" y="98855"/>
                    <a:pt x="441613" y="220807"/>
                  </a:cubicBezTo>
                  <a:cubicBezTo>
                    <a:pt x="441613" y="342758"/>
                    <a:pt x="342758" y="441613"/>
                    <a:pt x="220807" y="441613"/>
                  </a:cubicBezTo>
                  <a:cubicBezTo>
                    <a:pt x="98855" y="441613"/>
                    <a:pt x="0" y="342758"/>
                    <a:pt x="0" y="220807"/>
                  </a:cubicBezTo>
                  <a:cubicBezTo>
                    <a:pt x="0" y="98855"/>
                    <a:pt x="98855" y="0"/>
                    <a:pt x="220807" y="0"/>
                  </a:cubicBezTo>
                  <a:close/>
                  <a:moveTo>
                    <a:pt x="291906" y="153902"/>
                  </a:moveTo>
                  <a:lnTo>
                    <a:pt x="193206" y="252603"/>
                  </a:lnTo>
                  <a:lnTo>
                    <a:pt x="149707" y="209104"/>
                  </a:lnTo>
                  <a:cubicBezTo>
                    <a:pt x="143016" y="202868"/>
                    <a:pt x="132537" y="203239"/>
                    <a:pt x="126301" y="209930"/>
                  </a:cubicBezTo>
                  <a:cubicBezTo>
                    <a:pt x="120375" y="216289"/>
                    <a:pt x="120375" y="226150"/>
                    <a:pt x="126301" y="232509"/>
                  </a:cubicBezTo>
                  <a:lnTo>
                    <a:pt x="181503" y="287711"/>
                  </a:lnTo>
                  <a:cubicBezTo>
                    <a:pt x="187968" y="294170"/>
                    <a:pt x="198443" y="294170"/>
                    <a:pt x="204909" y="287711"/>
                  </a:cubicBezTo>
                  <a:lnTo>
                    <a:pt x="315312" y="177308"/>
                  </a:lnTo>
                  <a:cubicBezTo>
                    <a:pt x="322002" y="171073"/>
                    <a:pt x="322373" y="160594"/>
                    <a:pt x="316138" y="153902"/>
                  </a:cubicBezTo>
                  <a:cubicBezTo>
                    <a:pt x="309902" y="147211"/>
                    <a:pt x="299425" y="146841"/>
                    <a:pt x="292732" y="153076"/>
                  </a:cubicBezTo>
                  <a:cubicBezTo>
                    <a:pt x="292447" y="153342"/>
                    <a:pt x="292171" y="153617"/>
                    <a:pt x="291906" y="153902"/>
                  </a:cubicBezTo>
                  <a:close/>
                </a:path>
              </a:pathLst>
            </a:custGeom>
            <a:grpFill/>
            <a:ln w="63897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" name="Graphic 4">
              <a:extLst>
                <a:ext uri="{FF2B5EF4-FFF2-40B4-BE49-F238E27FC236}">
                  <a16:creationId xmlns:a16="http://schemas.microsoft.com/office/drawing/2014/main" id="{248EEB62-E8DF-C661-65A4-A439CE45646E}"/>
                </a:ext>
              </a:extLst>
            </p:cNvPr>
            <p:cNvSpPr/>
            <p:nvPr/>
          </p:nvSpPr>
          <p:spPr>
            <a:xfrm>
              <a:off x="695548" y="3555286"/>
              <a:ext cx="364969" cy="364969"/>
            </a:xfrm>
            <a:custGeom>
              <a:avLst/>
              <a:gdLst>
                <a:gd name="connsiteX0" fmla="*/ 220807 w 441613"/>
                <a:gd name="connsiteY0" fmla="*/ 0 h 441613"/>
                <a:gd name="connsiteX1" fmla="*/ 441613 w 441613"/>
                <a:gd name="connsiteY1" fmla="*/ 220807 h 441613"/>
                <a:gd name="connsiteX2" fmla="*/ 220807 w 441613"/>
                <a:gd name="connsiteY2" fmla="*/ 441613 h 441613"/>
                <a:gd name="connsiteX3" fmla="*/ 0 w 441613"/>
                <a:gd name="connsiteY3" fmla="*/ 220807 h 441613"/>
                <a:gd name="connsiteX4" fmla="*/ 220807 w 441613"/>
                <a:gd name="connsiteY4" fmla="*/ 0 h 441613"/>
                <a:gd name="connsiteX5" fmla="*/ 291906 w 441613"/>
                <a:gd name="connsiteY5" fmla="*/ 153902 h 441613"/>
                <a:gd name="connsiteX6" fmla="*/ 193206 w 441613"/>
                <a:gd name="connsiteY6" fmla="*/ 252603 h 441613"/>
                <a:gd name="connsiteX7" fmla="*/ 149707 w 441613"/>
                <a:gd name="connsiteY7" fmla="*/ 209104 h 441613"/>
                <a:gd name="connsiteX8" fmla="*/ 126301 w 441613"/>
                <a:gd name="connsiteY8" fmla="*/ 209930 h 441613"/>
                <a:gd name="connsiteX9" fmla="*/ 126301 w 441613"/>
                <a:gd name="connsiteY9" fmla="*/ 232509 h 441613"/>
                <a:gd name="connsiteX10" fmla="*/ 181503 w 441613"/>
                <a:gd name="connsiteY10" fmla="*/ 287711 h 441613"/>
                <a:gd name="connsiteX11" fmla="*/ 204909 w 441613"/>
                <a:gd name="connsiteY11" fmla="*/ 287711 h 441613"/>
                <a:gd name="connsiteX12" fmla="*/ 315312 w 441613"/>
                <a:gd name="connsiteY12" fmla="*/ 177308 h 441613"/>
                <a:gd name="connsiteX13" fmla="*/ 316138 w 441613"/>
                <a:gd name="connsiteY13" fmla="*/ 153902 h 441613"/>
                <a:gd name="connsiteX14" fmla="*/ 292732 w 441613"/>
                <a:gd name="connsiteY14" fmla="*/ 153076 h 441613"/>
                <a:gd name="connsiteX15" fmla="*/ 291906 w 441613"/>
                <a:gd name="connsiteY15" fmla="*/ 153902 h 441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1613" h="441613">
                  <a:moveTo>
                    <a:pt x="220807" y="0"/>
                  </a:moveTo>
                  <a:cubicBezTo>
                    <a:pt x="342758" y="0"/>
                    <a:pt x="441613" y="98855"/>
                    <a:pt x="441613" y="220807"/>
                  </a:cubicBezTo>
                  <a:cubicBezTo>
                    <a:pt x="441613" y="342758"/>
                    <a:pt x="342758" y="441613"/>
                    <a:pt x="220807" y="441613"/>
                  </a:cubicBezTo>
                  <a:cubicBezTo>
                    <a:pt x="98855" y="441613"/>
                    <a:pt x="0" y="342758"/>
                    <a:pt x="0" y="220807"/>
                  </a:cubicBezTo>
                  <a:cubicBezTo>
                    <a:pt x="0" y="98855"/>
                    <a:pt x="98855" y="0"/>
                    <a:pt x="220807" y="0"/>
                  </a:cubicBezTo>
                  <a:close/>
                  <a:moveTo>
                    <a:pt x="291906" y="153902"/>
                  </a:moveTo>
                  <a:lnTo>
                    <a:pt x="193206" y="252603"/>
                  </a:lnTo>
                  <a:lnTo>
                    <a:pt x="149707" y="209104"/>
                  </a:lnTo>
                  <a:cubicBezTo>
                    <a:pt x="143016" y="202868"/>
                    <a:pt x="132537" y="203239"/>
                    <a:pt x="126301" y="209930"/>
                  </a:cubicBezTo>
                  <a:cubicBezTo>
                    <a:pt x="120375" y="216289"/>
                    <a:pt x="120375" y="226150"/>
                    <a:pt x="126301" y="232509"/>
                  </a:cubicBezTo>
                  <a:lnTo>
                    <a:pt x="181503" y="287711"/>
                  </a:lnTo>
                  <a:cubicBezTo>
                    <a:pt x="187968" y="294170"/>
                    <a:pt x="198443" y="294170"/>
                    <a:pt x="204909" y="287711"/>
                  </a:cubicBezTo>
                  <a:lnTo>
                    <a:pt x="315312" y="177308"/>
                  </a:lnTo>
                  <a:cubicBezTo>
                    <a:pt x="322002" y="171073"/>
                    <a:pt x="322373" y="160594"/>
                    <a:pt x="316138" y="153902"/>
                  </a:cubicBezTo>
                  <a:cubicBezTo>
                    <a:pt x="309902" y="147211"/>
                    <a:pt x="299425" y="146841"/>
                    <a:pt x="292732" y="153076"/>
                  </a:cubicBezTo>
                  <a:cubicBezTo>
                    <a:pt x="292447" y="153342"/>
                    <a:pt x="292171" y="153617"/>
                    <a:pt x="291906" y="153902"/>
                  </a:cubicBezTo>
                  <a:close/>
                </a:path>
              </a:pathLst>
            </a:custGeom>
            <a:grpFill/>
            <a:ln w="63897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0" name="Graphic 4">
              <a:extLst>
                <a:ext uri="{FF2B5EF4-FFF2-40B4-BE49-F238E27FC236}">
                  <a16:creationId xmlns:a16="http://schemas.microsoft.com/office/drawing/2014/main" id="{D5769B52-ABDD-2441-9B40-ACA26F63C219}"/>
                </a:ext>
              </a:extLst>
            </p:cNvPr>
            <p:cNvSpPr/>
            <p:nvPr/>
          </p:nvSpPr>
          <p:spPr>
            <a:xfrm>
              <a:off x="695548" y="4254940"/>
              <a:ext cx="364969" cy="364969"/>
            </a:xfrm>
            <a:custGeom>
              <a:avLst/>
              <a:gdLst>
                <a:gd name="connsiteX0" fmla="*/ 220807 w 441613"/>
                <a:gd name="connsiteY0" fmla="*/ 0 h 441613"/>
                <a:gd name="connsiteX1" fmla="*/ 441613 w 441613"/>
                <a:gd name="connsiteY1" fmla="*/ 220807 h 441613"/>
                <a:gd name="connsiteX2" fmla="*/ 220807 w 441613"/>
                <a:gd name="connsiteY2" fmla="*/ 441613 h 441613"/>
                <a:gd name="connsiteX3" fmla="*/ 0 w 441613"/>
                <a:gd name="connsiteY3" fmla="*/ 220807 h 441613"/>
                <a:gd name="connsiteX4" fmla="*/ 220807 w 441613"/>
                <a:gd name="connsiteY4" fmla="*/ 0 h 441613"/>
                <a:gd name="connsiteX5" fmla="*/ 291906 w 441613"/>
                <a:gd name="connsiteY5" fmla="*/ 153902 h 441613"/>
                <a:gd name="connsiteX6" fmla="*/ 193206 w 441613"/>
                <a:gd name="connsiteY6" fmla="*/ 252603 h 441613"/>
                <a:gd name="connsiteX7" fmla="*/ 149707 w 441613"/>
                <a:gd name="connsiteY7" fmla="*/ 209104 h 441613"/>
                <a:gd name="connsiteX8" fmla="*/ 126301 w 441613"/>
                <a:gd name="connsiteY8" fmla="*/ 209930 h 441613"/>
                <a:gd name="connsiteX9" fmla="*/ 126301 w 441613"/>
                <a:gd name="connsiteY9" fmla="*/ 232509 h 441613"/>
                <a:gd name="connsiteX10" fmla="*/ 181503 w 441613"/>
                <a:gd name="connsiteY10" fmla="*/ 287711 h 441613"/>
                <a:gd name="connsiteX11" fmla="*/ 204909 w 441613"/>
                <a:gd name="connsiteY11" fmla="*/ 287711 h 441613"/>
                <a:gd name="connsiteX12" fmla="*/ 315312 w 441613"/>
                <a:gd name="connsiteY12" fmla="*/ 177308 h 441613"/>
                <a:gd name="connsiteX13" fmla="*/ 316138 w 441613"/>
                <a:gd name="connsiteY13" fmla="*/ 153902 h 441613"/>
                <a:gd name="connsiteX14" fmla="*/ 292732 w 441613"/>
                <a:gd name="connsiteY14" fmla="*/ 153076 h 441613"/>
                <a:gd name="connsiteX15" fmla="*/ 291906 w 441613"/>
                <a:gd name="connsiteY15" fmla="*/ 153902 h 441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1613" h="441613">
                  <a:moveTo>
                    <a:pt x="220807" y="0"/>
                  </a:moveTo>
                  <a:cubicBezTo>
                    <a:pt x="342758" y="0"/>
                    <a:pt x="441613" y="98855"/>
                    <a:pt x="441613" y="220807"/>
                  </a:cubicBezTo>
                  <a:cubicBezTo>
                    <a:pt x="441613" y="342758"/>
                    <a:pt x="342758" y="441613"/>
                    <a:pt x="220807" y="441613"/>
                  </a:cubicBezTo>
                  <a:cubicBezTo>
                    <a:pt x="98855" y="441613"/>
                    <a:pt x="0" y="342758"/>
                    <a:pt x="0" y="220807"/>
                  </a:cubicBezTo>
                  <a:cubicBezTo>
                    <a:pt x="0" y="98855"/>
                    <a:pt x="98855" y="0"/>
                    <a:pt x="220807" y="0"/>
                  </a:cubicBezTo>
                  <a:close/>
                  <a:moveTo>
                    <a:pt x="291906" y="153902"/>
                  </a:moveTo>
                  <a:lnTo>
                    <a:pt x="193206" y="252603"/>
                  </a:lnTo>
                  <a:lnTo>
                    <a:pt x="149707" y="209104"/>
                  </a:lnTo>
                  <a:cubicBezTo>
                    <a:pt x="143016" y="202868"/>
                    <a:pt x="132537" y="203239"/>
                    <a:pt x="126301" y="209930"/>
                  </a:cubicBezTo>
                  <a:cubicBezTo>
                    <a:pt x="120375" y="216289"/>
                    <a:pt x="120375" y="226150"/>
                    <a:pt x="126301" y="232509"/>
                  </a:cubicBezTo>
                  <a:lnTo>
                    <a:pt x="181503" y="287711"/>
                  </a:lnTo>
                  <a:cubicBezTo>
                    <a:pt x="187968" y="294170"/>
                    <a:pt x="198443" y="294170"/>
                    <a:pt x="204909" y="287711"/>
                  </a:cubicBezTo>
                  <a:lnTo>
                    <a:pt x="315312" y="177308"/>
                  </a:lnTo>
                  <a:cubicBezTo>
                    <a:pt x="322002" y="171073"/>
                    <a:pt x="322373" y="160594"/>
                    <a:pt x="316138" y="153902"/>
                  </a:cubicBezTo>
                  <a:cubicBezTo>
                    <a:pt x="309902" y="147211"/>
                    <a:pt x="299425" y="146841"/>
                    <a:pt x="292732" y="153076"/>
                  </a:cubicBezTo>
                  <a:cubicBezTo>
                    <a:pt x="292447" y="153342"/>
                    <a:pt x="292171" y="153617"/>
                    <a:pt x="291906" y="153902"/>
                  </a:cubicBezTo>
                  <a:close/>
                </a:path>
              </a:pathLst>
            </a:custGeom>
            <a:grpFill/>
            <a:ln w="63897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090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4.44444E-6 L -2.08333E-7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1.66667E-6 1.48148E-6 L 1.66667E-6 0.03542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2.08333E-7 2.22222E-6 L 2.08333E-7 0.03541 " pathEditMode="relative" rAng="0" ptsTypes="AA">
                                      <p:cBhvr>
                                        <p:cTn id="19" dur="7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" grpId="0"/>
      <p:bldP spid="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D0470DA-5569-C3C0-55BE-557F7FA77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" y="231086"/>
            <a:ext cx="11018520" cy="553998"/>
          </a:xfrm>
        </p:spPr>
        <p:txBody>
          <a:bodyPr>
            <a:normAutofit fontScale="90000"/>
          </a:bodyPr>
          <a:lstStyle/>
          <a:p>
            <a:pPr algn="ctr"/>
            <a:r>
              <a:rPr lang="en-US">
                <a:latin typeface="Segoe UI Semibold" panose="020B0702040204020203" pitchFamily="34" charset="0"/>
                <a:cs typeface="Segoe UI Semibold" panose="020B0702040204020203" pitchFamily="34" charset="0"/>
              </a:rPr>
              <a:t>Vector search with your data</a:t>
            </a:r>
          </a:p>
        </p:txBody>
      </p:sp>
      <p:pic>
        <p:nvPicPr>
          <p:cNvPr id="13" name="Picture 12" descr="Chat-Dialogue&#10; icon">
            <a:extLst>
              <a:ext uri="{FF2B5EF4-FFF2-40B4-BE49-F238E27FC236}">
                <a16:creationId xmlns:a16="http://schemas.microsoft.com/office/drawing/2014/main" id="{F7B911CF-E7FC-245E-166A-19C47F3797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85" y="3911064"/>
            <a:ext cx="793331" cy="793331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3B6D799-2C19-1B20-CBE1-C1B193492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645147" y="4307729"/>
            <a:ext cx="2379578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B67A53A-26CB-A1A6-3401-3FC9DF94DD97}"/>
              </a:ext>
            </a:extLst>
          </p:cNvPr>
          <p:cNvSpPr txBox="1"/>
          <p:nvPr/>
        </p:nvSpPr>
        <p:spPr>
          <a:xfrm>
            <a:off x="8571845" y="2723534"/>
            <a:ext cx="908903" cy="2769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Dreaming Outloud Script Pro" panose="020F0502020204030204" pitchFamily="66" charset="0"/>
              </a:rPr>
              <a:t>Prompt</a:t>
            </a:r>
          </a:p>
        </p:txBody>
      </p:sp>
      <p:pic>
        <p:nvPicPr>
          <p:cNvPr id="79" name="Picture 12" descr="Retrieval Augmented Generation with Huggingface Transformers and Ray">
            <a:extLst>
              <a:ext uri="{FF2B5EF4-FFF2-40B4-BE49-F238E27FC236}">
                <a16:creationId xmlns:a16="http://schemas.microsoft.com/office/drawing/2014/main" id="{0A81D38B-6760-371B-CAC5-7A32FEBF3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725" y="3724687"/>
            <a:ext cx="1166085" cy="1166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7E39654E-6816-9F0A-7D03-286325B61E63}"/>
              </a:ext>
            </a:extLst>
          </p:cNvPr>
          <p:cNvSpPr txBox="1"/>
          <p:nvPr/>
        </p:nvSpPr>
        <p:spPr>
          <a:xfrm>
            <a:off x="2407319" y="4364654"/>
            <a:ext cx="855234" cy="43088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ourier New"/>
              </a:rPr>
              <a:t>Generated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ourier New"/>
              </a:rPr>
              <a:t>response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2B862C3-B1D4-D764-4161-E008C50EA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190810" y="4307729"/>
            <a:ext cx="3714651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EDC99AE7-2F00-C9FF-9807-F320D7CCA03D}"/>
              </a:ext>
            </a:extLst>
          </p:cNvPr>
          <p:cNvSpPr txBox="1"/>
          <p:nvPr/>
        </p:nvSpPr>
        <p:spPr>
          <a:xfrm>
            <a:off x="6330734" y="3817410"/>
            <a:ext cx="1649623" cy="43088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Dreaming Outloud Script Pro" panose="020F0502020204030204" pitchFamily="66" charset="0"/>
              </a:rPr>
              <a:t>Prompt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Dreaming Outloud Script Pro" panose="020F0502020204030204" pitchFamily="66" charset="0"/>
              </a:rPr>
              <a:t>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Dreaming Outloud Script Pro" panose="020F0502020204030204" pitchFamily="66" charset="0"/>
              </a:rPr>
              <a:t>+ search results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102CBAF-8D20-1FB8-ABFF-54E3C9952AEE}"/>
              </a:ext>
            </a:extLst>
          </p:cNvPr>
          <p:cNvSpPr txBox="1"/>
          <p:nvPr/>
        </p:nvSpPr>
        <p:spPr>
          <a:xfrm>
            <a:off x="5770598" y="4420213"/>
            <a:ext cx="2769896" cy="215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Courier New"/>
              </a:rPr>
              <a:t>Augmented Generated response</a:t>
            </a:r>
          </a:p>
        </p:txBody>
      </p:sp>
      <p:grpSp>
        <p:nvGrpSpPr>
          <p:cNvPr id="84" name="Group 83" descr="Language model icon">
            <a:extLst>
              <a:ext uri="{FF2B5EF4-FFF2-40B4-BE49-F238E27FC236}">
                <a16:creationId xmlns:a16="http://schemas.microsoft.com/office/drawing/2014/main" id="{1F559195-33D6-3795-EAE1-F4CEA34B7DF2}"/>
              </a:ext>
            </a:extLst>
          </p:cNvPr>
          <p:cNvGrpSpPr/>
          <p:nvPr/>
        </p:nvGrpSpPr>
        <p:grpSpPr>
          <a:xfrm>
            <a:off x="9110000" y="4113372"/>
            <a:ext cx="498742" cy="502564"/>
            <a:chOff x="-604607" y="2214543"/>
            <a:chExt cx="516667" cy="516668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6EF5823C-70E1-C475-9BAC-84E18DB72B5D}"/>
                </a:ext>
              </a:extLst>
            </p:cNvPr>
            <p:cNvGrpSpPr/>
            <p:nvPr/>
          </p:nvGrpSpPr>
          <p:grpSpPr>
            <a:xfrm>
              <a:off x="-571699" y="2247451"/>
              <a:ext cx="449263" cy="449263"/>
              <a:chOff x="-571699" y="2247451"/>
              <a:chExt cx="449263" cy="449263"/>
            </a:xfrm>
          </p:grpSpPr>
          <p:sp>
            <p:nvSpPr>
              <p:cNvPr id="95" name="Line 96">
                <a:extLst>
                  <a:ext uri="{FF2B5EF4-FFF2-40B4-BE49-F238E27FC236}">
                    <a16:creationId xmlns:a16="http://schemas.microsoft.com/office/drawing/2014/main" id="{678E1DA9-C429-7843-A4D6-5FCFD6E7F7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570112" y="2249039"/>
                <a:ext cx="447675" cy="447675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96" name="Line 97">
                <a:extLst>
                  <a:ext uri="{FF2B5EF4-FFF2-40B4-BE49-F238E27FC236}">
                    <a16:creationId xmlns:a16="http://schemas.microsoft.com/office/drawing/2014/main" id="{08F7C0CE-0FD6-3589-CB7F-DA9D7479DC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570112" y="2249039"/>
                <a:ext cx="447675" cy="447675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97" name="Line 98">
                <a:extLst>
                  <a:ext uri="{FF2B5EF4-FFF2-40B4-BE49-F238E27FC236}">
                    <a16:creationId xmlns:a16="http://schemas.microsoft.com/office/drawing/2014/main" id="{FC7B54CB-6E3E-7B85-16D7-FFA846E32C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570112" y="2472876"/>
                <a:ext cx="447675" cy="0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98" name="Line 99">
                <a:extLst>
                  <a:ext uri="{FF2B5EF4-FFF2-40B4-BE49-F238E27FC236}">
                    <a16:creationId xmlns:a16="http://schemas.microsoft.com/office/drawing/2014/main" id="{7CA5AA43-A1E1-52B1-4419-97854ABCB0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346274" y="2247451"/>
                <a:ext cx="0" cy="449263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99" name="Line 100">
                <a:extLst>
                  <a:ext uri="{FF2B5EF4-FFF2-40B4-BE49-F238E27FC236}">
                    <a16:creationId xmlns:a16="http://schemas.microsoft.com/office/drawing/2014/main" id="{7CBE3CA6-696B-E862-1124-740B98CD57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570112" y="2472876"/>
                <a:ext cx="447675" cy="223838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00" name="Line 101">
                <a:extLst>
                  <a:ext uri="{FF2B5EF4-FFF2-40B4-BE49-F238E27FC236}">
                    <a16:creationId xmlns:a16="http://schemas.microsoft.com/office/drawing/2014/main" id="{632F2543-573A-FA93-3FFE-1C5D2470F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-570112" y="2472876"/>
                <a:ext cx="447675" cy="223838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01" name="Line 102">
                <a:extLst>
                  <a:ext uri="{FF2B5EF4-FFF2-40B4-BE49-F238E27FC236}">
                    <a16:creationId xmlns:a16="http://schemas.microsoft.com/office/drawing/2014/main" id="{4E0B8657-08EB-97C5-C427-31C7D20ABB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570112" y="2249039"/>
                <a:ext cx="447675" cy="223838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02" name="Line 103">
                <a:extLst>
                  <a:ext uri="{FF2B5EF4-FFF2-40B4-BE49-F238E27FC236}">
                    <a16:creationId xmlns:a16="http://schemas.microsoft.com/office/drawing/2014/main" id="{3193CCBB-4021-7F97-A03A-A5861DED16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570112" y="2249039"/>
                <a:ext cx="447675" cy="223838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03" name="Line 104">
                <a:extLst>
                  <a:ext uri="{FF2B5EF4-FFF2-40B4-BE49-F238E27FC236}">
                    <a16:creationId xmlns:a16="http://schemas.microsoft.com/office/drawing/2014/main" id="{2E51ACE1-C4A0-59E3-E529-60D16B7D8E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346274" y="2249039"/>
                <a:ext cx="223838" cy="223838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04" name="Line 105">
                <a:extLst>
                  <a:ext uri="{FF2B5EF4-FFF2-40B4-BE49-F238E27FC236}">
                    <a16:creationId xmlns:a16="http://schemas.microsoft.com/office/drawing/2014/main" id="{005446C2-8DC6-F3BF-5B01-B24F15D5CA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570112" y="2247451"/>
                <a:ext cx="223838" cy="225425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05" name="Line 106">
                <a:extLst>
                  <a:ext uri="{FF2B5EF4-FFF2-40B4-BE49-F238E27FC236}">
                    <a16:creationId xmlns:a16="http://schemas.microsoft.com/office/drawing/2014/main" id="{5F522131-8E8E-2D05-DFCD-2DF87F0693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346274" y="2472876"/>
                <a:ext cx="223838" cy="223838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06" name="Line 107">
                <a:extLst>
                  <a:ext uri="{FF2B5EF4-FFF2-40B4-BE49-F238E27FC236}">
                    <a16:creationId xmlns:a16="http://schemas.microsoft.com/office/drawing/2014/main" id="{4505F3D7-EC0B-0E4A-B865-74B9BBAC44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-571699" y="2472876"/>
                <a:ext cx="225425" cy="223838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sp>
          <p:nvSpPr>
            <p:cNvPr id="86" name="Oval 108">
              <a:extLst>
                <a:ext uri="{FF2B5EF4-FFF2-40B4-BE49-F238E27FC236}">
                  <a16:creationId xmlns:a16="http://schemas.microsoft.com/office/drawing/2014/main" id="{947DA63C-BA96-63E6-EADE-A9F9434CB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04607" y="2214543"/>
              <a:ext cx="67405" cy="67405"/>
            </a:xfrm>
            <a:prstGeom prst="ellipse">
              <a:avLst/>
            </a:prstGeom>
            <a:gradFill flip="none" rotWithShape="1">
              <a:gsLst>
                <a:gs pos="0">
                  <a:srgbClr val="269FC2"/>
                </a:gs>
                <a:gs pos="100000">
                  <a:srgbClr val="0078D4"/>
                </a:gs>
              </a:gsLst>
              <a:path path="circle">
                <a:fillToRect l="100000" t="100000"/>
              </a:path>
              <a:tileRect r="-100000" b="-100000"/>
            </a:gradFill>
            <a:ln w="6350">
              <a:solidFill>
                <a:srgbClr val="B1B3B3">
                  <a:alpha val="3300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7" name="Oval 109">
              <a:extLst>
                <a:ext uri="{FF2B5EF4-FFF2-40B4-BE49-F238E27FC236}">
                  <a16:creationId xmlns:a16="http://schemas.microsoft.com/office/drawing/2014/main" id="{E95C19C6-F201-429E-9543-547E27BA34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04607" y="2438012"/>
              <a:ext cx="67405" cy="69729"/>
            </a:xfrm>
            <a:prstGeom prst="ellipse">
              <a:avLst/>
            </a:prstGeom>
            <a:gradFill>
              <a:gsLst>
                <a:gs pos="100000">
                  <a:srgbClr val="884DC9"/>
                </a:gs>
                <a:gs pos="43000">
                  <a:schemeClr val="accent5"/>
                </a:gs>
              </a:gsLst>
              <a:path path="circle">
                <a:fillToRect l="100000" b="100000"/>
              </a:path>
            </a:gradFill>
            <a:ln w="6350">
              <a:solidFill>
                <a:srgbClr val="B1B3B3">
                  <a:alpha val="3300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8" name="Oval 110">
              <a:extLst>
                <a:ext uri="{FF2B5EF4-FFF2-40B4-BE49-F238E27FC236}">
                  <a16:creationId xmlns:a16="http://schemas.microsoft.com/office/drawing/2014/main" id="{894F6159-E321-2105-BF0B-E11AA23C3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04607" y="2663806"/>
              <a:ext cx="67405" cy="67405"/>
            </a:xfrm>
            <a:prstGeom prst="ellipse">
              <a:avLst/>
            </a:prstGeom>
            <a:gradFill>
              <a:gsLst>
                <a:gs pos="100000">
                  <a:srgbClr val="884DC9"/>
                </a:gs>
                <a:gs pos="43000">
                  <a:schemeClr val="accent5"/>
                </a:gs>
              </a:gsLst>
              <a:path path="circle">
                <a:fillToRect l="100000" b="100000"/>
              </a:path>
            </a:gradFill>
            <a:ln w="6350">
              <a:solidFill>
                <a:srgbClr val="B1B3B3">
                  <a:alpha val="3300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9" name="Oval 111">
              <a:extLst>
                <a:ext uri="{FF2B5EF4-FFF2-40B4-BE49-F238E27FC236}">
                  <a16:creationId xmlns:a16="http://schemas.microsoft.com/office/drawing/2014/main" id="{13392FCD-99F5-FE15-5525-5392EF8815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81139" y="2214543"/>
              <a:ext cx="69729" cy="67405"/>
            </a:xfrm>
            <a:prstGeom prst="ellipse">
              <a:avLst/>
            </a:prstGeom>
            <a:gradFill>
              <a:gsLst>
                <a:gs pos="100000">
                  <a:srgbClr val="884DC9"/>
                </a:gs>
                <a:gs pos="43000">
                  <a:schemeClr val="accent5"/>
                </a:gs>
              </a:gsLst>
              <a:path path="circle">
                <a:fillToRect l="100000" b="100000"/>
              </a:path>
            </a:gradFill>
            <a:ln w="6350">
              <a:solidFill>
                <a:srgbClr val="B1B3B3">
                  <a:alpha val="3300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0" name="Oval 112">
              <a:extLst>
                <a:ext uri="{FF2B5EF4-FFF2-40B4-BE49-F238E27FC236}">
                  <a16:creationId xmlns:a16="http://schemas.microsoft.com/office/drawing/2014/main" id="{406CA397-8961-567E-5370-B44A6F3B2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81139" y="2438012"/>
              <a:ext cx="69729" cy="69729"/>
            </a:xfrm>
            <a:prstGeom prst="ellipse">
              <a:avLst/>
            </a:prstGeom>
            <a:gradFill flip="none" rotWithShape="1">
              <a:gsLst>
                <a:gs pos="100000">
                  <a:srgbClr val="2A446F"/>
                </a:gs>
                <a:gs pos="43000">
                  <a:srgbClr val="0078D4"/>
                </a:gs>
              </a:gsLst>
              <a:path path="circle">
                <a:fillToRect l="100000" b="100000"/>
              </a:path>
              <a:tileRect t="-100000" r="-100000"/>
            </a:gradFill>
            <a:ln w="6350">
              <a:solidFill>
                <a:srgbClr val="B1B3B3">
                  <a:alpha val="3300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1" name="Oval 113">
              <a:extLst>
                <a:ext uri="{FF2B5EF4-FFF2-40B4-BE49-F238E27FC236}">
                  <a16:creationId xmlns:a16="http://schemas.microsoft.com/office/drawing/2014/main" id="{CEE07728-AA90-0A41-5A4F-C6A9B221D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81139" y="2663806"/>
              <a:ext cx="69729" cy="67405"/>
            </a:xfrm>
            <a:prstGeom prst="ellipse">
              <a:avLst/>
            </a:prstGeom>
            <a:gradFill>
              <a:gsLst>
                <a:gs pos="100000">
                  <a:srgbClr val="884DC9"/>
                </a:gs>
                <a:gs pos="43000">
                  <a:schemeClr val="accent5"/>
                </a:gs>
              </a:gsLst>
              <a:path path="circle">
                <a:fillToRect l="100000" b="100000"/>
              </a:path>
            </a:gradFill>
            <a:ln w="6350">
              <a:solidFill>
                <a:srgbClr val="B1B3B3">
                  <a:alpha val="3300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2" name="Oval 114">
              <a:extLst>
                <a:ext uri="{FF2B5EF4-FFF2-40B4-BE49-F238E27FC236}">
                  <a16:creationId xmlns:a16="http://schemas.microsoft.com/office/drawing/2014/main" id="{46E10581-47E3-CB47-F8B3-2F232F162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5345" y="2214543"/>
              <a:ext cx="67405" cy="67405"/>
            </a:xfrm>
            <a:prstGeom prst="ellipse">
              <a:avLst/>
            </a:prstGeom>
            <a:gradFill>
              <a:gsLst>
                <a:gs pos="100000">
                  <a:srgbClr val="884DC9"/>
                </a:gs>
                <a:gs pos="43000">
                  <a:schemeClr val="accent5"/>
                </a:gs>
              </a:gsLst>
              <a:path path="circle">
                <a:fillToRect l="100000" b="100000"/>
              </a:path>
            </a:gradFill>
            <a:ln w="6350">
              <a:solidFill>
                <a:srgbClr val="B1B3B3">
                  <a:alpha val="3300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3" name="Oval 115">
              <a:extLst>
                <a:ext uri="{FF2B5EF4-FFF2-40B4-BE49-F238E27FC236}">
                  <a16:creationId xmlns:a16="http://schemas.microsoft.com/office/drawing/2014/main" id="{55B9A9FE-6EFA-72B0-B2DB-EBF2C74FE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5345" y="2438012"/>
              <a:ext cx="67405" cy="69729"/>
            </a:xfrm>
            <a:prstGeom prst="ellipse">
              <a:avLst/>
            </a:prstGeom>
            <a:gradFill>
              <a:gsLst>
                <a:gs pos="100000">
                  <a:srgbClr val="884DC9"/>
                </a:gs>
                <a:gs pos="43000">
                  <a:schemeClr val="accent5"/>
                </a:gs>
              </a:gsLst>
              <a:path path="circle">
                <a:fillToRect l="100000" b="100000"/>
              </a:path>
            </a:gradFill>
            <a:ln w="6350">
              <a:solidFill>
                <a:srgbClr val="B1B3B3">
                  <a:alpha val="3300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4" name="Oval 116">
              <a:extLst>
                <a:ext uri="{FF2B5EF4-FFF2-40B4-BE49-F238E27FC236}">
                  <a16:creationId xmlns:a16="http://schemas.microsoft.com/office/drawing/2014/main" id="{C8639B9F-93A7-0BC6-6D0B-29B6D8F63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5345" y="2663806"/>
              <a:ext cx="67405" cy="67405"/>
            </a:xfrm>
            <a:prstGeom prst="ellipse">
              <a:avLst/>
            </a:prstGeom>
            <a:gradFill flip="none" rotWithShape="1">
              <a:gsLst>
                <a:gs pos="100000">
                  <a:srgbClr val="2A446F"/>
                </a:gs>
                <a:gs pos="43000">
                  <a:srgbClr val="0078D4"/>
                </a:gs>
              </a:gsLst>
              <a:path path="circle">
                <a:fillToRect l="100000" b="100000"/>
              </a:path>
              <a:tileRect t="-100000" r="-100000"/>
            </a:gradFill>
            <a:ln w="6350">
              <a:solidFill>
                <a:srgbClr val="B1B3B3">
                  <a:alpha val="3300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EAB600EB-A0A1-F4C7-92E8-9D2CA09C9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16200000" flipV="1">
            <a:off x="9297978" y="1949259"/>
            <a:ext cx="1174415" cy="2376443"/>
          </a:xfrm>
          <a:prstGeom prst="bentConnector2">
            <a:avLst/>
          </a:prstGeom>
          <a:ln w="19050" cap="rnd">
            <a:solidFill>
              <a:schemeClr val="tx1"/>
            </a:solidFill>
            <a:headEnd type="arrow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0D40B71B-60C8-934C-865B-C6813D565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208459" y="1949259"/>
            <a:ext cx="1174415" cy="2376443"/>
          </a:xfrm>
          <a:prstGeom prst="bentConnector2">
            <a:avLst/>
          </a:prstGeom>
          <a:ln w="19050" cap="rnd">
            <a:solidFill>
              <a:schemeClr val="tx1"/>
            </a:solidFill>
            <a:headEnd type="arrow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" name="Picture 108">
            <a:extLst>
              <a:ext uri="{FF2B5EF4-FFF2-40B4-BE49-F238E27FC236}">
                <a16:creationId xmlns:a16="http://schemas.microsoft.com/office/drawing/2014/main" id="{950EF2EE-7A75-319C-1878-D83B8FDF6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265" y="1698801"/>
            <a:ext cx="498764" cy="498764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AA89F90E-B271-D324-9EF0-2ECA9019E5FF}"/>
              </a:ext>
            </a:extLst>
          </p:cNvPr>
          <p:cNvSpPr txBox="1"/>
          <p:nvPr/>
        </p:nvSpPr>
        <p:spPr>
          <a:xfrm>
            <a:off x="5677385" y="1563418"/>
            <a:ext cx="1518369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cs typeface="Courier New" panose="02070309020205020404" pitchFamily="49" charset="0"/>
              </a:defRPr>
            </a:lvl1pPr>
          </a:lstStyle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Vector (semantic)</a:t>
            </a:r>
            <a:r>
              <a:rPr kumimoji="0" lang="en-US" sz="1600" b="0" i="0" u="none" strike="noStrike" kern="120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and Hybrid Searches</a:t>
            </a:r>
          </a:p>
        </p:txBody>
      </p:sp>
      <p:pic>
        <p:nvPicPr>
          <p:cNvPr id="111" name="Picture 110" descr="Database-Variable&#10; icon">
            <a:extLst>
              <a:ext uri="{FF2B5EF4-FFF2-40B4-BE49-F238E27FC236}">
                <a16:creationId xmlns:a16="http://schemas.microsoft.com/office/drawing/2014/main" id="{CC0173AC-E3F6-8B20-15FB-EDE599540F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058" y="1404234"/>
            <a:ext cx="793331" cy="793331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2AB018F5-E51E-FD92-D6A6-8A224B7AA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127" y="1509808"/>
            <a:ext cx="541855" cy="541855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3A303D9B-E4B8-A2E2-6BB7-AE735DE183A3}"/>
              </a:ext>
            </a:extLst>
          </p:cNvPr>
          <p:cNvSpPr txBox="1"/>
          <p:nvPr/>
        </p:nvSpPr>
        <p:spPr>
          <a:xfrm>
            <a:off x="9062720" y="1585456"/>
            <a:ext cx="2010687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normalizeH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cs typeface="Segoe UI Semibold"/>
              </a:defRPr>
            </a:lvl1pPr>
          </a:lstStyle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Embeddings in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bold"/>
              </a:rPr>
              <a:t>Vector store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2CD8879-396C-F959-00DA-549205D2C925}"/>
              </a:ext>
            </a:extLst>
          </p:cNvPr>
          <p:cNvSpPr txBox="1"/>
          <p:nvPr/>
        </p:nvSpPr>
        <p:spPr>
          <a:xfrm>
            <a:off x="248805" y="4784422"/>
            <a:ext cx="1708802" cy="5539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>
                  <a:gsLst>
                    <a:gs pos="0">
                      <a:srgbClr val="73262F"/>
                    </a:gs>
                    <a:gs pos="71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/>
              </a:rPr>
              <a:t>Prompt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>
                  <a:gsLst>
                    <a:gs pos="0">
                      <a:srgbClr val="73262F"/>
                    </a:gs>
                    <a:gs pos="71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/>
              </a:rPr>
              <a:t>App or AI Agent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89508E2-04F5-C356-F3A2-1E40B5751D9F}"/>
              </a:ext>
            </a:extLst>
          </p:cNvPr>
          <p:cNvSpPr txBox="1"/>
          <p:nvPr/>
        </p:nvSpPr>
        <p:spPr>
          <a:xfrm>
            <a:off x="3501101" y="4879405"/>
            <a:ext cx="2210477" cy="83099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>
                  <a:gsLst>
                    <a:gs pos="0">
                      <a:srgbClr val="73262F"/>
                    </a:gs>
                    <a:gs pos="71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/>
              </a:rPr>
              <a:t>Retrieval Augmented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>
                  <a:gsLst>
                    <a:gs pos="0">
                      <a:srgbClr val="73262F"/>
                    </a:gs>
                    <a:gs pos="71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/>
              </a:rPr>
              <a:t>Generation (RAG)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>
                  <a:gsLst>
                    <a:gs pos="0">
                      <a:srgbClr val="73262F"/>
                    </a:gs>
                    <a:gs pos="71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/>
              </a:rPr>
              <a:t>Application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8FF687C-FF67-BE5B-4B79-200FBD0E601E}"/>
              </a:ext>
            </a:extLst>
          </p:cNvPr>
          <p:cNvSpPr txBox="1"/>
          <p:nvPr/>
        </p:nvSpPr>
        <p:spPr>
          <a:xfrm>
            <a:off x="8815150" y="4750286"/>
            <a:ext cx="1088438" cy="5539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>
                  <a:gsLst>
                    <a:gs pos="0">
                      <a:srgbClr val="73262F"/>
                    </a:gs>
                    <a:gs pos="71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/>
              </a:rPr>
              <a:t>Language 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>
                  <a:gsLst>
                    <a:gs pos="0">
                      <a:srgbClr val="73262F"/>
                    </a:gs>
                    <a:gs pos="71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/>
              </a:rPr>
              <a:t>Model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4C46889-AFEE-7C4B-2AFD-4EAB5F4B3D89}"/>
              </a:ext>
            </a:extLst>
          </p:cNvPr>
          <p:cNvSpPr txBox="1"/>
          <p:nvPr/>
        </p:nvSpPr>
        <p:spPr>
          <a:xfrm>
            <a:off x="7407590" y="2273857"/>
            <a:ext cx="968727" cy="83099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>
                  <a:gsLst>
                    <a:gs pos="0">
                      <a:srgbClr val="73262F"/>
                    </a:gs>
                    <a:gs pos="71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/>
              </a:rPr>
              <a:t>Database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ln w="3175">
                  <a:noFill/>
                </a:ln>
                <a:gradFill flip="none">
                  <a:gsLst>
                    <a:gs pos="0">
                      <a:srgbClr val="73262F"/>
                    </a:gs>
                    <a:gs pos="71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Semibold"/>
                <a:cs typeface="Segoe UI"/>
              </a:rPr>
              <a:t>o</a:t>
            </a:r>
            <a:r>
              <a:rPr lang="en-US" b="1" noProof="0">
                <a:ln w="3175">
                  <a:noFill/>
                </a:ln>
                <a:gradFill flip="none">
                  <a:gsLst>
                    <a:gs pos="0">
                      <a:srgbClr val="73262F"/>
                    </a:gs>
                    <a:gs pos="71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Segoe UI Semibold"/>
                <a:cs typeface="Segoe UI"/>
              </a:rPr>
              <a:t>r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>
                <a:ln w="3175">
                  <a:noFill/>
                </a:ln>
                <a:gradFill flip="none">
                  <a:gsLst>
                    <a:gs pos="0">
                      <a:srgbClr val="73262F"/>
                    </a:gs>
                    <a:gs pos="71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/>
              </a:rPr>
              <a:t>Index</a:t>
            </a:r>
            <a:endParaRPr kumimoji="0" lang="en-US" sz="1800" b="1" i="0" u="none" strike="noStrike" kern="1200" cap="none" spc="0" normalizeH="0" baseline="0" noProof="0">
              <a:ln w="3175">
                <a:noFill/>
              </a:ln>
              <a:gradFill flip="none">
                <a:gsLst>
                  <a:gs pos="0">
                    <a:srgbClr val="73262F"/>
                  </a:gs>
                  <a:gs pos="71000">
                    <a:srgbClr val="2A446F"/>
                  </a:gs>
                </a:gsLst>
                <a:path path="circle">
                  <a:fillToRect l="100000" t="100000"/>
                </a:path>
                <a:tileRect r="-100000" b="-100000"/>
              </a:gradFill>
              <a:effectLst/>
              <a:uLnTx/>
              <a:uFillTx/>
              <a:latin typeface="Segoe UI Semibold"/>
              <a:ea typeface="+mn-ea"/>
              <a:cs typeface="Segoe UI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A3B137D-0CB6-0E29-F63D-DD8E9E6897DB}"/>
              </a:ext>
            </a:extLst>
          </p:cNvPr>
          <p:cNvSpPr txBox="1"/>
          <p:nvPr/>
        </p:nvSpPr>
        <p:spPr>
          <a:xfrm>
            <a:off x="9209746" y="2213740"/>
            <a:ext cx="131897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normalizeH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cs typeface="Segoe UI Semibold"/>
              </a:defRPr>
            </a:lvl1pPr>
          </a:lstStyle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 Semibold"/>
              </a:rPr>
              <a:t>Your data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79401CC-E4B8-064B-B7B1-85FCB11E38AB}"/>
              </a:ext>
            </a:extLst>
          </p:cNvPr>
          <p:cNvSpPr txBox="1"/>
          <p:nvPr/>
        </p:nvSpPr>
        <p:spPr>
          <a:xfrm>
            <a:off x="2371979" y="3939035"/>
            <a:ext cx="908903" cy="2769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Dreaming Outloud Script Pro" panose="020F0502020204030204" pitchFamily="66" charset="0"/>
              </a:rPr>
              <a:t>Prompt</a:t>
            </a:r>
          </a:p>
        </p:txBody>
      </p:sp>
      <p:grpSp>
        <p:nvGrpSpPr>
          <p:cNvPr id="120" name="Group 119" descr="Language model icon">
            <a:extLst>
              <a:ext uri="{FF2B5EF4-FFF2-40B4-BE49-F238E27FC236}">
                <a16:creationId xmlns:a16="http://schemas.microsoft.com/office/drawing/2014/main" id="{8AD28D6F-F95C-8666-062D-FE853B824524}"/>
              </a:ext>
            </a:extLst>
          </p:cNvPr>
          <p:cNvGrpSpPr/>
          <p:nvPr/>
        </p:nvGrpSpPr>
        <p:grpSpPr>
          <a:xfrm>
            <a:off x="10863224" y="3862090"/>
            <a:ext cx="498742" cy="502564"/>
            <a:chOff x="-604607" y="2214543"/>
            <a:chExt cx="516667" cy="516668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031B8AFF-FEE6-6387-BED6-ADAA6EF3CB6F}"/>
                </a:ext>
              </a:extLst>
            </p:cNvPr>
            <p:cNvGrpSpPr/>
            <p:nvPr/>
          </p:nvGrpSpPr>
          <p:grpSpPr>
            <a:xfrm>
              <a:off x="-571699" y="2247451"/>
              <a:ext cx="449263" cy="449263"/>
              <a:chOff x="-571699" y="2247451"/>
              <a:chExt cx="449263" cy="449263"/>
            </a:xfrm>
          </p:grpSpPr>
          <p:sp>
            <p:nvSpPr>
              <p:cNvPr id="131" name="Line 96">
                <a:extLst>
                  <a:ext uri="{FF2B5EF4-FFF2-40B4-BE49-F238E27FC236}">
                    <a16:creationId xmlns:a16="http://schemas.microsoft.com/office/drawing/2014/main" id="{75913A42-A612-78C8-70E5-8772E23C44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570112" y="2249039"/>
                <a:ext cx="447675" cy="447675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2" name="Line 97">
                <a:extLst>
                  <a:ext uri="{FF2B5EF4-FFF2-40B4-BE49-F238E27FC236}">
                    <a16:creationId xmlns:a16="http://schemas.microsoft.com/office/drawing/2014/main" id="{2B837E80-0D41-CE30-0B8D-05EDFD9B73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570112" y="2249039"/>
                <a:ext cx="447675" cy="447675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3" name="Line 98">
                <a:extLst>
                  <a:ext uri="{FF2B5EF4-FFF2-40B4-BE49-F238E27FC236}">
                    <a16:creationId xmlns:a16="http://schemas.microsoft.com/office/drawing/2014/main" id="{059077D5-E36B-535D-78E3-45FDF65F45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570112" y="2472876"/>
                <a:ext cx="447675" cy="0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4" name="Line 99">
                <a:extLst>
                  <a:ext uri="{FF2B5EF4-FFF2-40B4-BE49-F238E27FC236}">
                    <a16:creationId xmlns:a16="http://schemas.microsoft.com/office/drawing/2014/main" id="{172396BD-70DC-4E9B-05AF-BDDBA9A29D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346274" y="2247451"/>
                <a:ext cx="0" cy="449263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5" name="Line 100">
                <a:extLst>
                  <a:ext uri="{FF2B5EF4-FFF2-40B4-BE49-F238E27FC236}">
                    <a16:creationId xmlns:a16="http://schemas.microsoft.com/office/drawing/2014/main" id="{F1EF0D66-89E5-B986-113D-CB19AF2B82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570112" y="2472876"/>
                <a:ext cx="447675" cy="223838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6" name="Line 101">
                <a:extLst>
                  <a:ext uri="{FF2B5EF4-FFF2-40B4-BE49-F238E27FC236}">
                    <a16:creationId xmlns:a16="http://schemas.microsoft.com/office/drawing/2014/main" id="{25015053-CAB1-9F89-58C7-3D8B25CE50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-570112" y="2472876"/>
                <a:ext cx="447675" cy="223838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7" name="Line 102">
                <a:extLst>
                  <a:ext uri="{FF2B5EF4-FFF2-40B4-BE49-F238E27FC236}">
                    <a16:creationId xmlns:a16="http://schemas.microsoft.com/office/drawing/2014/main" id="{B0805EA8-532D-D910-EF37-F2E68D6500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570112" y="2249039"/>
                <a:ext cx="447675" cy="223838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8" name="Line 103">
                <a:extLst>
                  <a:ext uri="{FF2B5EF4-FFF2-40B4-BE49-F238E27FC236}">
                    <a16:creationId xmlns:a16="http://schemas.microsoft.com/office/drawing/2014/main" id="{FC1AC391-0FE9-B87A-DCC4-328CC7F24A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570112" y="2249039"/>
                <a:ext cx="447675" cy="223838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39" name="Line 104">
                <a:extLst>
                  <a:ext uri="{FF2B5EF4-FFF2-40B4-BE49-F238E27FC236}">
                    <a16:creationId xmlns:a16="http://schemas.microsoft.com/office/drawing/2014/main" id="{642A7ED7-0ABA-799A-4703-675E3E48CA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346274" y="2249039"/>
                <a:ext cx="223838" cy="223838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0" name="Line 105">
                <a:extLst>
                  <a:ext uri="{FF2B5EF4-FFF2-40B4-BE49-F238E27FC236}">
                    <a16:creationId xmlns:a16="http://schemas.microsoft.com/office/drawing/2014/main" id="{F12F8177-5CD0-13F9-8841-0015978FEC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570112" y="2247451"/>
                <a:ext cx="223838" cy="225425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1" name="Line 106">
                <a:extLst>
                  <a:ext uri="{FF2B5EF4-FFF2-40B4-BE49-F238E27FC236}">
                    <a16:creationId xmlns:a16="http://schemas.microsoft.com/office/drawing/2014/main" id="{0CFD9ACB-5522-F736-CE60-32249B4517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346274" y="2472876"/>
                <a:ext cx="223838" cy="223838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42" name="Line 107">
                <a:extLst>
                  <a:ext uri="{FF2B5EF4-FFF2-40B4-BE49-F238E27FC236}">
                    <a16:creationId xmlns:a16="http://schemas.microsoft.com/office/drawing/2014/main" id="{0DC8CE8B-2CF9-3E65-2E32-8DF55BD277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-571699" y="2472876"/>
                <a:ext cx="225425" cy="223838"/>
              </a:xfrm>
              <a:prstGeom prst="line">
                <a:avLst/>
              </a:prstGeom>
              <a:noFill/>
              <a:ln w="15875" cap="flat">
                <a:solidFill>
                  <a:srgbClr val="2A446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sp>
          <p:nvSpPr>
            <p:cNvPr id="122" name="Oval 108">
              <a:extLst>
                <a:ext uri="{FF2B5EF4-FFF2-40B4-BE49-F238E27FC236}">
                  <a16:creationId xmlns:a16="http://schemas.microsoft.com/office/drawing/2014/main" id="{0511E1AB-5AF0-A2FB-7454-D37B225D5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04607" y="2214543"/>
              <a:ext cx="67405" cy="67405"/>
            </a:xfrm>
            <a:prstGeom prst="ellipse">
              <a:avLst/>
            </a:prstGeom>
            <a:gradFill flip="none" rotWithShape="1">
              <a:gsLst>
                <a:gs pos="0">
                  <a:srgbClr val="269FC2"/>
                </a:gs>
                <a:gs pos="100000">
                  <a:srgbClr val="0078D4"/>
                </a:gs>
              </a:gsLst>
              <a:path path="circle">
                <a:fillToRect l="100000" t="100000"/>
              </a:path>
              <a:tileRect r="-100000" b="-100000"/>
            </a:gradFill>
            <a:ln w="6350">
              <a:solidFill>
                <a:srgbClr val="B1B3B3">
                  <a:alpha val="3300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3" name="Oval 109">
              <a:extLst>
                <a:ext uri="{FF2B5EF4-FFF2-40B4-BE49-F238E27FC236}">
                  <a16:creationId xmlns:a16="http://schemas.microsoft.com/office/drawing/2014/main" id="{03B32BE9-C642-3138-4A48-2189ADD690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04607" y="2438012"/>
              <a:ext cx="67405" cy="69729"/>
            </a:xfrm>
            <a:prstGeom prst="ellipse">
              <a:avLst/>
            </a:prstGeom>
            <a:gradFill>
              <a:gsLst>
                <a:gs pos="100000">
                  <a:srgbClr val="884DC9"/>
                </a:gs>
                <a:gs pos="43000">
                  <a:schemeClr val="accent5"/>
                </a:gs>
              </a:gsLst>
              <a:path path="circle">
                <a:fillToRect l="100000" b="100000"/>
              </a:path>
            </a:gradFill>
            <a:ln w="6350">
              <a:solidFill>
                <a:srgbClr val="B1B3B3">
                  <a:alpha val="3300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4" name="Oval 110">
              <a:extLst>
                <a:ext uri="{FF2B5EF4-FFF2-40B4-BE49-F238E27FC236}">
                  <a16:creationId xmlns:a16="http://schemas.microsoft.com/office/drawing/2014/main" id="{50922317-EE36-76A9-D787-AC992025C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04607" y="2663806"/>
              <a:ext cx="67405" cy="67405"/>
            </a:xfrm>
            <a:prstGeom prst="ellipse">
              <a:avLst/>
            </a:prstGeom>
            <a:gradFill>
              <a:gsLst>
                <a:gs pos="100000">
                  <a:srgbClr val="884DC9"/>
                </a:gs>
                <a:gs pos="43000">
                  <a:schemeClr val="accent5"/>
                </a:gs>
              </a:gsLst>
              <a:path path="circle">
                <a:fillToRect l="100000" b="100000"/>
              </a:path>
            </a:gradFill>
            <a:ln w="6350">
              <a:solidFill>
                <a:srgbClr val="B1B3B3">
                  <a:alpha val="3300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5" name="Oval 111">
              <a:extLst>
                <a:ext uri="{FF2B5EF4-FFF2-40B4-BE49-F238E27FC236}">
                  <a16:creationId xmlns:a16="http://schemas.microsoft.com/office/drawing/2014/main" id="{CEDC2426-FF82-3FE2-A85E-FC5D67EBB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81139" y="2214543"/>
              <a:ext cx="69729" cy="67405"/>
            </a:xfrm>
            <a:prstGeom prst="ellipse">
              <a:avLst/>
            </a:prstGeom>
            <a:gradFill>
              <a:gsLst>
                <a:gs pos="100000">
                  <a:srgbClr val="884DC9"/>
                </a:gs>
                <a:gs pos="43000">
                  <a:schemeClr val="accent5"/>
                </a:gs>
              </a:gsLst>
              <a:path path="circle">
                <a:fillToRect l="100000" b="100000"/>
              </a:path>
            </a:gradFill>
            <a:ln w="6350">
              <a:solidFill>
                <a:srgbClr val="B1B3B3">
                  <a:alpha val="3300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6" name="Oval 112">
              <a:extLst>
                <a:ext uri="{FF2B5EF4-FFF2-40B4-BE49-F238E27FC236}">
                  <a16:creationId xmlns:a16="http://schemas.microsoft.com/office/drawing/2014/main" id="{412A9A0C-6ACE-3643-8998-E72577CC5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81139" y="2438012"/>
              <a:ext cx="69729" cy="69729"/>
            </a:xfrm>
            <a:prstGeom prst="ellipse">
              <a:avLst/>
            </a:prstGeom>
            <a:gradFill flip="none" rotWithShape="1">
              <a:gsLst>
                <a:gs pos="100000">
                  <a:srgbClr val="2A446F"/>
                </a:gs>
                <a:gs pos="43000">
                  <a:srgbClr val="0078D4"/>
                </a:gs>
              </a:gsLst>
              <a:path path="circle">
                <a:fillToRect l="100000" b="100000"/>
              </a:path>
              <a:tileRect t="-100000" r="-100000"/>
            </a:gradFill>
            <a:ln w="6350">
              <a:solidFill>
                <a:srgbClr val="B1B3B3">
                  <a:alpha val="3300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7" name="Oval 113">
              <a:extLst>
                <a:ext uri="{FF2B5EF4-FFF2-40B4-BE49-F238E27FC236}">
                  <a16:creationId xmlns:a16="http://schemas.microsoft.com/office/drawing/2014/main" id="{21BB4B39-B858-CAE2-CF1A-FBE9E8A0B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81139" y="2663806"/>
              <a:ext cx="69729" cy="67405"/>
            </a:xfrm>
            <a:prstGeom prst="ellipse">
              <a:avLst/>
            </a:prstGeom>
            <a:gradFill>
              <a:gsLst>
                <a:gs pos="100000">
                  <a:srgbClr val="884DC9"/>
                </a:gs>
                <a:gs pos="43000">
                  <a:schemeClr val="accent5"/>
                </a:gs>
              </a:gsLst>
              <a:path path="circle">
                <a:fillToRect l="100000" b="100000"/>
              </a:path>
            </a:gradFill>
            <a:ln w="6350">
              <a:solidFill>
                <a:srgbClr val="B1B3B3">
                  <a:alpha val="3300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8" name="Oval 114">
              <a:extLst>
                <a:ext uri="{FF2B5EF4-FFF2-40B4-BE49-F238E27FC236}">
                  <a16:creationId xmlns:a16="http://schemas.microsoft.com/office/drawing/2014/main" id="{8B81A72B-C890-9C88-12D9-5F821B61D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5345" y="2214543"/>
              <a:ext cx="67405" cy="67405"/>
            </a:xfrm>
            <a:prstGeom prst="ellipse">
              <a:avLst/>
            </a:prstGeom>
            <a:gradFill>
              <a:gsLst>
                <a:gs pos="100000">
                  <a:srgbClr val="884DC9"/>
                </a:gs>
                <a:gs pos="43000">
                  <a:schemeClr val="accent5"/>
                </a:gs>
              </a:gsLst>
              <a:path path="circle">
                <a:fillToRect l="100000" b="100000"/>
              </a:path>
            </a:gradFill>
            <a:ln w="6350">
              <a:solidFill>
                <a:srgbClr val="B1B3B3">
                  <a:alpha val="3300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9" name="Oval 115">
              <a:extLst>
                <a:ext uri="{FF2B5EF4-FFF2-40B4-BE49-F238E27FC236}">
                  <a16:creationId xmlns:a16="http://schemas.microsoft.com/office/drawing/2014/main" id="{A9E60877-11D9-AFCE-AAF2-4137C35D1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5345" y="2438012"/>
              <a:ext cx="67405" cy="69729"/>
            </a:xfrm>
            <a:prstGeom prst="ellipse">
              <a:avLst/>
            </a:prstGeom>
            <a:gradFill>
              <a:gsLst>
                <a:gs pos="100000">
                  <a:srgbClr val="884DC9"/>
                </a:gs>
                <a:gs pos="43000">
                  <a:schemeClr val="accent5"/>
                </a:gs>
              </a:gsLst>
              <a:path path="circle">
                <a:fillToRect l="100000" b="100000"/>
              </a:path>
            </a:gradFill>
            <a:ln w="6350">
              <a:solidFill>
                <a:srgbClr val="B1B3B3">
                  <a:alpha val="3300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0" name="Oval 116">
              <a:extLst>
                <a:ext uri="{FF2B5EF4-FFF2-40B4-BE49-F238E27FC236}">
                  <a16:creationId xmlns:a16="http://schemas.microsoft.com/office/drawing/2014/main" id="{10B4CA23-C968-5DF6-BE85-615F1F609C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5345" y="2663806"/>
              <a:ext cx="67405" cy="67405"/>
            </a:xfrm>
            <a:prstGeom prst="ellipse">
              <a:avLst/>
            </a:prstGeom>
            <a:gradFill flip="none" rotWithShape="1">
              <a:gsLst>
                <a:gs pos="100000">
                  <a:srgbClr val="2A446F"/>
                </a:gs>
                <a:gs pos="43000">
                  <a:srgbClr val="0078D4"/>
                </a:gs>
              </a:gsLst>
              <a:path path="circle">
                <a:fillToRect l="100000" b="100000"/>
              </a:path>
              <a:tileRect t="-100000" r="-100000"/>
            </a:gradFill>
            <a:ln w="6350">
              <a:solidFill>
                <a:srgbClr val="B1B3B3">
                  <a:alpha val="33000"/>
                </a:srgb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CE322148-E6F4-DC88-6072-53A70848777F}"/>
              </a:ext>
            </a:extLst>
          </p:cNvPr>
          <p:cNvSpPr txBox="1"/>
          <p:nvPr/>
        </p:nvSpPr>
        <p:spPr>
          <a:xfrm>
            <a:off x="10479408" y="4499004"/>
            <a:ext cx="1266372" cy="55399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>
                  <a:gsLst>
                    <a:gs pos="0">
                      <a:srgbClr val="73262F"/>
                    </a:gs>
                    <a:gs pos="71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/>
              </a:rPr>
              <a:t>Embedding 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 w="3175">
                  <a:noFill/>
                </a:ln>
                <a:gradFill flip="none">
                  <a:gsLst>
                    <a:gs pos="0">
                      <a:srgbClr val="73262F"/>
                    </a:gs>
                    <a:gs pos="71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/>
              </a:rPr>
              <a:t>Model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BA166C5-3F01-16F3-99A1-BC6DA2268FC6}"/>
              </a:ext>
            </a:extLst>
          </p:cNvPr>
          <p:cNvSpPr txBox="1"/>
          <p:nvPr/>
        </p:nvSpPr>
        <p:spPr>
          <a:xfrm>
            <a:off x="5316146" y="2663994"/>
            <a:ext cx="908903" cy="2769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Script" panose="030B0504020000000003" pitchFamily="66" charset="0"/>
                <a:ea typeface="+mn-ea"/>
                <a:cs typeface="Dreaming Outloud Script Pro" panose="020F0502020204030204" pitchFamily="66" charset="0"/>
              </a:rPr>
              <a:t>Prompt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DBAA012-DE4E-798A-363D-9F300513F974}"/>
              </a:ext>
            </a:extLst>
          </p:cNvPr>
          <p:cNvSpPr txBox="1"/>
          <p:nvPr/>
        </p:nvSpPr>
        <p:spPr>
          <a:xfrm>
            <a:off x="9966636" y="2725549"/>
            <a:ext cx="1318979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normalizeH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cs typeface="Segoe UI Semibold"/>
              </a:defRPr>
            </a:lvl1pPr>
          </a:lstStyle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 w="3175"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 Semibold"/>
              </a:rPr>
              <a:t>Embedding</a:t>
            </a:r>
          </a:p>
        </p:txBody>
      </p:sp>
      <p:sp>
        <p:nvSpPr>
          <p:cNvPr id="146" name="Rectangle: Rounded Corners 20">
            <a:extLst>
              <a:ext uri="{FF2B5EF4-FFF2-40B4-BE49-F238E27FC236}">
                <a16:creationId xmlns:a16="http://schemas.microsoft.com/office/drawing/2014/main" id="{979D857F-B470-BF0B-E873-8D2E041D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2866951" y="6030588"/>
            <a:ext cx="6458098" cy="481560"/>
          </a:xfrm>
          <a:prstGeom prst="roundRect">
            <a:avLst>
              <a:gd name="adj" fmla="val 34256"/>
            </a:avLst>
          </a:prstGeom>
          <a:solidFill>
            <a:schemeClr val="accent1">
              <a:lumMod val="50000"/>
            </a:schemeClr>
          </a:solidFill>
        </p:spPr>
        <p:txBody>
          <a:bodyPr wrap="none" lIns="182880" tIns="36576" rIns="182880" bIns="73152" rtlCol="0" anchor="ctr" anchorCtr="0">
            <a:sp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 w="3175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 Variable Display Semib" pitchFamily="2" charset="0"/>
                <a:ea typeface="+mn-ea"/>
                <a:cs typeface="Segoe UI" pitchFamily="34" charset="0"/>
              </a:rPr>
              <a:t>The prompt may contain words </a:t>
            </a:r>
            <a:r>
              <a:rPr kumimoji="0" lang="en-US" sz="1800" b="1" i="1" u="none" strike="noStrike" kern="1200" cap="none" spc="0" normalizeH="0" baseline="0" noProof="0" dirty="0">
                <a:ln w="3175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 Variable Display Semib" pitchFamily="2" charset="0"/>
                <a:ea typeface="+mn-ea"/>
                <a:cs typeface="Segoe UI" pitchFamily="34" charset="0"/>
              </a:rPr>
              <a:t>not found  </a:t>
            </a:r>
            <a:r>
              <a:rPr kumimoji="0" lang="en-US" sz="1800" b="1" i="0" u="none" strike="noStrike" kern="1200" cap="none" spc="0" normalizeH="0" baseline="0" noProof="0" dirty="0">
                <a:ln w="3175"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 Variable Display Semib" pitchFamily="2" charset="0"/>
                <a:ea typeface="+mn-ea"/>
                <a:cs typeface="Segoe UI" pitchFamily="34" charset="0"/>
              </a:rPr>
              <a:t>in your data!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C2F1C76-37DB-01CD-B0FD-77B2DF53860F}"/>
              </a:ext>
            </a:extLst>
          </p:cNvPr>
          <p:cNvSpPr txBox="1"/>
          <p:nvPr/>
        </p:nvSpPr>
        <p:spPr>
          <a:xfrm>
            <a:off x="6983043" y="1070630"/>
            <a:ext cx="18600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Segoe UI Semibold" panose="020B0702040204020203" pitchFamily="34" charset="0"/>
                <a:cs typeface="Segoe UI Semibold" panose="020B0702040204020203" pitchFamily="34" charset="0"/>
              </a:rPr>
              <a:t>Secure and scalable</a:t>
            </a:r>
          </a:p>
        </p:txBody>
      </p:sp>
      <p:pic>
        <p:nvPicPr>
          <p:cNvPr id="148" name="Graphic 147" descr="Checkmark with solid fill">
            <a:extLst>
              <a:ext uri="{FF2B5EF4-FFF2-40B4-BE49-F238E27FC236}">
                <a16:creationId xmlns:a16="http://schemas.microsoft.com/office/drawing/2014/main" id="{A298DD37-E141-9680-E4CC-0A31F1270EF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40965" y="985940"/>
            <a:ext cx="362166" cy="362166"/>
          </a:xfrm>
          <a:prstGeom prst="rect">
            <a:avLst/>
          </a:prstGeom>
        </p:spPr>
      </p:pic>
      <p:pic>
        <p:nvPicPr>
          <p:cNvPr id="149" name="Picture 2" descr="Ground - Free nature icons">
            <a:extLst>
              <a:ext uri="{FF2B5EF4-FFF2-40B4-BE49-F238E27FC236}">
                <a16:creationId xmlns:a16="http://schemas.microsoft.com/office/drawing/2014/main" id="{8433B21C-DD56-8984-8BCE-ECDF14B2E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1739" y="5061421"/>
            <a:ext cx="426502" cy="426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Graphic 149" descr="Cloud with solid fill">
            <a:extLst>
              <a:ext uri="{FF2B5EF4-FFF2-40B4-BE49-F238E27FC236}">
                <a16:creationId xmlns:a16="http://schemas.microsoft.com/office/drawing/2014/main" id="{300AE999-C02C-15DE-4049-DC58DEF197F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189715" y="4992592"/>
            <a:ext cx="544832" cy="544832"/>
          </a:xfrm>
          <a:prstGeom prst="rect">
            <a:avLst/>
          </a:prstGeom>
        </p:spPr>
      </p:pic>
      <p:pic>
        <p:nvPicPr>
          <p:cNvPr id="151" name="Picture 2" descr="Ground - Free nature icons">
            <a:extLst>
              <a:ext uri="{FF2B5EF4-FFF2-40B4-BE49-F238E27FC236}">
                <a16:creationId xmlns:a16="http://schemas.microsoft.com/office/drawing/2014/main" id="{35A1A889-DBCF-350D-4F7A-AEC2C07D4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828" y="5270837"/>
            <a:ext cx="426502" cy="426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Graphic 151" descr="Cloud with solid fill">
            <a:extLst>
              <a:ext uri="{FF2B5EF4-FFF2-40B4-BE49-F238E27FC236}">
                <a16:creationId xmlns:a16="http://schemas.microsoft.com/office/drawing/2014/main" id="{EFB2A84F-9C81-4536-75F1-7DC3C964B65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21804" y="5202008"/>
            <a:ext cx="544832" cy="544832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4DFA911C-2534-49F7-BB5E-26AD66FA33B1}"/>
              </a:ext>
            </a:extLst>
          </p:cNvPr>
          <p:cNvSpPr txBox="1"/>
          <p:nvPr/>
        </p:nvSpPr>
        <p:spPr>
          <a:xfrm>
            <a:off x="9605867" y="2663150"/>
            <a:ext cx="1318979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normalizeH="0">
                <a:ln w="3175"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cs typeface="Segoe UI Semibold"/>
              </a:defRPr>
            </a:lvl1pPr>
          </a:lstStyle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 w="3175"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 Semibold"/>
              </a:rPr>
              <a:t>=</a:t>
            </a:r>
          </a:p>
        </p:txBody>
      </p:sp>
      <p:sp>
        <p:nvSpPr>
          <p:cNvPr id="154" name="Arrow: Curved Left 153">
            <a:extLst>
              <a:ext uri="{FF2B5EF4-FFF2-40B4-BE49-F238E27FC236}">
                <a16:creationId xmlns:a16="http://schemas.microsoft.com/office/drawing/2014/main" id="{075F893B-5BE5-1FC8-8E7C-4D7DBC2C41F9}"/>
              </a:ext>
            </a:extLst>
          </p:cNvPr>
          <p:cNvSpPr/>
          <p:nvPr/>
        </p:nvSpPr>
        <p:spPr>
          <a:xfrm rot="5400000">
            <a:off x="8961703" y="2041159"/>
            <a:ext cx="488899" cy="2606069"/>
          </a:xfrm>
          <a:prstGeom prst="curvedLef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36869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80" grpId="0"/>
      <p:bldP spid="82" grpId="0"/>
      <p:bldP spid="83" grpId="0"/>
      <p:bldP spid="110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143" grpId="0"/>
      <p:bldP spid="144" grpId="0"/>
      <p:bldP spid="145" grpId="0"/>
      <p:bldP spid="146" grpId="0" animBg="1"/>
      <p:bldP spid="147" grpId="0"/>
      <p:bldP spid="153" grpId="0"/>
      <p:bldP spid="15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>
            <a:extLst>
              <a:ext uri="{FF2B5EF4-FFF2-40B4-BE49-F238E27FC236}">
                <a16:creationId xmlns:a16="http://schemas.microsoft.com/office/drawing/2014/main" id="{9CB3B586-BE85-1B42-D02F-4C07754BC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1565031"/>
            <a:ext cx="4616783" cy="1107996"/>
          </a:xfrm>
        </p:spPr>
        <p:txBody>
          <a:bodyPr>
            <a:normAutofit fontScale="90000"/>
          </a:bodyPr>
          <a:lstStyle/>
          <a:p>
            <a:pPr>
              <a:spcBef>
                <a:spcPts val="1000"/>
              </a:spcBef>
            </a:pPr>
            <a:r>
              <a:rPr lang="en-US"/>
              <a:t>What are </a:t>
            </a:r>
            <a:br>
              <a:rPr lang="en-US"/>
            </a:br>
            <a:r>
              <a:rPr lang="en-US"/>
              <a:t>the features?</a:t>
            </a:r>
            <a:endParaRPr lang="en-US" sz="2400" spc="0">
              <a:ln>
                <a:noFill/>
              </a:ln>
              <a:latin typeface="+mn-lt"/>
              <a:cs typeface="+mn-cs"/>
            </a:endParaRPr>
          </a:p>
        </p:txBody>
      </p:sp>
      <p:sp>
        <p:nvSpPr>
          <p:cNvPr id="42" name="Rectangle: Rounded Corners 1">
            <a:extLst>
              <a:ext uri="{FF2B5EF4-FFF2-40B4-BE49-F238E27FC236}">
                <a16:creationId xmlns:a16="http://schemas.microsoft.com/office/drawing/2014/main" id="{847CC238-30B5-13D0-F863-859FD118E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84200" y="4576521"/>
            <a:ext cx="3767836" cy="867377"/>
          </a:xfrm>
          <a:prstGeom prst="roundRect">
            <a:avLst/>
          </a:prstGeom>
          <a:noFill/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46" name="Picture 12" descr="OpenAI begins publicly tracking AI model efficiency | VentureBeat">
            <a:extLst>
              <a:ext uri="{FF2B5EF4-FFF2-40B4-BE49-F238E27FC236}">
                <a16:creationId xmlns:a16="http://schemas.microsoft.com/office/drawing/2014/main" id="{2B4888EB-38B2-14CC-365E-840CF403B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35" r="34335" b="40681"/>
          <a:stretch/>
        </p:blipFill>
        <p:spPr bwMode="auto">
          <a:xfrm>
            <a:off x="1422591" y="4754833"/>
            <a:ext cx="470549" cy="445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BFAC7158-9FFB-A716-0133-4071F3845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6557" y="4675246"/>
            <a:ext cx="1000097" cy="525051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1F9F0E3D-AD36-F1DB-FDAC-1D5755A5E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699296" y="971120"/>
            <a:ext cx="618123" cy="618123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04917" rtl="0" eaLnBrk="1" fontAlgn="base" latinLnBrk="0" hangingPunct="1">
              <a:lnSpc>
                <a:spcPct val="100000"/>
              </a:lnSpc>
              <a:spcBef>
                <a:spcPts val="317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endParaRPr kumimoji="0" lang="en-US" sz="2800" b="1" i="0" u="none" strike="noStrike" kern="1200" cap="none" spc="0" normalizeH="0" baseline="0" noProof="0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Segoe Sans Display Semibold" pitchFamily="2" charset="0"/>
            </a:endParaRP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EE66EC96-EE1C-3FF0-BB63-B2DD32571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78" r="278"/>
          <a:stretch/>
        </p:blipFill>
        <p:spPr>
          <a:xfrm>
            <a:off x="5819019" y="1090948"/>
            <a:ext cx="376365" cy="3784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39FE8F-F342-0823-8F20-8B3F256E114E}"/>
              </a:ext>
            </a:extLst>
          </p:cNvPr>
          <p:cNvSpPr txBox="1"/>
          <p:nvPr/>
        </p:nvSpPr>
        <p:spPr>
          <a:xfrm>
            <a:off x="6670942" y="972405"/>
            <a:ext cx="5153024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Vector Store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Native vector data type and DiskANN index*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1A12A71-A733-D856-C537-606F3F329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704947" y="2085657"/>
            <a:ext cx="618123" cy="618123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04917" rtl="0" eaLnBrk="1" fontAlgn="base" latinLnBrk="0" hangingPunct="1">
              <a:lnSpc>
                <a:spcPct val="100000"/>
              </a:lnSpc>
              <a:spcBef>
                <a:spcPts val="317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endParaRPr kumimoji="0" lang="en-US" sz="2800" b="1" i="0" u="none" strike="noStrike" kern="1200" cap="none" spc="0" normalizeH="0" baseline="0" noProof="0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Segoe Sans Display Semibold" pitchFamily="2" charset="0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70057B0D-7E54-763B-52C7-0769F2218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278" r="278"/>
          <a:stretch/>
        </p:blipFill>
        <p:spPr>
          <a:xfrm>
            <a:off x="5836611" y="2217231"/>
            <a:ext cx="353003" cy="3549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0F6B3E-3CEE-539A-FC68-66C7A2CAF1C0}"/>
              </a:ext>
            </a:extLst>
          </p:cNvPr>
          <p:cNvSpPr txBox="1"/>
          <p:nvPr/>
        </p:nvSpPr>
        <p:spPr>
          <a:xfrm>
            <a:off x="6676593" y="2088227"/>
            <a:ext cx="5147373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Model Management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Secure Model definitions ground or cloud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2AB3CA9-F544-B531-56B5-73E0E909F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704947" y="3133451"/>
            <a:ext cx="618123" cy="618123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04917" rtl="0" eaLnBrk="1" fontAlgn="base" latinLnBrk="0" hangingPunct="1">
              <a:lnSpc>
                <a:spcPct val="100000"/>
              </a:lnSpc>
              <a:spcBef>
                <a:spcPts val="317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endParaRPr kumimoji="0" lang="en-US" sz="2800" b="1" i="0" u="none" strike="noStrike" kern="1200" cap="none" spc="0" normalizeH="0" baseline="0" noProof="0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Segoe Sans Display Semibold" pitchFamily="2" charset="0"/>
            </a:endParaRP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C023D54A-09B6-A443-0F56-4741111A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278" r="278"/>
          <a:stretch/>
        </p:blipFill>
        <p:spPr>
          <a:xfrm>
            <a:off x="5827713" y="3256123"/>
            <a:ext cx="370708" cy="37277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1AE7F74-0858-B9D2-D06A-31B0C44FA932}"/>
              </a:ext>
            </a:extLst>
          </p:cNvPr>
          <p:cNvSpPr txBox="1"/>
          <p:nvPr/>
        </p:nvSpPr>
        <p:spPr>
          <a:xfrm>
            <a:off x="6676593" y="3081055"/>
            <a:ext cx="5166091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Embeddings built-in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Text Chunking and embedding generation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729E5DE-587A-D94F-FDEF-FF82FCA13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699296" y="4150137"/>
            <a:ext cx="618123" cy="618123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04917" rtl="0" eaLnBrk="1" fontAlgn="base" latinLnBrk="0" hangingPunct="1">
              <a:lnSpc>
                <a:spcPct val="100000"/>
              </a:lnSpc>
              <a:spcBef>
                <a:spcPts val="317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endParaRPr kumimoji="0" lang="en-US" sz="2800" b="1" i="0" u="none" strike="noStrike" kern="1200" cap="none" spc="0" normalizeH="0" baseline="0" noProof="0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Segoe Sans Display Semibold" pitchFamily="2" charset="0"/>
            </a:endParaRP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3B4FBC76-3FC5-DC85-12DA-5CFFA1B0C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78" r="278"/>
          <a:stretch/>
        </p:blipFill>
        <p:spPr>
          <a:xfrm>
            <a:off x="5836063" y="4286817"/>
            <a:ext cx="342848" cy="34476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0354D45-8551-CB05-DAB9-7DACF1AF78DE}"/>
              </a:ext>
            </a:extLst>
          </p:cNvPr>
          <p:cNvSpPr txBox="1"/>
          <p:nvPr/>
        </p:nvSpPr>
        <p:spPr>
          <a:xfrm>
            <a:off x="6670942" y="4151422"/>
            <a:ext cx="5459423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Simple semantic searching with hybrid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Vector distance (KNN) and Vector search (ANN)*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BFF50B0-2212-8086-E311-4F7B8DAA5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704947" y="5252693"/>
            <a:ext cx="618123" cy="618123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04917" rtl="0" eaLnBrk="1" fontAlgn="base" latinLnBrk="0" hangingPunct="1">
              <a:lnSpc>
                <a:spcPct val="100000"/>
              </a:lnSpc>
              <a:spcBef>
                <a:spcPts val="317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7158" algn="l"/>
              </a:tabLst>
              <a:defRPr/>
            </a:pPr>
            <a:endParaRPr kumimoji="0" lang="en-US" sz="2800" b="1" i="0" u="none" strike="noStrike" kern="1200" cap="none" spc="0" normalizeH="0" baseline="0" noProof="0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Segoe Sans Display Semibold" pitchFamily="2" charset="0"/>
            </a:endParaRPr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B7718388-9BF3-FDC0-8639-911D36E9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278" r="278"/>
          <a:stretch/>
        </p:blipFill>
        <p:spPr>
          <a:xfrm>
            <a:off x="5815994" y="5362634"/>
            <a:ext cx="396029" cy="39824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A7A4517-CC66-4EA8-D81E-39111699D990}"/>
              </a:ext>
            </a:extLst>
          </p:cNvPr>
          <p:cNvSpPr txBox="1"/>
          <p:nvPr/>
        </p:nvSpPr>
        <p:spPr>
          <a:xfrm>
            <a:off x="6676593" y="5200297"/>
            <a:ext cx="530686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Framework integration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LangChain, Semantic Kernel, EF Core, Agent Framework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47DA5-7196-A6A8-DD2E-813DBC8AB905}"/>
              </a:ext>
            </a:extLst>
          </p:cNvPr>
          <p:cNvSpPr txBox="1"/>
          <p:nvPr/>
        </p:nvSpPr>
        <p:spPr>
          <a:xfrm>
            <a:off x="585392" y="3440926"/>
            <a:ext cx="3842770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3175">
                  <a:noFill/>
                </a:ln>
                <a:gradFill flip="none">
                  <a:gsLst>
                    <a:gs pos="0">
                      <a:srgbClr val="73262F"/>
                    </a:gs>
                    <a:gs pos="68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/>
              </a:rPr>
              <a:t>Build Agentic RAG patterns 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>
                <a:ln w="3175">
                  <a:noFill/>
                </a:ln>
                <a:gradFill flip="none">
                  <a:gsLst>
                    <a:gs pos="0">
                      <a:srgbClr val="73262F"/>
                    </a:gs>
                    <a:gs pos="68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/>
              </a:rPr>
              <a:t>Inside </a:t>
            </a:r>
            <a:r>
              <a:rPr kumimoji="0" lang="en-US" sz="2400" b="1" i="0" u="none" strike="noStrike" kern="1200" cap="none" spc="0" normalizeH="0" baseline="0" noProof="0">
                <a:ln w="3175">
                  <a:noFill/>
                </a:ln>
                <a:gradFill flip="none">
                  <a:gsLst>
                    <a:gs pos="0">
                      <a:srgbClr val="73262F"/>
                    </a:gs>
                    <a:gs pos="68000">
                      <a:srgbClr val="2A446F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/>
                <a:uLnTx/>
                <a:uFillTx/>
                <a:latin typeface="Segoe UI Semibold"/>
                <a:ea typeface="+mn-ea"/>
                <a:cs typeface="Segoe UI"/>
              </a:rPr>
              <a:t>the engine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73262F"/>
                  </a:gs>
                  <a:gs pos="68000">
                    <a:srgbClr val="2A446F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A7B54F-675A-6982-4A35-740825881D3F}"/>
              </a:ext>
            </a:extLst>
          </p:cNvPr>
          <p:cNvSpPr txBox="1"/>
          <p:nvPr/>
        </p:nvSpPr>
        <p:spPr>
          <a:xfrm>
            <a:off x="9039990" y="6310728"/>
            <a:ext cx="301403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*Enabled by PREVIEW_FEATURES</a:t>
            </a:r>
          </a:p>
        </p:txBody>
      </p:sp>
      <p:pic>
        <p:nvPicPr>
          <p:cNvPr id="3" name="Picture 2" descr="Nvidia PNG Images Transparent Free Download | PNGMart.com">
            <a:extLst>
              <a:ext uri="{FF2B5EF4-FFF2-40B4-BE49-F238E27FC236}">
                <a16:creationId xmlns:a16="http://schemas.microsoft.com/office/drawing/2014/main" id="{C7734FC6-DC52-0B9A-21FF-A7DCE6DB1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9791" y="4754833"/>
            <a:ext cx="551411" cy="428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Streamlining the Machine Learning Workflow with ONNX and ONNX Runtime ...">
            <a:extLst>
              <a:ext uri="{FF2B5EF4-FFF2-40B4-BE49-F238E27FC236}">
                <a16:creationId xmlns:a16="http://schemas.microsoft.com/office/drawing/2014/main" id="{087E1FAA-122A-FC04-F3E1-0E954BA14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390" y="4782178"/>
            <a:ext cx="388457" cy="394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BE92FEA-2350-F511-7410-6313EEE13C5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1173" y="4766975"/>
            <a:ext cx="599206" cy="45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19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07407E-6 L 1.66667E-6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07407E-6 L 1.66667E-6 0.03542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3.54167E-6 -4.07407E-6 L -3.54167E-6 0.03542 " pathEditMode="relative" rAng="0" ptsTypes="AA">
                                      <p:cBhvr>
                                        <p:cTn id="19" dur="7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8.33333E-7 -4.07407E-6 L 8.33333E-7 0.03542 " pathEditMode="relative" rAng="0" ptsTypes="AA">
                                      <p:cBhvr>
                                        <p:cTn id="24" dur="7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8.33333E-7 -4.07407E-6 L 8.33333E-7 0.03542 " pathEditMode="relative" rAng="0" ptsTypes="AA">
                                      <p:cBhvr>
                                        <p:cTn id="29" dur="7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3.95833E-6 4.44444E-6 L -3.95833E-6 0.03541 " pathEditMode="relative" rAng="0" ptsTypes="AA">
                                      <p:cBhvr>
                                        <p:cTn id="34" dur="7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8.33333E-7 4.81481E-6 L 8.33333E-7 0.03541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8.33333E-7 4.81481E-6 L 8.33333E-7 0.03541 " pathEditMode="relative" rAng="0" ptsTypes="AA">
                                      <p:cBhvr>
                                        <p:cTn id="44" dur="7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4.79167E-6 -2.96296E-6 L 4.79167E-6 0.03542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1.66667E-6 -1.48148E-6 L 1.66667E-6 0.03542 " pathEditMode="relative" rAng="0" ptsTypes="AA">
                                      <p:cBhvr>
                                        <p:cTn id="54" dur="7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1.66667E-6 -1.48148E-6 L 1.66667E-6 0.03542 " pathEditMode="relative" rAng="0" ptsTypes="AA">
                                      <p:cBhvr>
                                        <p:cTn id="59" dur="7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54167E-6 -1.48148E-6 L -3.54167E-6 0.03542 " pathEditMode="relative" rAng="0" ptsTypes="AA">
                                      <p:cBhvr>
                                        <p:cTn id="64" dur="7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8.33333E-7 -2.96296E-6 L 8.33333E-7 0.03542 " pathEditMode="relative" rAng="0" ptsTypes="AA">
                                      <p:cBhvr>
                                        <p:cTn id="69" dur="700" spd="-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8.33333E-7 -2.96296E-6 L 8.33333E-7 0.03542 " pathEditMode="relative" rAng="0" ptsTypes="AA">
                                      <p:cBhvr>
                                        <p:cTn id="74" dur="7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4.375E-6 -2.96296E-6 L -4.375E-6 0.03542 " pathEditMode="relative" rAng="0" ptsTypes="AA">
                                      <p:cBhvr>
                                        <p:cTn id="79" dur="7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1" grpId="1" animBg="1"/>
      <p:bldP spid="5" grpId="0"/>
      <p:bldP spid="5" grpId="1"/>
      <p:bldP spid="32" grpId="0" animBg="1"/>
      <p:bldP spid="32" grpId="1" animBg="1"/>
      <p:bldP spid="6" grpId="0"/>
      <p:bldP spid="6" grpId="1"/>
      <p:bldP spid="33" grpId="0" animBg="1"/>
      <p:bldP spid="33" grpId="1" animBg="1"/>
      <p:bldP spid="27" grpId="0"/>
      <p:bldP spid="27" grpId="1"/>
      <p:bldP spid="34" grpId="0" animBg="1"/>
      <p:bldP spid="34" grpId="1" animBg="1"/>
      <p:bldP spid="28" grpId="0"/>
      <p:bldP spid="28" grpId="1"/>
      <p:bldP spid="35" grpId="0" animBg="1"/>
      <p:bldP spid="35" grpId="1" animBg="1"/>
      <p:bldP spid="29" grpId="0"/>
      <p:bldP spid="29" grpId="1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>
            <a:extLst>
              <a:ext uri="{FF2B5EF4-FFF2-40B4-BE49-F238E27FC236}">
                <a16:creationId xmlns:a16="http://schemas.microsoft.com/office/drawing/2014/main" id="{6D45AC35-F518-1B2B-3649-857DF45B3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124354" y="433910"/>
            <a:ext cx="618123" cy="618123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77A557-2BC4-4824-8695-3C59E4FA0B8D}"/>
              </a:ext>
            </a:extLst>
          </p:cNvPr>
          <p:cNvSpPr txBox="1"/>
          <p:nvPr/>
        </p:nvSpPr>
        <p:spPr>
          <a:xfrm>
            <a:off x="6096000" y="1717694"/>
            <a:ext cx="515302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You control </a:t>
            </a:r>
            <a:r>
              <a:rPr kumimoji="0" 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all access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with SQL security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10C7922-27B2-858B-FE65-C8CB01403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130005" y="1548447"/>
            <a:ext cx="618123" cy="618123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387E1BA-D6C7-90F2-F354-01EFEF4C0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129999" y="2648988"/>
            <a:ext cx="618123" cy="618123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E67DA0-7702-A250-CC87-37F1C79C6DF6}"/>
              </a:ext>
            </a:extLst>
          </p:cNvPr>
          <p:cNvSpPr txBox="1"/>
          <p:nvPr/>
        </p:nvSpPr>
        <p:spPr>
          <a:xfrm>
            <a:off x="6096000" y="2818235"/>
            <a:ext cx="60960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You control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AI models ground </a:t>
            </a:r>
            <a:r>
              <a:rPr kumimoji="0" 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or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cloud </a:t>
            </a:r>
            <a:r>
              <a:rPr kumimoji="0" 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isolated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E561F37-046C-80BF-2C99-27797F52B4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130005" y="3763525"/>
            <a:ext cx="618123" cy="618123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A12B9B-D0CF-C385-0831-3B6FE086CBC2}"/>
              </a:ext>
            </a:extLst>
          </p:cNvPr>
          <p:cNvSpPr txBox="1"/>
          <p:nvPr/>
        </p:nvSpPr>
        <p:spPr>
          <a:xfrm>
            <a:off x="6096000" y="4950921"/>
            <a:ext cx="5991616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Use RLS, TDE, Dynamic Data Masking, and Auditing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3CED7DD-3819-44AD-B119-CA2BE3CD6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130005" y="4815691"/>
            <a:ext cx="618123" cy="618123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pic>
        <p:nvPicPr>
          <p:cNvPr id="29" name="Graphic 28" descr="Lock with solid fill">
            <a:extLst>
              <a:ext uri="{FF2B5EF4-FFF2-40B4-BE49-F238E27FC236}">
                <a16:creationId xmlns:a16="http://schemas.microsoft.com/office/drawing/2014/main" id="{D974CAF3-1D57-0965-0735-39782D19F4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8249" y="589082"/>
            <a:ext cx="307777" cy="307777"/>
          </a:xfrm>
          <a:prstGeom prst="rect">
            <a:avLst/>
          </a:prstGeom>
        </p:spPr>
      </p:pic>
      <p:pic>
        <p:nvPicPr>
          <p:cNvPr id="30" name="Graphic 29" descr="Lock with solid fill">
            <a:extLst>
              <a:ext uri="{FF2B5EF4-FFF2-40B4-BE49-F238E27FC236}">
                <a16:creationId xmlns:a16="http://schemas.microsoft.com/office/drawing/2014/main" id="{3C130166-69AB-5137-F7F3-F792C8C6D0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4985" y="1703619"/>
            <a:ext cx="307777" cy="307777"/>
          </a:xfrm>
          <a:prstGeom prst="rect">
            <a:avLst/>
          </a:prstGeom>
        </p:spPr>
      </p:pic>
      <p:pic>
        <p:nvPicPr>
          <p:cNvPr id="31" name="Graphic 30" descr="Lock with solid fill">
            <a:extLst>
              <a:ext uri="{FF2B5EF4-FFF2-40B4-BE49-F238E27FC236}">
                <a16:creationId xmlns:a16="http://schemas.microsoft.com/office/drawing/2014/main" id="{3081D89C-FDEE-72BE-F6EF-5F09C3DCFF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5171" y="2804160"/>
            <a:ext cx="307777" cy="307777"/>
          </a:xfrm>
          <a:prstGeom prst="rect">
            <a:avLst/>
          </a:prstGeom>
        </p:spPr>
      </p:pic>
      <p:pic>
        <p:nvPicPr>
          <p:cNvPr id="32" name="Graphic 31" descr="Lock with solid fill">
            <a:extLst>
              <a:ext uri="{FF2B5EF4-FFF2-40B4-BE49-F238E27FC236}">
                <a16:creationId xmlns:a16="http://schemas.microsoft.com/office/drawing/2014/main" id="{743AA1D0-E9DB-E0A8-AC99-1D20A1243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5176" y="3918697"/>
            <a:ext cx="307777" cy="307777"/>
          </a:xfrm>
          <a:prstGeom prst="rect">
            <a:avLst/>
          </a:prstGeom>
        </p:spPr>
      </p:pic>
      <p:pic>
        <p:nvPicPr>
          <p:cNvPr id="33" name="Graphic 32" descr="Lock with solid fill">
            <a:extLst>
              <a:ext uri="{FF2B5EF4-FFF2-40B4-BE49-F238E27FC236}">
                <a16:creationId xmlns:a16="http://schemas.microsoft.com/office/drawing/2014/main" id="{101B2A3A-7CF1-D0F1-B577-BDDA349614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5176" y="4997238"/>
            <a:ext cx="307777" cy="307777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BA5BE3D7-98A7-9DB7-2E22-7C385F8AC2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130002" y="5869916"/>
            <a:ext cx="618123" cy="618123"/>
          </a:xfrm>
          <a:prstGeom prst="ellipse">
            <a:avLst/>
          </a:prstGeom>
          <a:gradFill flip="none" rotWithShape="1"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  <a:tileRect r="-100000" b="-100000"/>
          </a:gradFill>
          <a:ln w="190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61257" tIns="209006" rIns="261257" bIns="20900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04917" fontAlgn="base">
              <a:spcBef>
                <a:spcPts val="317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2800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Variable Display Semibold" pitchFamily="2" charset="0"/>
              <a:cs typeface="Segoe Sans Display Semibol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1033D6-A4DD-A2AE-5C86-EAE3AD83171E}"/>
              </a:ext>
            </a:extLst>
          </p:cNvPr>
          <p:cNvSpPr txBox="1"/>
          <p:nvPr/>
        </p:nvSpPr>
        <p:spPr>
          <a:xfrm>
            <a:off x="6096000" y="6051462"/>
            <a:ext cx="530686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Ledger for </a:t>
            </a:r>
            <a:r>
              <a:rPr kumimoji="0" lang="en-US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immutable agentic operations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log</a:t>
            </a:r>
          </a:p>
        </p:txBody>
      </p:sp>
      <p:pic>
        <p:nvPicPr>
          <p:cNvPr id="4" name="Graphic 3" descr="Lock with solid fill">
            <a:extLst>
              <a:ext uri="{FF2B5EF4-FFF2-40B4-BE49-F238E27FC236}">
                <a16:creationId xmlns:a16="http://schemas.microsoft.com/office/drawing/2014/main" id="{9E57B92C-D4C5-1A5F-A6C2-303826CD6B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5173" y="6051463"/>
            <a:ext cx="307777" cy="307777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689C375D-46AB-1363-810D-B5623F753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60" y="3064006"/>
            <a:ext cx="4386561" cy="1219200"/>
          </a:xfrm>
        </p:spPr>
        <p:txBody>
          <a:bodyPr>
            <a:normAutofit fontScale="90000"/>
          </a:bodyPr>
          <a:lstStyle/>
          <a:p>
            <a:r>
              <a:rPr lang="en-US"/>
              <a:t>Security, SQL, and AI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D7D381-C977-4C92-334D-D29E8C1B4E63}"/>
              </a:ext>
            </a:extLst>
          </p:cNvPr>
          <p:cNvSpPr txBox="1"/>
          <p:nvPr/>
        </p:nvSpPr>
        <p:spPr>
          <a:xfrm>
            <a:off x="6096000" y="3918697"/>
            <a:ext cx="5607649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noProof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 exchange with AI models is </a:t>
            </a:r>
            <a:r>
              <a:rPr lang="en-US" sz="2000" i="1" noProof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encrypted</a:t>
            </a:r>
            <a:endParaRPr kumimoji="0" lang="en-US" sz="20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2AFC46-BE96-166B-8E75-DF8C924EDEA6}"/>
              </a:ext>
            </a:extLst>
          </p:cNvPr>
          <p:cNvSpPr txBox="1"/>
          <p:nvPr/>
        </p:nvSpPr>
        <p:spPr>
          <a:xfrm>
            <a:off x="6096000" y="589081"/>
            <a:ext cx="515302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Segoe UI Semibold"/>
                <a:ea typeface="+mn-ea"/>
                <a:cs typeface="+mn-cs"/>
              </a:rPr>
              <a:t>Off by default!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16378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3" grpId="0" animBg="1"/>
      <p:bldP spid="24" grpId="0"/>
      <p:bldP spid="25" grpId="0" animBg="1"/>
      <p:bldP spid="26" grpId="0"/>
      <p:bldP spid="27" grpId="0" animBg="1"/>
      <p:bldP spid="2" grpId="0" animBg="1"/>
      <p:bldP spid="3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745371-4A18-0B2C-A0CE-6FA9BB55F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B7CD7-582A-47C5-0CDB-FB4056BF6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85" y="136043"/>
            <a:ext cx="11018520" cy="1107996"/>
          </a:xfrm>
        </p:spPr>
        <p:txBody>
          <a:bodyPr>
            <a:normAutofit fontScale="90000"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SQL Server 2025 Vector Architecture</a:t>
            </a:r>
            <a:br>
              <a:rPr kumimoji="0" lang="en-US" sz="3600" b="0" i="0" u="none" strike="noStrike" kern="1200" cap="none" spc="-50" normalizeH="0" baseline="0" noProof="0">
                <a:ln w="3175"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Segoe UI" pitchFamily="34" charset="0"/>
              </a:rPr>
            </a:br>
            <a:endParaRPr kumimoji="0" lang="en-US" sz="3600" b="0" i="0" u="none" strike="noStrike" kern="1200" cap="none" spc="-50" normalizeH="0" baseline="0" noProof="0">
              <a:ln w="3175"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Segoe UI" pitchFamily="34" charset="0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1ADDBB1-B5E1-7E13-AD39-B11F8D48D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115688" y="1597356"/>
            <a:ext cx="4976247" cy="4861252"/>
          </a:xfrm>
          <a:prstGeom prst="roundRect">
            <a:avLst>
              <a:gd name="adj" fmla="val 3556"/>
            </a:avLst>
          </a:prstGeom>
          <a:noFill/>
          <a:ln w="12700" cap="rnd">
            <a:solidFill>
              <a:schemeClr val="accent1">
                <a:lumMod val="50000"/>
                <a:alpha val="50000"/>
              </a:schemeClr>
            </a:solidFill>
            <a:prstDash val="dash"/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22" name="Graphic 21" descr="Badge with solid fill">
            <a:extLst>
              <a:ext uri="{FF2B5EF4-FFF2-40B4-BE49-F238E27FC236}">
                <a16:creationId xmlns:a16="http://schemas.microsoft.com/office/drawing/2014/main" id="{83853365-C5E2-0305-78A2-5595EE19F7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415429" y="2760036"/>
            <a:ext cx="388416" cy="38841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2236E35-447F-8FA1-03FA-93867DD95B55}"/>
              </a:ext>
            </a:extLst>
          </p:cNvPr>
          <p:cNvSpPr txBox="1"/>
          <p:nvPr/>
        </p:nvSpPr>
        <p:spPr>
          <a:xfrm>
            <a:off x="10699736" y="1693075"/>
            <a:ext cx="101483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Cloud hosted REST HTTPS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pic>
        <p:nvPicPr>
          <p:cNvPr id="25" name="Graphic 24" descr="Badge 4 with solid fill">
            <a:extLst>
              <a:ext uri="{FF2B5EF4-FFF2-40B4-BE49-F238E27FC236}">
                <a16:creationId xmlns:a16="http://schemas.microsoft.com/office/drawing/2014/main" id="{A3FB4406-528E-648A-256D-9B956F0B89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450080" y="2695966"/>
            <a:ext cx="388416" cy="38841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52CA710-A442-70B2-6F65-6728DA7A4AC1}"/>
              </a:ext>
            </a:extLst>
          </p:cNvPr>
          <p:cNvSpPr txBox="1"/>
          <p:nvPr/>
        </p:nvSpPr>
        <p:spPr>
          <a:xfrm>
            <a:off x="1198789" y="3242666"/>
            <a:ext cx="145828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T-SQL Prompt</a:t>
            </a:r>
          </a:p>
        </p:txBody>
      </p:sp>
      <p:pic>
        <p:nvPicPr>
          <p:cNvPr id="27" name="Graphic 26" descr="Badge 4 with solid fill">
            <a:extLst>
              <a:ext uri="{FF2B5EF4-FFF2-40B4-BE49-F238E27FC236}">
                <a16:creationId xmlns:a16="http://schemas.microsoft.com/office/drawing/2014/main" id="{888C9811-688A-190A-1540-2D9646EA7C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389893" y="3471435"/>
            <a:ext cx="388416" cy="38841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D2B4253-7E6A-C601-0796-061C2B7A475A}"/>
              </a:ext>
            </a:extLst>
          </p:cNvPr>
          <p:cNvSpPr txBox="1"/>
          <p:nvPr/>
        </p:nvSpPr>
        <p:spPr>
          <a:xfrm>
            <a:off x="5874693" y="3437484"/>
            <a:ext cx="2025573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Generate 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Embedding 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for prompt </a:t>
            </a:r>
          </a:p>
        </p:txBody>
      </p:sp>
      <p:pic>
        <p:nvPicPr>
          <p:cNvPr id="29" name="Graphic 28" descr="Badge 5 with solid fill">
            <a:extLst>
              <a:ext uri="{FF2B5EF4-FFF2-40B4-BE49-F238E27FC236}">
                <a16:creationId xmlns:a16="http://schemas.microsoft.com/office/drawing/2014/main" id="{7046C0C2-E900-263B-7F0E-40ADE08563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777115" y="5132415"/>
            <a:ext cx="388416" cy="38841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300D79AF-57E3-2B3E-8EC0-41C689106AA5}"/>
              </a:ext>
            </a:extLst>
          </p:cNvPr>
          <p:cNvSpPr txBox="1"/>
          <p:nvPr/>
        </p:nvSpPr>
        <p:spPr>
          <a:xfrm>
            <a:off x="7267699" y="5066357"/>
            <a:ext cx="1093091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Vector 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and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Hybrid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Search</a:t>
            </a:r>
          </a:p>
        </p:txBody>
      </p:sp>
      <p:pic>
        <p:nvPicPr>
          <p:cNvPr id="13" name="Graphic 12" descr="Table with solid fill">
            <a:extLst>
              <a:ext uri="{FF2B5EF4-FFF2-40B4-BE49-F238E27FC236}">
                <a16:creationId xmlns:a16="http://schemas.microsoft.com/office/drawing/2014/main" id="{A22BDB89-AB04-9EB8-EC32-68E3901D43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97444" y="4349009"/>
            <a:ext cx="1909237" cy="19092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43B3C2-4ABE-55B1-7823-AA6A590583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6236" y="4824485"/>
            <a:ext cx="299459" cy="299459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A2EB075-19FE-6944-E14D-356F7ACDE9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6236" y="5140560"/>
            <a:ext cx="299459" cy="29945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421264D-0B77-259F-EBC2-5106DC475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6236" y="5458405"/>
            <a:ext cx="299459" cy="299459"/>
          </a:xfrm>
          <a:prstGeom prst="rect">
            <a:avLst/>
          </a:prstGeom>
        </p:spPr>
      </p:pic>
      <p:pic>
        <p:nvPicPr>
          <p:cNvPr id="10" name="Picture 2" descr="Microsoft Copilot Studio Pricing 2024">
            <a:extLst>
              <a:ext uri="{FF2B5EF4-FFF2-40B4-BE49-F238E27FC236}">
                <a16:creationId xmlns:a16="http://schemas.microsoft.com/office/drawing/2014/main" id="{5D751E7E-C1DC-E6F6-C039-D74711F5B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18" y="2694136"/>
            <a:ext cx="802889" cy="802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25CE845-2553-1EC2-1DFF-11903EBF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066845" y="3186590"/>
            <a:ext cx="2636045" cy="9165"/>
          </a:xfrm>
          <a:prstGeom prst="straightConnector1">
            <a:avLst/>
          </a:prstGeom>
          <a:ln w="19050" cap="rnd" cmpd="sng" algn="ctr">
            <a:gradFill flip="none" rotWithShape="1">
              <a:gsLst>
                <a:gs pos="0">
                  <a:srgbClr val="73262F"/>
                </a:gs>
                <a:gs pos="74000">
                  <a:srgbClr val="2A446F"/>
                </a:gs>
              </a:gsLst>
              <a:lin ang="0" scaled="1"/>
              <a:tileRect/>
            </a:gradFill>
            <a:prstDash val="solid"/>
            <a:round/>
            <a:headEnd type="arrow" w="lg" len="sm"/>
            <a:tailEnd type="arrow" w="lg" len="sm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ACAF397-4AFB-77C4-256E-EC7CB1626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0380421" y="2086009"/>
            <a:ext cx="1596093" cy="873929"/>
          </a:xfrm>
          <a:prstGeom prst="roundRect">
            <a:avLst>
              <a:gd name="adj" fmla="val 7358"/>
            </a:avLst>
          </a:prstGeom>
          <a:noFill/>
          <a:ln w="12700" cap="rnd">
            <a:solidFill>
              <a:srgbClr val="000000">
                <a:alpha val="50000"/>
              </a:srgb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4" name="Picture 13" descr="Vector micro chip icon">
            <a:extLst>
              <a:ext uri="{FF2B5EF4-FFF2-40B4-BE49-F238E27FC236}">
                <a16:creationId xmlns:a16="http://schemas.microsoft.com/office/drawing/2014/main" id="{2F67584F-30B4-2772-7E51-0AF1E9534C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41193" y="4222797"/>
            <a:ext cx="499333" cy="499333"/>
          </a:xfrm>
          <a:prstGeom prst="rect">
            <a:avLst/>
          </a:prstGeom>
        </p:spPr>
      </p:pic>
      <p:grpSp>
        <p:nvGrpSpPr>
          <p:cNvPr id="4" name="Group 3" descr="Document and SQL database graphic encased in brackets">
            <a:extLst>
              <a:ext uri="{FF2B5EF4-FFF2-40B4-BE49-F238E27FC236}">
                <a16:creationId xmlns:a16="http://schemas.microsoft.com/office/drawing/2014/main" id="{E1EC92DA-ACD2-C26F-09C7-8ECB6E1444F2}"/>
              </a:ext>
            </a:extLst>
          </p:cNvPr>
          <p:cNvGrpSpPr>
            <a:grpSpLocks noChangeAspect="1"/>
          </p:cNvGrpSpPr>
          <p:nvPr/>
        </p:nvGrpSpPr>
        <p:grpSpPr>
          <a:xfrm>
            <a:off x="4392405" y="3079274"/>
            <a:ext cx="641645" cy="641645"/>
            <a:chOff x="9535761" y="257664"/>
            <a:chExt cx="2275237" cy="227523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090F601-39E7-FB02-ACE4-6135FA90D7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535761" y="257664"/>
              <a:ext cx="2275237" cy="2275237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E8F6CCB-9DA8-7F66-0819-F92CEE9DC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258062" y="1492854"/>
              <a:ext cx="830632" cy="790708"/>
            </a:xfrm>
            <a:prstGeom prst="rect">
              <a:avLst/>
            </a:prstGeom>
          </p:spPr>
        </p:pic>
        <p:pic>
          <p:nvPicPr>
            <p:cNvPr id="7" name="Picture 4" descr="Document outline">
              <a:extLst>
                <a:ext uri="{FF2B5EF4-FFF2-40B4-BE49-F238E27FC236}">
                  <a16:creationId xmlns:a16="http://schemas.microsoft.com/office/drawing/2014/main" id="{D416DC29-9435-7612-B57C-D9F8F5F35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10276883" y="511759"/>
              <a:ext cx="792997" cy="792997"/>
            </a:xfrm>
            <a:prstGeom prst="rect">
              <a:avLst/>
            </a:prstGeom>
          </p:spPr>
        </p:pic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D743A53-2F28-5086-680B-0DFA94EA1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625662" y="4546914"/>
            <a:ext cx="1075463" cy="565558"/>
          </a:xfrm>
          <a:prstGeom prst="straightConnector1">
            <a:avLst/>
          </a:prstGeom>
          <a:ln w="19050" cap="rnd">
            <a:gradFill flip="none" rotWithShape="1">
              <a:gsLst>
                <a:gs pos="0">
                  <a:srgbClr val="73262F"/>
                </a:gs>
                <a:gs pos="74000">
                  <a:srgbClr val="2A446F"/>
                </a:gs>
              </a:gsLst>
              <a:lin ang="0" scaled="1"/>
              <a:tileRect/>
            </a:gradFill>
            <a:headEnd type="arrow" w="lg" len="sm"/>
            <a:tailEnd type="arrow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03FA38B-AFB0-2E59-400E-BE511E840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193170" y="5334043"/>
            <a:ext cx="1481708" cy="40344"/>
          </a:xfrm>
          <a:prstGeom prst="straightConnector1">
            <a:avLst/>
          </a:prstGeom>
          <a:ln w="19050" cap="rnd">
            <a:gradFill flip="none" rotWithShape="1">
              <a:gsLst>
                <a:gs pos="0">
                  <a:srgbClr val="73262F"/>
                </a:gs>
                <a:gs pos="74000">
                  <a:srgbClr val="2A446F"/>
                </a:gs>
              </a:gsLst>
              <a:lin ang="0" scaled="1"/>
              <a:tileRect/>
            </a:gradFill>
            <a:headEnd type="arrow" w="lg" len="sm"/>
            <a:tailEnd type="arrow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CEB6566-233A-7B6B-5087-8A1C93D7BDD6}"/>
              </a:ext>
            </a:extLst>
          </p:cNvPr>
          <p:cNvSpPr txBox="1"/>
          <p:nvPr/>
        </p:nvSpPr>
        <p:spPr>
          <a:xfrm>
            <a:off x="3761720" y="5958291"/>
            <a:ext cx="100348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Existing data</a:t>
            </a:r>
          </a:p>
        </p:txBody>
      </p:sp>
      <p:pic>
        <p:nvPicPr>
          <p:cNvPr id="36" name="Picture 12" descr="OpenAI begins publicly tracking AI model efficiency | VentureBeat">
            <a:extLst>
              <a:ext uri="{FF2B5EF4-FFF2-40B4-BE49-F238E27FC236}">
                <a16:creationId xmlns:a16="http://schemas.microsoft.com/office/drawing/2014/main" id="{27645B0D-A98B-149F-603C-6FDF0A2F2E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35" r="34335" b="40681"/>
          <a:stretch/>
        </p:blipFill>
        <p:spPr bwMode="auto">
          <a:xfrm>
            <a:off x="10938928" y="2297144"/>
            <a:ext cx="375913" cy="355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9" descr="Smiley face icon">
            <a:extLst>
              <a:ext uri="{FF2B5EF4-FFF2-40B4-BE49-F238E27FC236}">
                <a16:creationId xmlns:a16="http://schemas.microsoft.com/office/drawing/2014/main" id="{BF78E80A-D9F7-11EF-7E98-679D56DA09B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96211" y="3866392"/>
            <a:ext cx="447633" cy="447633"/>
          </a:xfrm>
          <a:prstGeom prst="rect">
            <a:avLst/>
          </a:prstGeom>
        </p:spPr>
      </p:pic>
      <p:pic>
        <p:nvPicPr>
          <p:cNvPr id="9" name="Picture 2" descr="Database Icon Transparent at GetDrawings | Free download">
            <a:extLst>
              <a:ext uri="{FF2B5EF4-FFF2-40B4-BE49-F238E27FC236}">
                <a16:creationId xmlns:a16="http://schemas.microsoft.com/office/drawing/2014/main" id="{8E116490-CADE-3247-CBD5-8FA4AD05B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599" y="5658272"/>
            <a:ext cx="468375" cy="46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0A9A70E-1D30-5AB3-2B0D-40BC988E8E46}"/>
              </a:ext>
            </a:extLst>
          </p:cNvPr>
          <p:cNvSpPr txBox="1"/>
          <p:nvPr/>
        </p:nvSpPr>
        <p:spPr>
          <a:xfrm>
            <a:off x="10384930" y="4849510"/>
            <a:ext cx="924933" cy="76944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API_TYPE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Azure OpenAI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OpenAI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Ollama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ONNX Runtime*</a:t>
            </a:r>
          </a:p>
        </p:txBody>
      </p:sp>
      <p:pic>
        <p:nvPicPr>
          <p:cNvPr id="3074" name="Picture 2" descr="Nvidia PNG Images Transparent Free Download | PNGMart.com">
            <a:extLst>
              <a:ext uri="{FF2B5EF4-FFF2-40B4-BE49-F238E27FC236}">
                <a16:creationId xmlns:a16="http://schemas.microsoft.com/office/drawing/2014/main" id="{1D44BCE4-C612-29F4-0B37-C7E31820D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6913" y="2306623"/>
            <a:ext cx="431353" cy="335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1B44E731-0314-6C96-99DB-7368E1375395}"/>
              </a:ext>
            </a:extLst>
          </p:cNvPr>
          <p:cNvSpPr txBox="1"/>
          <p:nvPr/>
        </p:nvSpPr>
        <p:spPr>
          <a:xfrm>
            <a:off x="5861820" y="5564029"/>
            <a:ext cx="655821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Create 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vector 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index</a:t>
            </a:r>
          </a:p>
        </p:txBody>
      </p:sp>
      <p:pic>
        <p:nvPicPr>
          <p:cNvPr id="50" name="Graphic 49" descr="Badge 3 with solid fill">
            <a:extLst>
              <a:ext uri="{FF2B5EF4-FFF2-40B4-BE49-F238E27FC236}">
                <a16:creationId xmlns:a16="http://schemas.microsoft.com/office/drawing/2014/main" id="{8BC774D1-4D5F-8FD5-23A6-6DD441584E8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5416030" y="5698251"/>
            <a:ext cx="388416" cy="388416"/>
          </a:xfrm>
          <a:prstGeom prst="rect">
            <a:avLst/>
          </a:prstGeom>
        </p:spPr>
      </p:pic>
      <p:pic>
        <p:nvPicPr>
          <p:cNvPr id="51" name="Graphic 50" descr="Badge 1 with solid fill">
            <a:extLst>
              <a:ext uri="{FF2B5EF4-FFF2-40B4-BE49-F238E27FC236}">
                <a16:creationId xmlns:a16="http://schemas.microsoft.com/office/drawing/2014/main" id="{550292C1-44F7-3C6E-87C1-87EC2AA6ED8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5421643" y="2081455"/>
            <a:ext cx="388416" cy="388416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F27BE98D-932C-B902-54D8-118E43544B6E}"/>
              </a:ext>
            </a:extLst>
          </p:cNvPr>
          <p:cNvSpPr txBox="1"/>
          <p:nvPr/>
        </p:nvSpPr>
        <p:spPr>
          <a:xfrm>
            <a:off x="5867219" y="2738952"/>
            <a:ext cx="220400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Generate 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Embeddings</a:t>
            </a:r>
          </a:p>
        </p:txBody>
      </p:sp>
      <p:pic>
        <p:nvPicPr>
          <p:cNvPr id="1035" name="Graphic 1034" descr="Table with solid fill">
            <a:extLst>
              <a:ext uri="{FF2B5EF4-FFF2-40B4-BE49-F238E27FC236}">
                <a16:creationId xmlns:a16="http://schemas.microsoft.com/office/drawing/2014/main" id="{1E49D723-FD0A-77C2-78D6-93695ADE757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248318" y="1796592"/>
            <a:ext cx="914400" cy="914400"/>
          </a:xfrm>
          <a:prstGeom prst="rect">
            <a:avLst/>
          </a:prstGeom>
        </p:spPr>
      </p:pic>
      <p:cxnSp>
        <p:nvCxnSpPr>
          <p:cNvPr id="1036" name="Straight Arrow Connector 1035">
            <a:extLst>
              <a:ext uri="{FF2B5EF4-FFF2-40B4-BE49-F238E27FC236}">
                <a16:creationId xmlns:a16="http://schemas.microsoft.com/office/drawing/2014/main" id="{9549EBE7-C003-51D7-EBED-50F560BD4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25965" y="2597239"/>
            <a:ext cx="0" cy="398118"/>
          </a:xfrm>
          <a:prstGeom prst="straightConnector1">
            <a:avLst/>
          </a:prstGeom>
          <a:ln w="25400" cap="rnd">
            <a:solidFill>
              <a:srgbClr val="454142"/>
            </a:solidFill>
            <a:headEnd type="arrow" w="lg" len="sm"/>
            <a:tailEnd type="arrow" w="lg" len="sm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39" name="Straight Arrow Connector 1038">
            <a:extLst>
              <a:ext uri="{FF2B5EF4-FFF2-40B4-BE49-F238E27FC236}">
                <a16:creationId xmlns:a16="http://schemas.microsoft.com/office/drawing/2014/main" id="{EBEE7DEC-D577-3441-31C1-76A2ED8F5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326570" y="3862862"/>
            <a:ext cx="291149" cy="787560"/>
          </a:xfrm>
          <a:prstGeom prst="straightConnector1">
            <a:avLst/>
          </a:prstGeom>
          <a:ln w="25400" cap="rnd">
            <a:solidFill>
              <a:srgbClr val="454142"/>
            </a:solidFill>
            <a:headEnd type="arrow" w="lg" len="sm"/>
            <a:tailEnd type="arrow" w="lg" len="sm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42" name="Straight Arrow Connector 1041">
            <a:extLst>
              <a:ext uri="{FF2B5EF4-FFF2-40B4-BE49-F238E27FC236}">
                <a16:creationId xmlns:a16="http://schemas.microsoft.com/office/drawing/2014/main" id="{07A989E2-454A-E1DE-1BF0-FB8649096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65505" y="3809273"/>
            <a:ext cx="472158" cy="466766"/>
          </a:xfrm>
          <a:prstGeom prst="straightConnector1">
            <a:avLst/>
          </a:prstGeom>
          <a:ln w="25400" cap="rnd">
            <a:solidFill>
              <a:srgbClr val="454142"/>
            </a:solidFill>
            <a:headEnd type="arrow" w="lg" len="sm"/>
            <a:tailEnd type="arrow" w="lg" len="sm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E5254FA-CD59-8EDA-05BE-D750F895EB2A}"/>
              </a:ext>
            </a:extLst>
          </p:cNvPr>
          <p:cNvSpPr/>
          <p:nvPr/>
        </p:nvSpPr>
        <p:spPr bwMode="auto">
          <a:xfrm>
            <a:off x="2734211" y="780500"/>
            <a:ext cx="7539383" cy="5896084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3" name="Graphic 32" descr="Cloud with solid fill">
            <a:extLst>
              <a:ext uri="{FF2B5EF4-FFF2-40B4-BE49-F238E27FC236}">
                <a16:creationId xmlns:a16="http://schemas.microsoft.com/office/drawing/2014/main" id="{C2857A44-5642-9115-B2C7-6D09876520C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380421" y="1693075"/>
            <a:ext cx="431353" cy="431353"/>
          </a:xfrm>
          <a:prstGeom prst="rect">
            <a:avLst/>
          </a:prstGeom>
        </p:spPr>
      </p:pic>
      <p:pic>
        <p:nvPicPr>
          <p:cNvPr id="1026" name="Picture 2" descr="Streamlining the Machine Learning Workflow with ONNX and ONNX Runtime ...">
            <a:extLst>
              <a:ext uri="{FF2B5EF4-FFF2-40B4-BE49-F238E27FC236}">
                <a16:creationId xmlns:a16="http://schemas.microsoft.com/office/drawing/2014/main" id="{1C8CDD12-860E-6700-9963-41F6565B6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6495" y="3900499"/>
            <a:ext cx="388457" cy="394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1F9CB094-AA6F-84C3-F93B-CB2E667BD4A1}"/>
              </a:ext>
            </a:extLst>
          </p:cNvPr>
          <p:cNvSpPr/>
          <p:nvPr/>
        </p:nvSpPr>
        <p:spPr bwMode="auto">
          <a:xfrm>
            <a:off x="8703791" y="3748061"/>
            <a:ext cx="1014836" cy="755354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95176FF-F8F1-BFAA-FCDF-963C1D09101D}"/>
              </a:ext>
            </a:extLst>
          </p:cNvPr>
          <p:cNvSpPr txBox="1"/>
          <p:nvPr/>
        </p:nvSpPr>
        <p:spPr>
          <a:xfrm>
            <a:off x="5888075" y="2039247"/>
            <a:ext cx="220400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Model 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definition</a:t>
            </a:r>
          </a:p>
        </p:txBody>
      </p:sp>
      <p:pic>
        <p:nvPicPr>
          <p:cNvPr id="1028" name="Picture 4" descr="Virtual machine - Free computer icons">
            <a:extLst>
              <a:ext uri="{FF2B5EF4-FFF2-40B4-BE49-F238E27FC236}">
                <a16:creationId xmlns:a16="http://schemas.microsoft.com/office/drawing/2014/main" id="{96A3AE7A-A0C5-280F-9D36-2A128CC1C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8624" y="1001597"/>
            <a:ext cx="427381" cy="427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F8877E23-8FB4-BDBC-61CC-0FC9A65DBB77}"/>
              </a:ext>
            </a:extLst>
          </p:cNvPr>
          <p:cNvSpPr txBox="1"/>
          <p:nvPr/>
        </p:nvSpPr>
        <p:spPr>
          <a:xfrm>
            <a:off x="8703791" y="3202937"/>
            <a:ext cx="1014836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AI Services and 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Language Extensions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95245CE-7A4A-8EC4-513D-C121BC6F85A3}"/>
              </a:ext>
            </a:extLst>
          </p:cNvPr>
          <p:cNvGrpSpPr/>
          <p:nvPr/>
        </p:nvGrpSpPr>
        <p:grpSpPr>
          <a:xfrm>
            <a:off x="8522961" y="1642167"/>
            <a:ext cx="1335412" cy="1380541"/>
            <a:chOff x="8522961" y="1642167"/>
            <a:chExt cx="1335412" cy="1380541"/>
          </a:xfrm>
        </p:grpSpPr>
        <p:pic>
          <p:nvPicPr>
            <p:cNvPr id="41" name="Picture 6" descr="KSERVE · GitHub">
              <a:extLst>
                <a:ext uri="{FF2B5EF4-FFF2-40B4-BE49-F238E27FC236}">
                  <a16:creationId xmlns:a16="http://schemas.microsoft.com/office/drawing/2014/main" id="{1643EDCD-62D7-C22E-4AAB-5860C63C53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2889" y="2096975"/>
              <a:ext cx="301329" cy="3013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4" descr="Software">
              <a:extLst>
                <a:ext uri="{FF2B5EF4-FFF2-40B4-BE49-F238E27FC236}">
                  <a16:creationId xmlns:a16="http://schemas.microsoft.com/office/drawing/2014/main" id="{0638A295-4616-4FE1-AA3B-AD2E2D25D6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90221" y="2606031"/>
              <a:ext cx="595212" cy="2130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47" descr="Llama icon">
              <a:extLst>
                <a:ext uri="{FF2B5EF4-FFF2-40B4-BE49-F238E27FC236}">
                  <a16:creationId xmlns:a16="http://schemas.microsoft.com/office/drawing/2014/main" id="{3516BA98-86B5-2F52-4761-C0892BF44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9027063" y="1999836"/>
              <a:ext cx="806270" cy="423292"/>
            </a:xfrm>
            <a:prstGeom prst="rect">
              <a:avLst/>
            </a:prstGeom>
          </p:spPr>
        </p:pic>
        <p:pic>
          <p:nvPicPr>
            <p:cNvPr id="35" name="Picture 2" descr="Nvidia PNG Images Transparent Free Download | PNGMart.com">
              <a:extLst>
                <a:ext uri="{FF2B5EF4-FFF2-40B4-BE49-F238E27FC236}">
                  <a16:creationId xmlns:a16="http://schemas.microsoft.com/office/drawing/2014/main" id="{A434837A-8EB5-23E2-2041-22958FD5E8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60859" y="2550508"/>
              <a:ext cx="378064" cy="2939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1C52516-C4E3-1F67-B845-98BF78C083D6}"/>
                </a:ext>
              </a:extLst>
            </p:cNvPr>
            <p:cNvSpPr/>
            <p:nvPr/>
          </p:nvSpPr>
          <p:spPr bwMode="auto">
            <a:xfrm>
              <a:off x="8522961" y="1999836"/>
              <a:ext cx="1335412" cy="1022872"/>
            </a:xfrm>
            <a:prstGeom prst="rect">
              <a:avLst/>
            </a:prstGeom>
            <a:noFill/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106FBE2-85D6-F088-ED72-6C43A1F6CFE4}"/>
                </a:ext>
              </a:extLst>
            </p:cNvPr>
            <p:cNvSpPr txBox="1"/>
            <p:nvPr/>
          </p:nvSpPr>
          <p:spPr>
            <a:xfrm>
              <a:off x="8698386" y="1642167"/>
              <a:ext cx="1014836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Locally hosted REST HTTPS</a:t>
              </a: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endParaRPr>
            </a:p>
          </p:txBody>
        </p:sp>
      </p:grpSp>
      <p:pic>
        <p:nvPicPr>
          <p:cNvPr id="1037" name="Picture 6" descr="KSERVE · GitHub">
            <a:extLst>
              <a:ext uri="{FF2B5EF4-FFF2-40B4-BE49-F238E27FC236}">
                <a16:creationId xmlns:a16="http://schemas.microsoft.com/office/drawing/2014/main" id="{6EEC2625-2809-D9D2-12E8-DDD9F5C99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2137" y="3565900"/>
            <a:ext cx="301329" cy="301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4" descr="Software">
            <a:extLst>
              <a:ext uri="{FF2B5EF4-FFF2-40B4-BE49-F238E27FC236}">
                <a16:creationId xmlns:a16="http://schemas.microsoft.com/office/drawing/2014/main" id="{5C38C7B4-DB21-BE29-1C23-AE2A1C69F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469" y="4074956"/>
            <a:ext cx="595212" cy="213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039" descr="Llama icon">
            <a:extLst>
              <a:ext uri="{FF2B5EF4-FFF2-40B4-BE49-F238E27FC236}">
                <a16:creationId xmlns:a16="http://schemas.microsoft.com/office/drawing/2014/main" id="{D84EC8C0-2607-9B45-7E10-C7B1DAEBCB50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016311" y="3468761"/>
            <a:ext cx="806270" cy="423292"/>
          </a:xfrm>
          <a:prstGeom prst="rect">
            <a:avLst/>
          </a:prstGeom>
        </p:spPr>
      </p:pic>
      <p:pic>
        <p:nvPicPr>
          <p:cNvPr id="1041" name="Picture 2" descr="Nvidia PNG Images Transparent Free Download | PNGMart.com">
            <a:extLst>
              <a:ext uri="{FF2B5EF4-FFF2-40B4-BE49-F238E27FC236}">
                <a16:creationId xmlns:a16="http://schemas.microsoft.com/office/drawing/2014/main" id="{215CC420-958F-74E2-B5A6-55FF591CF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0107" y="4019433"/>
            <a:ext cx="378064" cy="293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Rectangle 1042">
            <a:extLst>
              <a:ext uri="{FF2B5EF4-FFF2-40B4-BE49-F238E27FC236}">
                <a16:creationId xmlns:a16="http://schemas.microsoft.com/office/drawing/2014/main" id="{1E193A53-8E8A-F4C2-589F-3EE6EB7B102E}"/>
              </a:ext>
            </a:extLst>
          </p:cNvPr>
          <p:cNvSpPr/>
          <p:nvPr/>
        </p:nvSpPr>
        <p:spPr bwMode="auto">
          <a:xfrm>
            <a:off x="10512209" y="3468761"/>
            <a:ext cx="1335412" cy="1022872"/>
          </a:xfrm>
          <a:prstGeom prst="rect">
            <a:avLst/>
          </a:prstGeom>
          <a:noFill/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446EB148-85F7-8186-F05E-7A614CECFD65}"/>
              </a:ext>
            </a:extLst>
          </p:cNvPr>
          <p:cNvSpPr txBox="1"/>
          <p:nvPr/>
        </p:nvSpPr>
        <p:spPr>
          <a:xfrm>
            <a:off x="10687634" y="3111092"/>
            <a:ext cx="101483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Network hosted REST HTTPS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pic>
        <p:nvPicPr>
          <p:cNvPr id="1045" name="Graphic 1044">
            <a:extLst>
              <a:ext uri="{FF2B5EF4-FFF2-40B4-BE49-F238E27FC236}">
                <a16:creationId xmlns:a16="http://schemas.microsoft.com/office/drawing/2014/main" id="{C8DC83CB-7F75-EE33-6AAB-0202631651F7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052314" y="1569734"/>
            <a:ext cx="731483" cy="731483"/>
          </a:xfrm>
          <a:prstGeom prst="rect">
            <a:avLst/>
          </a:prstGeom>
        </p:spPr>
      </p:pic>
      <p:sp>
        <p:nvSpPr>
          <p:cNvPr id="1046" name="Rectangle: Rounded Corners 1045">
            <a:extLst>
              <a:ext uri="{FF2B5EF4-FFF2-40B4-BE49-F238E27FC236}">
                <a16:creationId xmlns:a16="http://schemas.microsoft.com/office/drawing/2014/main" id="{BFF205C6-13C2-63E6-4008-93B476AF48A3}"/>
              </a:ext>
            </a:extLst>
          </p:cNvPr>
          <p:cNvSpPr/>
          <p:nvPr/>
        </p:nvSpPr>
        <p:spPr bwMode="auto">
          <a:xfrm>
            <a:off x="8285386" y="1511220"/>
            <a:ext cx="3793992" cy="3210910"/>
          </a:xfrm>
          <a:prstGeom prst="roundRect">
            <a:avLst/>
          </a:prstGeom>
          <a:noFill/>
          <a:ln>
            <a:solidFill>
              <a:schemeClr val="accent1">
                <a:lumMod val="50000"/>
              </a:schemeClr>
            </a:solidFill>
            <a:prstDash val="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076" name="Straight Arrow Connector 1075">
            <a:extLst>
              <a:ext uri="{FF2B5EF4-FFF2-40B4-BE49-F238E27FC236}">
                <a16:creationId xmlns:a16="http://schemas.microsoft.com/office/drawing/2014/main" id="{D80FECBC-3C15-4B28-CC06-DB8610455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75630" y="3002181"/>
            <a:ext cx="1123325" cy="1504"/>
          </a:xfrm>
          <a:prstGeom prst="straightConnector1">
            <a:avLst/>
          </a:prstGeom>
          <a:ln w="19050" cap="rnd">
            <a:solidFill>
              <a:srgbClr val="454142"/>
            </a:solidFill>
            <a:headEnd type="arrow" w="lg" len="sm"/>
            <a:tailEnd type="arrow" w="lg" len="sm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77" name="Straight Arrow Connector 1076">
            <a:extLst>
              <a:ext uri="{FF2B5EF4-FFF2-40B4-BE49-F238E27FC236}">
                <a16:creationId xmlns:a16="http://schemas.microsoft.com/office/drawing/2014/main" id="{403A3313-F375-BFB0-4D04-C61E6BE02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1913" y="3715060"/>
            <a:ext cx="1123325" cy="1504"/>
          </a:xfrm>
          <a:prstGeom prst="straightConnector1">
            <a:avLst/>
          </a:prstGeom>
          <a:ln w="19050" cap="rnd">
            <a:solidFill>
              <a:srgbClr val="454142"/>
            </a:solidFill>
            <a:headEnd type="arrow" w="lg" len="sm"/>
            <a:tailEnd type="arrow" w="lg" len="sm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78" name="Straight Arrow Connector 1077">
            <a:extLst>
              <a:ext uri="{FF2B5EF4-FFF2-40B4-BE49-F238E27FC236}">
                <a16:creationId xmlns:a16="http://schemas.microsoft.com/office/drawing/2014/main" id="{82BCCBBF-174E-8939-FD79-152B3216F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162718" y="2267921"/>
            <a:ext cx="252711" cy="0"/>
          </a:xfrm>
          <a:prstGeom prst="straightConnector1">
            <a:avLst/>
          </a:prstGeom>
          <a:ln w="25400" cap="rnd">
            <a:solidFill>
              <a:srgbClr val="454142"/>
            </a:solidFill>
            <a:headEnd type="arrow" w="lg" len="sm"/>
            <a:tailEnd type="arrow" w="lg" len="sm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E00EA97-A99B-F767-BDD0-91C8CCF3C2CA}"/>
              </a:ext>
            </a:extLst>
          </p:cNvPr>
          <p:cNvSpPr txBox="1"/>
          <p:nvPr/>
        </p:nvSpPr>
        <p:spPr>
          <a:xfrm>
            <a:off x="3242800" y="2228061"/>
            <a:ext cx="70211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T-SQL</a:t>
            </a:r>
          </a:p>
        </p:txBody>
      </p:sp>
      <p:pic>
        <p:nvPicPr>
          <p:cNvPr id="17" name="Graphic 16" descr="Lock with solid fill">
            <a:extLst>
              <a:ext uri="{FF2B5EF4-FFF2-40B4-BE49-F238E27FC236}">
                <a16:creationId xmlns:a16="http://schemas.microsoft.com/office/drawing/2014/main" id="{E534DC35-8157-130B-C148-F28F62E5AB89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635487" y="1792643"/>
            <a:ext cx="285664" cy="28566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305E3C6F-1B63-5CF8-6A03-0B10BF3EE1CD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0400706" y="2297144"/>
            <a:ext cx="478820" cy="36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8137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/>
      <p:bldP spid="26" grpId="0"/>
      <p:bldP spid="28" grpId="0"/>
      <p:bldP spid="34" grpId="0" animBg="1"/>
      <p:bldP spid="21" grpId="0"/>
      <p:bldP spid="47" grpId="0"/>
      <p:bldP spid="57" grpId="0"/>
      <p:bldP spid="39" grpId="0" animBg="1"/>
      <p:bldP spid="46" grpId="0"/>
      <p:bldP spid="59" grpId="0"/>
      <p:bldP spid="1043" grpId="0" animBg="1"/>
      <p:bldP spid="1044" grpId="0"/>
      <p:bldP spid="104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2371C-FADF-6E37-19DF-2C98EADE4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8FAC8D5C-2569-A28E-3EEF-5D7E4DC1B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9208" y="365125"/>
            <a:ext cx="8370604" cy="1325563"/>
          </a:xfrm>
        </p:spPr>
        <p:txBody>
          <a:bodyPr anchor="ctr">
            <a:normAutofit/>
          </a:bodyPr>
          <a:lstStyle/>
          <a:p>
            <a:r>
              <a:rPr lang="it-IT" dirty="0" err="1"/>
              <a:t>Ollama</a:t>
            </a:r>
            <a:endParaRPr lang="it-IT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DF1C6D7-DBCC-55AF-E090-79AABCD003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2016474"/>
            <a:ext cx="10515600" cy="3969639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082148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D77C40-0674-8D34-7186-B2FE65393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Che cos’è </a:t>
            </a:r>
            <a:r>
              <a:rPr lang="it-IT" dirty="0" err="1"/>
              <a:t>Ollama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A788FF-F6BE-23FF-41A6-38C978BC7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Piattaforma per eseguire </a:t>
            </a:r>
            <a:r>
              <a:rPr lang="it-IT" i="1" dirty="0" err="1"/>
              <a:t>language</a:t>
            </a:r>
            <a:r>
              <a:rPr lang="it-IT" i="1" dirty="0"/>
              <a:t> models </a:t>
            </a:r>
            <a:r>
              <a:rPr lang="it-IT" dirty="0"/>
              <a:t>localmente sul proprio computer</a:t>
            </a:r>
          </a:p>
          <a:p>
            <a:r>
              <a:rPr lang="it-IT" dirty="0"/>
              <a:t>Può essere installato su ogni S.O.</a:t>
            </a:r>
          </a:p>
          <a:p>
            <a:pPr lvl="1"/>
            <a:r>
              <a:rPr lang="it-IT" dirty="0"/>
              <a:t>Anche su Docker</a:t>
            </a:r>
          </a:p>
          <a:p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39612DC-A772-36A1-EDC3-307EEBFAE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550" y="4001294"/>
            <a:ext cx="3941250" cy="21348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7219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AFA401-66C7-B316-04F2-3AA254A04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Scegliere il modello più adatto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003F9A-FFF9-6EDF-2B02-2ECD62EDC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Per task</a:t>
            </a:r>
          </a:p>
          <a:p>
            <a:r>
              <a:rPr lang="it-IT" dirty="0"/>
              <a:t>Per utilizzo di memoria</a:t>
            </a:r>
          </a:p>
          <a:p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89AC914-F95C-E7C0-B081-05D9F765F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574" y="2417333"/>
            <a:ext cx="4214226" cy="37596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186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01DB36-DEFB-31BA-AE5D-90576935F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Scegliere il modello più adatto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EEC692B-7127-9A96-025E-F179F507FAB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838200" y="1955801"/>
            <a:ext cx="10515600" cy="3987800"/>
          </a:xfrm>
        </p:spPr>
        <p:txBody>
          <a:bodyPr/>
          <a:lstStyle/>
          <a:p>
            <a:r>
              <a:rPr lang="it-IT" dirty="0" err="1"/>
              <a:t>Hugging</a:t>
            </a:r>
            <a:r>
              <a:rPr lang="it-IT" dirty="0"/>
              <a:t> Face mantiene una </a:t>
            </a:r>
            <a:r>
              <a:rPr lang="it-IT" dirty="0" err="1"/>
              <a:t>leaderboard</a:t>
            </a:r>
            <a:r>
              <a:rPr lang="it-IT" dirty="0"/>
              <a:t> dei modelli</a:t>
            </a:r>
          </a:p>
          <a:p>
            <a:pPr lvl="1"/>
            <a:r>
              <a:rPr lang="it-IT" dirty="0"/>
              <a:t>utile per identificare i migliori modelli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ED088DB-1872-C5EB-5A6C-392074749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494" y="3552960"/>
            <a:ext cx="9876082" cy="312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028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B0ECA55-F6B6-B0BA-55C9-71764E3A1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Client </a:t>
            </a:r>
            <a:r>
              <a:rPr lang="it-IT" dirty="0" err="1"/>
              <a:t>command</a:t>
            </a:r>
            <a:r>
              <a:rPr lang="it-IT" dirty="0"/>
              <a:t>-line</a:t>
            </a:r>
          </a:p>
          <a:p>
            <a:r>
              <a:rPr lang="it-IT" dirty="0"/>
              <a:t>list</a:t>
            </a:r>
          </a:p>
          <a:p>
            <a:r>
              <a:rPr lang="it-IT" dirty="0"/>
              <a:t>pull</a:t>
            </a:r>
          </a:p>
          <a:p>
            <a:r>
              <a:rPr lang="it-IT" dirty="0"/>
              <a:t>show</a:t>
            </a:r>
          </a:p>
          <a:p>
            <a:r>
              <a:rPr lang="it-IT" dirty="0"/>
              <a:t>Serve</a:t>
            </a:r>
          </a:p>
          <a:p>
            <a:r>
              <a:rPr lang="it-IT" dirty="0"/>
              <a:t>…</a:t>
            </a:r>
          </a:p>
          <a:p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A465412-5E4F-C8AE-0128-CFEAA5DB2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Interagire con </a:t>
            </a:r>
            <a:r>
              <a:rPr lang="it-IT" dirty="0" err="1"/>
              <a:t>Ollama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AC887AB-EF91-DA88-5BC5-A87695C5A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356" y="2417333"/>
            <a:ext cx="4845444" cy="37596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8765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FE769BB4-A02E-9872-05FB-A8366E006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it-IT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945605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BBF1BF-C769-3F28-23B8-E10906167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5388" y="1825625"/>
            <a:ext cx="8848165" cy="4351338"/>
          </a:xfrm>
        </p:spPr>
        <p:txBody>
          <a:bodyPr/>
          <a:lstStyle/>
          <a:p>
            <a:r>
              <a:rPr lang="it-IT" dirty="0"/>
              <a:t>Usa modelli leggeri</a:t>
            </a:r>
          </a:p>
          <a:p>
            <a:r>
              <a:rPr lang="it-IT" dirty="0"/>
              <a:t>Esegui inferenze in batch</a:t>
            </a:r>
          </a:p>
          <a:p>
            <a:r>
              <a:rPr lang="it-IT" dirty="0"/>
              <a:t>Mantieni </a:t>
            </a:r>
            <a:r>
              <a:rPr lang="it-IT" dirty="0" err="1"/>
              <a:t>logging</a:t>
            </a:r>
            <a:r>
              <a:rPr lang="it-IT" dirty="0"/>
              <a:t> e tracciabilità delle chiamate AI</a:t>
            </a:r>
          </a:p>
          <a:p>
            <a:r>
              <a:rPr lang="it-IT" dirty="0"/>
              <a:t>Monitora performance e tempi di risposta</a:t>
            </a:r>
          </a:p>
          <a:p>
            <a:r>
              <a:rPr lang="it-IT" dirty="0"/>
              <a:t>Utilizza cache dei risultati per ridurre le chiamate alle API</a:t>
            </a:r>
          </a:p>
          <a:p>
            <a:pPr lvl="1"/>
            <a:r>
              <a:rPr lang="it-IT" dirty="0"/>
              <a:t>E quindi costi e latenza</a:t>
            </a:r>
          </a:p>
          <a:p>
            <a:pPr lvl="1"/>
            <a:r>
              <a:rPr lang="it-IT" dirty="0"/>
              <a:t>Es. </a:t>
            </a:r>
            <a:r>
              <a:rPr lang="it-IT" dirty="0" err="1"/>
              <a:t>Redis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767D49B-8072-9573-1023-CF1CED256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Best practices</a:t>
            </a:r>
          </a:p>
        </p:txBody>
      </p:sp>
    </p:spTree>
    <p:extLst>
      <p:ext uri="{BB962C8B-B14F-4D97-AF65-F5344CB8AC3E}">
        <p14:creationId xmlns:p14="http://schemas.microsoft.com/office/powerpoint/2010/main" val="3062188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82A98A16-312F-7DFB-AC9F-E8FA8E7B2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Problema: chiamare un servizio di </a:t>
            </a:r>
            <a:r>
              <a:rPr lang="it-IT" dirty="0" err="1"/>
              <a:t>embedding</a:t>
            </a:r>
            <a:r>
              <a:rPr lang="it-IT" dirty="0"/>
              <a:t> esterno a SQL Server via REST su </a:t>
            </a:r>
            <a:r>
              <a:rPr lang="it-IT" dirty="0" err="1"/>
              <a:t>HTTPs</a:t>
            </a:r>
            <a:r>
              <a:rPr lang="it-IT" dirty="0"/>
              <a:t> è limitato dalla banda del </a:t>
            </a:r>
            <a:r>
              <a:rPr lang="it-IT" dirty="0" err="1"/>
              <a:t>backend</a:t>
            </a:r>
            <a:r>
              <a:rPr lang="it-IT" dirty="0"/>
              <a:t>.</a:t>
            </a:r>
          </a:p>
          <a:p>
            <a:r>
              <a:rPr lang="it-IT" dirty="0"/>
              <a:t>Con dataset molto grandi i tempi di attesa possono essere molto lunghi</a:t>
            </a:r>
          </a:p>
          <a:p>
            <a:endParaRPr lang="it-IT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EE1402B4-AF6F-F046-A486-6C7D7EEC3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Ollama</a:t>
            </a:r>
            <a:r>
              <a:rPr lang="it-IT" dirty="0"/>
              <a:t> &amp; performance </a:t>
            </a:r>
          </a:p>
        </p:txBody>
      </p:sp>
    </p:spTree>
    <p:extLst>
      <p:ext uri="{BB962C8B-B14F-4D97-AF65-F5344CB8AC3E}">
        <p14:creationId xmlns:p14="http://schemas.microsoft.com/office/powerpoint/2010/main" val="1155614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9E802-DEE3-5CCB-453E-1CE2BA909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66D2476A-8267-2A94-6AEF-ADAAC4438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50210" cy="4351338"/>
          </a:xfrm>
        </p:spPr>
        <p:txBody>
          <a:bodyPr/>
          <a:lstStyle/>
          <a:p>
            <a:r>
              <a:rPr lang="it-IT" dirty="0"/>
              <a:t>Soluzione: bilanciare le chiamate di generazione degli </a:t>
            </a:r>
            <a:r>
              <a:rPr lang="it-IT" dirty="0" err="1"/>
              <a:t>embedding</a:t>
            </a:r>
            <a:r>
              <a:rPr lang="it-IT" dirty="0"/>
              <a:t> utilizzando istanze multiple di </a:t>
            </a:r>
            <a:r>
              <a:rPr lang="it-IT" dirty="0" err="1"/>
              <a:t>Ollama</a:t>
            </a:r>
            <a:r>
              <a:rPr lang="it-IT" dirty="0"/>
              <a:t> bilanciate ad esempio da </a:t>
            </a:r>
            <a:r>
              <a:rPr lang="it-IT" dirty="0" err="1"/>
              <a:t>Nginx</a:t>
            </a:r>
            <a:r>
              <a:rPr lang="it-IT" dirty="0"/>
              <a:t>.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CAE0F8E0-524C-5650-EDA7-255AEF10A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Ollama</a:t>
            </a:r>
            <a:r>
              <a:rPr lang="it-IT" dirty="0"/>
              <a:t> &amp; performance </a:t>
            </a:r>
          </a:p>
        </p:txBody>
      </p:sp>
      <p:pic>
        <p:nvPicPr>
          <p:cNvPr id="4" name="Immagine 3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A2E04C07-CF4B-8175-6F9F-98E16412ED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227" y="1721224"/>
            <a:ext cx="858982" cy="858982"/>
          </a:xfrm>
          <a:prstGeom prst="rect">
            <a:avLst/>
          </a:prstGeom>
        </p:spPr>
      </p:pic>
      <p:pic>
        <p:nvPicPr>
          <p:cNvPr id="5" name="Immagine 4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1EAED997-B897-5D1E-002D-8ED9C7467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891" y="1721224"/>
            <a:ext cx="858982" cy="858982"/>
          </a:xfrm>
          <a:prstGeom prst="rect">
            <a:avLst/>
          </a:prstGeom>
        </p:spPr>
      </p:pic>
      <p:pic>
        <p:nvPicPr>
          <p:cNvPr id="6" name="Immagine 5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E7B7FACC-1335-A14C-E620-9078467FD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4555" y="1721224"/>
            <a:ext cx="858982" cy="85898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661E80F-5B59-42A0-39F0-4CA6AE744F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8910" y="4976736"/>
            <a:ext cx="1440616" cy="1440616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938D4D75-E8B6-5924-2BA1-D8501E43D5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2124" y="3313599"/>
            <a:ext cx="1038514" cy="1122718"/>
          </a:xfrm>
          <a:prstGeom prst="rect">
            <a:avLst/>
          </a:prstGeom>
        </p:spPr>
      </p:pic>
      <p:sp>
        <p:nvSpPr>
          <p:cNvPr id="9" name="Freccia su 8">
            <a:extLst>
              <a:ext uri="{FF2B5EF4-FFF2-40B4-BE49-F238E27FC236}">
                <a16:creationId xmlns:a16="http://schemas.microsoft.com/office/drawing/2014/main" id="{E75C9730-8FE2-794C-E16C-14971C14BA62}"/>
              </a:ext>
            </a:extLst>
          </p:cNvPr>
          <p:cNvSpPr/>
          <p:nvPr/>
        </p:nvSpPr>
        <p:spPr>
          <a:xfrm>
            <a:off x="8518941" y="4480168"/>
            <a:ext cx="280555" cy="690607"/>
          </a:xfrm>
          <a:prstGeom prst="up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Freccia su 9">
            <a:extLst>
              <a:ext uri="{FF2B5EF4-FFF2-40B4-BE49-F238E27FC236}">
                <a16:creationId xmlns:a16="http://schemas.microsoft.com/office/drawing/2014/main" id="{B97F5250-C3AE-8941-80D0-4C8580A462E7}"/>
              </a:ext>
            </a:extLst>
          </p:cNvPr>
          <p:cNvSpPr/>
          <p:nvPr/>
        </p:nvSpPr>
        <p:spPr>
          <a:xfrm>
            <a:off x="8491104" y="2580206"/>
            <a:ext cx="280555" cy="689542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Freccia su 10">
            <a:extLst>
              <a:ext uri="{FF2B5EF4-FFF2-40B4-BE49-F238E27FC236}">
                <a16:creationId xmlns:a16="http://schemas.microsoft.com/office/drawing/2014/main" id="{F94E6470-0610-7FB0-A3DC-3CF215CA3E18}"/>
              </a:ext>
            </a:extLst>
          </p:cNvPr>
          <p:cNvSpPr/>
          <p:nvPr/>
        </p:nvSpPr>
        <p:spPr>
          <a:xfrm>
            <a:off x="9713768" y="2580206"/>
            <a:ext cx="280555" cy="581891"/>
          </a:xfrm>
          <a:prstGeom prst="up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Freccia su 11">
            <a:extLst>
              <a:ext uri="{FF2B5EF4-FFF2-40B4-BE49-F238E27FC236}">
                <a16:creationId xmlns:a16="http://schemas.microsoft.com/office/drawing/2014/main" id="{0DDCA7DD-66CB-BD20-B83C-0EA44A2FF6CB}"/>
              </a:ext>
            </a:extLst>
          </p:cNvPr>
          <p:cNvSpPr/>
          <p:nvPr/>
        </p:nvSpPr>
        <p:spPr>
          <a:xfrm>
            <a:off x="7268440" y="2580205"/>
            <a:ext cx="280555" cy="581891"/>
          </a:xfrm>
          <a:prstGeom prst="up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6C7638C2-0AED-CD4B-D170-77BBD27E1E19}"/>
              </a:ext>
            </a:extLst>
          </p:cNvPr>
          <p:cNvSpPr/>
          <p:nvPr/>
        </p:nvSpPr>
        <p:spPr>
          <a:xfrm>
            <a:off x="7356764" y="2971799"/>
            <a:ext cx="2556163" cy="1974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9003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2A076006-5EA0-F846-DAEC-277221111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798424" cy="4351338"/>
          </a:xfrm>
        </p:spPr>
        <p:txBody>
          <a:bodyPr>
            <a:normAutofit/>
          </a:bodyPr>
          <a:lstStyle/>
          <a:p>
            <a:r>
              <a:rPr lang="it-IT" dirty="0"/>
              <a:t>Come ogni software, anche </a:t>
            </a:r>
            <a:r>
              <a:rPr lang="it-IT" dirty="0" err="1"/>
              <a:t>Ollama</a:t>
            </a:r>
            <a:r>
              <a:rPr lang="it-IT" dirty="0"/>
              <a:t> può avere bug e falle di sicurezza:</a:t>
            </a:r>
          </a:p>
          <a:p>
            <a:pPr lvl="1"/>
            <a:r>
              <a:rPr lang="it-IT" dirty="0"/>
              <a:t>File Disclosure </a:t>
            </a:r>
            <a:r>
              <a:rPr lang="it-IT" dirty="0" err="1"/>
              <a:t>Vulnerabilities</a:t>
            </a:r>
            <a:r>
              <a:rPr lang="it-IT" dirty="0"/>
              <a:t> (CVE-2024-39722, CVE-2024-39719)</a:t>
            </a:r>
          </a:p>
          <a:p>
            <a:pPr lvl="1"/>
            <a:r>
              <a:rPr lang="it-IT" dirty="0"/>
              <a:t>Vulnerabilità dei modelli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990712AB-9145-8098-AA19-1E5A53D8C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Sicurezza</a:t>
            </a:r>
          </a:p>
        </p:txBody>
      </p:sp>
      <p:sp>
        <p:nvSpPr>
          <p:cNvPr id="4" name="Segnaposto contenuto 1">
            <a:extLst>
              <a:ext uri="{FF2B5EF4-FFF2-40B4-BE49-F238E27FC236}">
                <a16:creationId xmlns:a16="http://schemas.microsoft.com/office/drawing/2014/main" id="{CBE8BFE1-D040-CF37-5C37-3046C393A409}"/>
              </a:ext>
            </a:extLst>
          </p:cNvPr>
          <p:cNvSpPr txBox="1">
            <a:spLocks/>
          </p:cNvSpPr>
          <p:nvPr/>
        </p:nvSpPr>
        <p:spPr>
          <a:xfrm>
            <a:off x="2012577" y="3591065"/>
            <a:ext cx="9798424" cy="2419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Dare priorità nel disegnare l’architettura alla sicurezza:</a:t>
            </a:r>
          </a:p>
          <a:p>
            <a:pPr lvl="1"/>
            <a:r>
              <a:rPr lang="it-IT" dirty="0"/>
              <a:t>Principio di esposizione minima</a:t>
            </a:r>
          </a:p>
          <a:p>
            <a:pPr lvl="1"/>
            <a:r>
              <a:rPr lang="it-IT" dirty="0"/>
              <a:t>Verifica della disponibilità ed analisi degli aggiornamenti</a:t>
            </a:r>
          </a:p>
          <a:p>
            <a:pPr lvl="1"/>
            <a:r>
              <a:rPr lang="it-IT" dirty="0"/>
              <a:t>Accesso multilivello: combinare firewall, restrizione degli indirizzi IP e segmentazione di rete per minimizzare la possibilità di accesso non desiderato </a:t>
            </a:r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174474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F9F1F-FDE3-7505-FF7A-D151E4583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CD703D3D-4878-4C8C-15DD-560E0800A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it-IT" b="1" dirty="0"/>
              <a:t>Demo</a:t>
            </a:r>
            <a:br>
              <a:rPr lang="it-IT" b="1" dirty="0"/>
            </a:br>
            <a:r>
              <a:rPr lang="it-IT" sz="2800" b="1" dirty="0"/>
              <a:t>tempo permettendo…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2325762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886326-785D-82F5-CC51-68E93E625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1" name="Straight Arrow Connector 1060">
            <a:extLst>
              <a:ext uri="{FF2B5EF4-FFF2-40B4-BE49-F238E27FC236}">
                <a16:creationId xmlns:a16="http://schemas.microsoft.com/office/drawing/2014/main" id="{9ECE5757-06B5-9D2D-CE08-8AD7D1934D21}"/>
              </a:ext>
            </a:extLst>
          </p:cNvPr>
          <p:cNvCxnSpPr>
            <a:cxnSpLocks/>
          </p:cNvCxnSpPr>
          <p:nvPr/>
        </p:nvCxnSpPr>
        <p:spPr>
          <a:xfrm flipV="1">
            <a:off x="7936151" y="2022953"/>
            <a:ext cx="0" cy="2518688"/>
          </a:xfrm>
          <a:prstGeom prst="straightConnector1">
            <a:avLst/>
          </a:prstGeom>
          <a:ln w="19050" cap="rnd">
            <a:solidFill>
              <a:schemeClr val="accent2">
                <a:lumMod val="40000"/>
                <a:lumOff val="60000"/>
              </a:schemeClr>
            </a:solidFill>
            <a:headEnd type="none" w="lg" len="med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890C9B0-2F2C-40D3-A7D0-E648A858C27E}"/>
              </a:ext>
            </a:extLst>
          </p:cNvPr>
          <p:cNvSpPr/>
          <p:nvPr/>
        </p:nvSpPr>
        <p:spPr bwMode="auto">
          <a:xfrm flipV="1">
            <a:off x="584200" y="908917"/>
            <a:ext cx="11025188" cy="1072283"/>
          </a:xfrm>
          <a:prstGeom prst="roundRect">
            <a:avLst/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  <a:ln w="19050">
            <a:noFill/>
          </a:ln>
        </p:spPr>
        <p:txBody>
          <a:bodyPr wrap="square" lIns="0" tIns="0" rIns="0" bIns="45720" rtlCol="0" anchor="ctr" anchorCtr="0">
            <a:noAutofit/>
          </a:bodyPr>
          <a:lstStyle/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1100" b="1" i="0" u="none" strike="noStrike" kern="1200" cap="none" spc="0" normalizeH="0" baseline="0" noProof="0">
              <a:ln w="3175">
                <a:noFill/>
              </a:ln>
              <a:gradFill>
                <a:gsLst>
                  <a:gs pos="9174">
                    <a:srgbClr val="000000"/>
                  </a:gs>
                  <a:gs pos="42000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Segoe UI" pitchFamily="34" charset="0"/>
            </a:endParaRPr>
          </a:p>
        </p:txBody>
      </p:sp>
      <p:sp>
        <p:nvSpPr>
          <p:cNvPr id="1045" name="Rectangle: Rounded Corners 41">
            <a:extLst>
              <a:ext uri="{FF2B5EF4-FFF2-40B4-BE49-F238E27FC236}">
                <a16:creationId xmlns:a16="http://schemas.microsoft.com/office/drawing/2014/main" id="{01545DA9-52F9-BB44-34A0-20D97B947D77}"/>
              </a:ext>
            </a:extLst>
          </p:cNvPr>
          <p:cNvSpPr/>
          <p:nvPr/>
        </p:nvSpPr>
        <p:spPr bwMode="auto">
          <a:xfrm rot="5400000" flipV="1">
            <a:off x="466928" y="1018163"/>
            <a:ext cx="1070044" cy="849549"/>
          </a:xfrm>
          <a:prstGeom prst="round2SameRect">
            <a:avLst>
              <a:gd name="adj1" fmla="val 21906"/>
              <a:gd name="adj2" fmla="val 0"/>
            </a:avLst>
          </a:prstGeom>
          <a:gradFill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EFCCE2E-9B96-4EE6-A0E7-58ACB4AD0B1A}"/>
              </a:ext>
            </a:extLst>
          </p:cNvPr>
          <p:cNvSpPr/>
          <p:nvPr/>
        </p:nvSpPr>
        <p:spPr bwMode="auto">
          <a:xfrm flipV="1">
            <a:off x="4470400" y="5524724"/>
            <a:ext cx="2867313" cy="951595"/>
          </a:xfrm>
          <a:prstGeom prst="roundRect">
            <a:avLst/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1100" b="1" i="0" u="none" strike="noStrike" kern="1200" cap="none" spc="0" normalizeH="0" baseline="0" noProof="0">
              <a:ln w="3175">
                <a:noFill/>
              </a:ln>
              <a:gradFill>
                <a:gsLst>
                  <a:gs pos="9174">
                    <a:srgbClr val="000000"/>
                  </a:gs>
                  <a:gs pos="42000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Segoe UI" pitchFamily="34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7BF9365-88C8-C06B-87BF-90D028D35EE7}"/>
              </a:ext>
            </a:extLst>
          </p:cNvPr>
          <p:cNvSpPr/>
          <p:nvPr/>
        </p:nvSpPr>
        <p:spPr bwMode="auto">
          <a:xfrm>
            <a:off x="584200" y="2840229"/>
            <a:ext cx="1640834" cy="3865371"/>
          </a:xfrm>
          <a:prstGeom prst="roundRect">
            <a:avLst>
              <a:gd name="adj" fmla="val 11558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</p:spPr>
        <p:txBody>
          <a:bodyPr wrap="square" lIns="0" tIns="0" rIns="0" bIns="45720" rtlCol="0" anchor="ctr" anchorCtr="0">
            <a:noAutofit/>
          </a:bodyPr>
          <a:lstStyle/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1100" b="1" i="0" u="none" strike="noStrike" kern="1200" cap="none" spc="0" normalizeH="0" baseline="0" noProof="0">
              <a:ln w="3175">
                <a:noFill/>
              </a:ln>
              <a:gradFill>
                <a:gsLst>
                  <a:gs pos="9174">
                    <a:srgbClr val="000000"/>
                  </a:gs>
                  <a:gs pos="42000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Segoe UI" pitchFamily="34" charset="0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4CDEFD4-D7F0-262A-2523-AD12102F6768}"/>
              </a:ext>
            </a:extLst>
          </p:cNvPr>
          <p:cNvSpPr/>
          <p:nvPr/>
        </p:nvSpPr>
        <p:spPr bwMode="auto">
          <a:xfrm>
            <a:off x="4601020" y="3523026"/>
            <a:ext cx="2985136" cy="1340046"/>
          </a:xfrm>
          <a:prstGeom prst="roundRect">
            <a:avLst>
              <a:gd name="adj" fmla="val 13796"/>
            </a:avLst>
          </a:prstGeom>
          <a:gradFill>
            <a:gsLst>
              <a:gs pos="80000">
                <a:srgbClr val="A9D5ED"/>
              </a:gs>
              <a:gs pos="0">
                <a:srgbClr val="FFC6CC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5B5688-711B-8064-5FEE-C8AEC879F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48744"/>
            <a:ext cx="11018520" cy="553998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The SQL Server 2025 Platform Architecture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2A65147-3B9E-571C-5D9D-ABDAD1ED6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3660" y="3301712"/>
            <a:ext cx="1440616" cy="1440616"/>
          </a:xfrm>
          <a:prstGeom prst="rect">
            <a:avLst/>
          </a:prstGeom>
        </p:spPr>
      </p:pic>
      <p:pic>
        <p:nvPicPr>
          <p:cNvPr id="4" name="Picture 12" descr="OpenAI begins publicly tracking AI model efficiency | VentureBeat">
            <a:extLst>
              <a:ext uri="{FF2B5EF4-FFF2-40B4-BE49-F238E27FC236}">
                <a16:creationId xmlns:a16="http://schemas.microsoft.com/office/drawing/2014/main" id="{C8338DD3-FF28-1A2A-721B-4B5EBA7632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35" r="34335" b="40681"/>
          <a:stretch/>
        </p:blipFill>
        <p:spPr bwMode="auto">
          <a:xfrm>
            <a:off x="5534038" y="5638362"/>
            <a:ext cx="453101" cy="428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lama icon">
            <a:extLst>
              <a:ext uri="{FF2B5EF4-FFF2-40B4-BE49-F238E27FC236}">
                <a16:creationId xmlns:a16="http://schemas.microsoft.com/office/drawing/2014/main" id="{18ADE1B5-336A-DA5C-520D-5965A130AC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6910" y="5582580"/>
            <a:ext cx="893829" cy="46926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DC72974-F7D6-FD52-99CA-11FA2DBA2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98615" y="2977097"/>
            <a:ext cx="1440616" cy="14406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D976F1-E3E9-CAF1-C23D-661F5F016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564" y="1125191"/>
            <a:ext cx="445198" cy="445196"/>
          </a:xfrm>
          <a:prstGeom prst="rect">
            <a:avLst/>
          </a:prstGeom>
          <a:effectLst/>
        </p:spPr>
      </p:pic>
      <p:pic>
        <p:nvPicPr>
          <p:cNvPr id="9" name="Picture 8" descr="A blue and white logo&#10;&#10;Description automatically generated">
            <a:extLst>
              <a:ext uri="{FF2B5EF4-FFF2-40B4-BE49-F238E27FC236}">
                <a16:creationId xmlns:a16="http://schemas.microsoft.com/office/drawing/2014/main" id="{EE553154-AEF1-45B6-B5E1-D206263F5F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3954" y="4499085"/>
            <a:ext cx="834448" cy="834448"/>
          </a:xfrm>
          <a:prstGeom prst="rect">
            <a:avLst/>
          </a:prstGeom>
        </p:spPr>
      </p:pic>
      <p:pic>
        <p:nvPicPr>
          <p:cNvPr id="11" name="Picture 10" descr="Streaming icon">
            <a:extLst>
              <a:ext uri="{FF2B5EF4-FFF2-40B4-BE49-F238E27FC236}">
                <a16:creationId xmlns:a16="http://schemas.microsoft.com/office/drawing/2014/main" id="{02A1F956-4EC2-5697-CF9B-6956F93969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6995" y="1163741"/>
            <a:ext cx="359116" cy="368094"/>
          </a:xfrm>
          <a:prstGeom prst="rect">
            <a:avLst/>
          </a:prstGeom>
        </p:spPr>
      </p:pic>
      <p:pic>
        <p:nvPicPr>
          <p:cNvPr id="1026" name="Picture 2" descr="Azure Functions—Develop Faster With Serverless Compute | Microsoft Azure">
            <a:extLst>
              <a:ext uri="{FF2B5EF4-FFF2-40B4-BE49-F238E27FC236}">
                <a16:creationId xmlns:a16="http://schemas.microsoft.com/office/drawing/2014/main" id="{1273203E-C1D6-3AFA-FC94-69ABAB0D3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7170" y="1115857"/>
            <a:ext cx="957192" cy="502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Islands Rest Logo - IMAGESEE">
            <a:extLst>
              <a:ext uri="{FF2B5EF4-FFF2-40B4-BE49-F238E27FC236}">
                <a16:creationId xmlns:a16="http://schemas.microsoft.com/office/drawing/2014/main" id="{8B36462E-1340-294D-5DE4-025A061F1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279" y="4928481"/>
            <a:ext cx="951942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Graphic 13" descr="Azure Arc icon">
            <a:extLst>
              <a:ext uri="{FF2B5EF4-FFF2-40B4-BE49-F238E27FC236}">
                <a16:creationId xmlns:a16="http://schemas.microsoft.com/office/drawing/2014/main" id="{DD593121-F682-2668-3D17-541A10B281D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15247" y="2227226"/>
            <a:ext cx="640105" cy="613003"/>
          </a:xfrm>
          <a:prstGeom prst="rect">
            <a:avLst/>
          </a:prstGeom>
        </p:spPr>
      </p:pic>
      <p:pic>
        <p:nvPicPr>
          <p:cNvPr id="15" name="Graphic 14" descr="Microsoft application logo">
            <a:extLst>
              <a:ext uri="{FF2B5EF4-FFF2-40B4-BE49-F238E27FC236}">
                <a16:creationId xmlns:a16="http://schemas.microsoft.com/office/drawing/2014/main" id="{1AA4C495-9DEC-DE1F-BA1E-01060148BD0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50664" y="1102471"/>
            <a:ext cx="490634" cy="49063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3DC090E-1402-F53D-8129-39C7792E994A}"/>
              </a:ext>
            </a:extLst>
          </p:cNvPr>
          <p:cNvSpPr txBox="1"/>
          <p:nvPr/>
        </p:nvSpPr>
        <p:spPr>
          <a:xfrm>
            <a:off x="3523922" y="1649615"/>
            <a:ext cx="112056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 Entra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1C6AF9-39A5-50B8-692F-DB91B91C3CA6}"/>
              </a:ext>
            </a:extLst>
          </p:cNvPr>
          <p:cNvSpPr txBox="1"/>
          <p:nvPr/>
        </p:nvSpPr>
        <p:spPr>
          <a:xfrm>
            <a:off x="1687214" y="1649615"/>
            <a:ext cx="117589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 Fabric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F89926-7364-6E55-AE95-0F497760FE9E}"/>
              </a:ext>
            </a:extLst>
          </p:cNvPr>
          <p:cNvSpPr txBox="1"/>
          <p:nvPr/>
        </p:nvSpPr>
        <p:spPr>
          <a:xfrm>
            <a:off x="4522639" y="2796403"/>
            <a:ext cx="70416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Azure Arc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313E49-F9F6-1A47-CF6B-0F4B493F35EB}"/>
              </a:ext>
            </a:extLst>
          </p:cNvPr>
          <p:cNvSpPr txBox="1"/>
          <p:nvPr/>
        </p:nvSpPr>
        <p:spPr>
          <a:xfrm>
            <a:off x="5225408" y="4442013"/>
            <a:ext cx="118128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SQL Server 2025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4BE967-557C-DDB0-85E6-EA12C4937F55}"/>
              </a:ext>
            </a:extLst>
          </p:cNvPr>
          <p:cNvSpPr txBox="1"/>
          <p:nvPr/>
        </p:nvSpPr>
        <p:spPr>
          <a:xfrm>
            <a:off x="9658133" y="4175993"/>
            <a:ext cx="132158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Secondary Replica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FAFD72-FE13-3A87-E6BA-6F07B28210F2}"/>
              </a:ext>
            </a:extLst>
          </p:cNvPr>
          <p:cNvSpPr txBox="1"/>
          <p:nvPr/>
        </p:nvSpPr>
        <p:spPr>
          <a:xfrm>
            <a:off x="5331783" y="6171746"/>
            <a:ext cx="11445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Local AI Models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FC9729-C98A-7C2E-09B3-E271ED78F9AE}"/>
              </a:ext>
            </a:extLst>
          </p:cNvPr>
          <p:cNvSpPr txBox="1"/>
          <p:nvPr/>
        </p:nvSpPr>
        <p:spPr>
          <a:xfrm>
            <a:off x="5317113" y="1603449"/>
            <a:ext cx="15577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Foundry Models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9055C9-D1C3-D3E9-D866-794A487DB283}"/>
              </a:ext>
            </a:extLst>
          </p:cNvPr>
          <p:cNvSpPr txBox="1"/>
          <p:nvPr/>
        </p:nvSpPr>
        <p:spPr>
          <a:xfrm>
            <a:off x="8140416" y="1622781"/>
            <a:ext cx="15577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Azure Functions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DD1EDD-98A7-5C26-D22B-912056923538}"/>
              </a:ext>
            </a:extLst>
          </p:cNvPr>
          <p:cNvSpPr txBox="1"/>
          <p:nvPr/>
        </p:nvSpPr>
        <p:spPr>
          <a:xfrm>
            <a:off x="9977666" y="1603449"/>
            <a:ext cx="15577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Azure EventHub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E05A52-8F43-3B54-C2B7-C80F351613F8}"/>
              </a:ext>
            </a:extLst>
          </p:cNvPr>
          <p:cNvSpPr txBox="1"/>
          <p:nvPr/>
        </p:nvSpPr>
        <p:spPr>
          <a:xfrm>
            <a:off x="801063" y="3496175"/>
            <a:ext cx="119263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Data API Builder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E3E73B-CD3B-1117-6450-1438D27B8F8A}"/>
              </a:ext>
            </a:extLst>
          </p:cNvPr>
          <p:cNvSpPr txBox="1"/>
          <p:nvPr/>
        </p:nvSpPr>
        <p:spPr>
          <a:xfrm>
            <a:off x="735804" y="4425809"/>
            <a:ext cx="130248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rgbClr val="000000"/>
                </a:solidFill>
                <a:latin typeface="Segoe UI"/>
              </a:rPr>
              <a:t>Agent framework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CCB9FA-500E-4918-C859-A0DFF86ED7ED}"/>
              </a:ext>
            </a:extLst>
          </p:cNvPr>
          <p:cNvSpPr txBox="1"/>
          <p:nvPr/>
        </p:nvSpPr>
        <p:spPr>
          <a:xfrm>
            <a:off x="853965" y="5289353"/>
            <a:ext cx="110126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SSMS with Copilot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D35D14-9FE5-C314-4F2E-E9D90DE94456}"/>
              </a:ext>
            </a:extLst>
          </p:cNvPr>
          <p:cNvSpPr txBox="1"/>
          <p:nvPr/>
        </p:nvSpPr>
        <p:spPr>
          <a:xfrm>
            <a:off x="9526719" y="5278585"/>
            <a:ext cx="160114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Local 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REST service endpoint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62902BA-F6F7-0C93-43E7-21C503F8FDA4}"/>
              </a:ext>
            </a:extLst>
          </p:cNvPr>
          <p:cNvCxnSpPr>
            <a:cxnSpLocks/>
          </p:cNvCxnSpPr>
          <p:nvPr/>
        </p:nvCxnSpPr>
        <p:spPr>
          <a:xfrm>
            <a:off x="7704119" y="3763347"/>
            <a:ext cx="2089238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lg" len="sm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7D48019-EB74-E7FD-3CAE-4AEBB83902E5}"/>
              </a:ext>
            </a:extLst>
          </p:cNvPr>
          <p:cNvSpPr txBox="1"/>
          <p:nvPr/>
        </p:nvSpPr>
        <p:spPr>
          <a:xfrm>
            <a:off x="8166796" y="3801341"/>
            <a:ext cx="118942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Availability Group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5BF800-1CE3-D620-531B-EFEBA8B229E2}"/>
              </a:ext>
            </a:extLst>
          </p:cNvPr>
          <p:cNvSpPr txBox="1"/>
          <p:nvPr/>
        </p:nvSpPr>
        <p:spPr>
          <a:xfrm>
            <a:off x="10800921" y="3209349"/>
            <a:ext cx="1085554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Reliable Failover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Query Store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Tuning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Diagnostics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Backups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26D791-CAB4-028E-0E37-2ED47F001AD6}"/>
              </a:ext>
            </a:extLst>
          </p:cNvPr>
          <p:cNvSpPr txBox="1"/>
          <p:nvPr/>
        </p:nvSpPr>
        <p:spPr>
          <a:xfrm>
            <a:off x="6659134" y="3733120"/>
            <a:ext cx="771045" cy="92333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Vectors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JSON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RegEx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Concurrency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Performance</a:t>
            </a:r>
          </a:p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Security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6E06BA-DF86-573C-520F-8FC72EEA25B0}"/>
              </a:ext>
            </a:extLst>
          </p:cNvPr>
          <p:cNvSpPr txBox="1"/>
          <p:nvPr/>
        </p:nvSpPr>
        <p:spPr>
          <a:xfrm>
            <a:off x="8738230" y="2393746"/>
            <a:ext cx="165923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Change Event Streaming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0FD5D1-CD12-CDDC-D770-58D70C8510CD}"/>
              </a:ext>
            </a:extLst>
          </p:cNvPr>
          <p:cNvSpPr txBox="1"/>
          <p:nvPr/>
        </p:nvSpPr>
        <p:spPr>
          <a:xfrm>
            <a:off x="6842478" y="1070789"/>
            <a:ext cx="11048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Azure AI Agent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60956FF-5FA1-5464-BCD7-B48B8B71024A}"/>
              </a:ext>
            </a:extLst>
          </p:cNvPr>
          <p:cNvCxnSpPr>
            <a:cxnSpLocks/>
          </p:cNvCxnSpPr>
          <p:nvPr/>
        </p:nvCxnSpPr>
        <p:spPr>
          <a:xfrm flipV="1">
            <a:off x="4831054" y="3106585"/>
            <a:ext cx="0" cy="333909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0FA829E-57DE-1529-3D3C-CEBADA5B103C}"/>
              </a:ext>
            </a:extLst>
          </p:cNvPr>
          <p:cNvSpPr txBox="1"/>
          <p:nvPr/>
        </p:nvSpPr>
        <p:spPr>
          <a:xfrm>
            <a:off x="6137915" y="2048046"/>
            <a:ext cx="15577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Embeddings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D658598-2DFD-6D4A-EA0A-0FFE83D0B288}"/>
              </a:ext>
            </a:extLst>
          </p:cNvPr>
          <p:cNvCxnSpPr>
            <a:cxnSpLocks/>
          </p:cNvCxnSpPr>
          <p:nvPr/>
        </p:nvCxnSpPr>
        <p:spPr>
          <a:xfrm>
            <a:off x="6116436" y="4953965"/>
            <a:ext cx="0" cy="509286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11F6D73B-377A-A121-59E9-BE80758C29E9}"/>
              </a:ext>
            </a:extLst>
          </p:cNvPr>
          <p:cNvSpPr txBox="1"/>
          <p:nvPr/>
        </p:nvSpPr>
        <p:spPr>
          <a:xfrm>
            <a:off x="2575038" y="4493310"/>
            <a:ext cx="155400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Managing the Server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FA0A151C-B464-EBFE-F73F-883DCE04D45B}"/>
              </a:ext>
            </a:extLst>
          </p:cNvPr>
          <p:cNvSpPr txBox="1"/>
          <p:nvPr/>
        </p:nvSpPr>
        <p:spPr>
          <a:xfrm>
            <a:off x="2422086" y="2465241"/>
            <a:ext cx="63594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Mirroring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2D0AA63C-DD8B-F3EE-5FBA-97788A6F6BF5}"/>
              </a:ext>
            </a:extLst>
          </p:cNvPr>
          <p:cNvSpPr txBox="1"/>
          <p:nvPr/>
        </p:nvSpPr>
        <p:spPr>
          <a:xfrm>
            <a:off x="8002720" y="4644407"/>
            <a:ext cx="225266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sp_invoke_external_rest_endpoint</a:t>
            </a: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5C1C84DB-235E-DA33-BD9D-05ADC7D6DFA1}"/>
              </a:ext>
            </a:extLst>
          </p:cNvPr>
          <p:cNvSpPr txBox="1"/>
          <p:nvPr/>
        </p:nvSpPr>
        <p:spPr>
          <a:xfrm>
            <a:off x="2801408" y="3451283"/>
            <a:ext cx="110126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en-US" sz="1200">
                <a:solidFill>
                  <a:srgbClr val="000000"/>
                </a:solidFill>
                <a:latin typeface="Segoe UI"/>
              </a:rPr>
              <a:t>GraphQL</a:t>
            </a:r>
            <a:endParaRPr lang="en-US" sz="1200"/>
          </a:p>
        </p:txBody>
      </p:sp>
      <p:cxnSp>
        <p:nvCxnSpPr>
          <p:cNvPr id="1034" name="Straight Arrow Connector 1033">
            <a:extLst>
              <a:ext uri="{FF2B5EF4-FFF2-40B4-BE49-F238E27FC236}">
                <a16:creationId xmlns:a16="http://schemas.microsoft.com/office/drawing/2014/main" id="{1B9C0922-23EE-0033-72E3-0652E6473E89}"/>
              </a:ext>
            </a:extLst>
          </p:cNvPr>
          <p:cNvCxnSpPr>
            <a:cxnSpLocks/>
          </p:cNvCxnSpPr>
          <p:nvPr/>
        </p:nvCxnSpPr>
        <p:spPr>
          <a:xfrm>
            <a:off x="1934824" y="4110615"/>
            <a:ext cx="2562073" cy="0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035">
            <a:extLst>
              <a:ext uri="{FF2B5EF4-FFF2-40B4-BE49-F238E27FC236}">
                <a16:creationId xmlns:a16="http://schemas.microsoft.com/office/drawing/2014/main" id="{B615C914-EF59-7BE0-0047-E9ECD31D949A}"/>
              </a:ext>
            </a:extLst>
          </p:cNvPr>
          <p:cNvSpPr txBox="1"/>
          <p:nvPr/>
        </p:nvSpPr>
        <p:spPr>
          <a:xfrm>
            <a:off x="9598615" y="5823240"/>
            <a:ext cx="149340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chemeClr val="accent2"/>
                </a:solidFill>
                <a:latin typeface="Segoe UI"/>
              </a:rPr>
              <a:t>Agentic RAG</a:t>
            </a:r>
            <a:endParaRPr lang="en-US" sz="1600" b="1" noProof="0">
              <a:solidFill>
                <a:schemeClr val="accent2"/>
              </a:solidFill>
              <a:latin typeface="Segoe UI"/>
            </a:endParaRP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noProof="0">
                <a:solidFill>
                  <a:schemeClr val="accent2"/>
                </a:solidFill>
                <a:latin typeface="Segoe UI"/>
              </a:rPr>
              <a:t>AI Agents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egoe UI"/>
            </a:endParaRP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0BC40BC6-8CEA-E510-476E-599C55EDCEEA}"/>
              </a:ext>
            </a:extLst>
          </p:cNvPr>
          <p:cNvSpPr txBox="1"/>
          <p:nvPr/>
        </p:nvSpPr>
        <p:spPr>
          <a:xfrm>
            <a:off x="5101359" y="4987346"/>
            <a:ext cx="1033223" cy="279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Embeddings</a:t>
            </a:r>
          </a:p>
        </p:txBody>
      </p:sp>
      <p:pic>
        <p:nvPicPr>
          <p:cNvPr id="2050" name="Picture 2" descr="Nvidia PNG Images Transparent Free Download | PNGMart.com">
            <a:extLst>
              <a:ext uri="{FF2B5EF4-FFF2-40B4-BE49-F238E27FC236}">
                <a16:creationId xmlns:a16="http://schemas.microsoft.com/office/drawing/2014/main" id="{F9FB1AD5-B6DC-9E69-05E7-576117592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387" y="5662613"/>
            <a:ext cx="493999" cy="384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E047BF3-D3AF-A9F6-396D-CD85DE911264}"/>
              </a:ext>
            </a:extLst>
          </p:cNvPr>
          <p:cNvCxnSpPr>
            <a:cxnSpLocks/>
          </p:cNvCxnSpPr>
          <p:nvPr/>
        </p:nvCxnSpPr>
        <p:spPr>
          <a:xfrm flipH="1">
            <a:off x="9515718" y="1352880"/>
            <a:ext cx="804370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lg" len="med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262E3CE6-2F28-A5EA-5EF9-66AB5A4170E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885050" y="2031287"/>
            <a:ext cx="668334" cy="274320"/>
          </a:xfrm>
          <a:prstGeom prst="bentConnector2">
            <a:avLst/>
          </a:prstGeom>
          <a:ln w="19050" cap="rnd">
            <a:solidFill>
              <a:schemeClr val="tx1"/>
            </a:solidFill>
            <a:headEnd type="arrow" w="lg" len="sm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42680920-05B5-8CD4-EAEB-583BD2FF7E73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64388" y="1223410"/>
            <a:ext cx="886968" cy="2103120"/>
          </a:xfrm>
          <a:prstGeom prst="bentConnector2">
            <a:avLst/>
          </a:prstGeom>
          <a:ln w="19050" cap="rnd">
            <a:solidFill>
              <a:schemeClr val="tx1"/>
            </a:solidFill>
            <a:headEnd type="arrow" w="lg" len="sm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Elbow Connector 1038">
            <a:extLst>
              <a:ext uri="{FF2B5EF4-FFF2-40B4-BE49-F238E27FC236}">
                <a16:creationId xmlns:a16="http://schemas.microsoft.com/office/drawing/2014/main" id="{5C49E15B-4751-34DF-7001-E7825F580368}"/>
              </a:ext>
            </a:extLst>
          </p:cNvPr>
          <p:cNvCxnSpPr>
            <a:cxnSpLocks/>
          </p:cNvCxnSpPr>
          <p:nvPr/>
        </p:nvCxnSpPr>
        <p:spPr>
          <a:xfrm rot="5400000">
            <a:off x="8145321" y="828954"/>
            <a:ext cx="1600200" cy="3657600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tx1"/>
            </a:solidFill>
            <a:headEnd type="arrow" w="lg" len="sm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Straight Arrow Connector 1039">
            <a:extLst>
              <a:ext uri="{FF2B5EF4-FFF2-40B4-BE49-F238E27FC236}">
                <a16:creationId xmlns:a16="http://schemas.microsoft.com/office/drawing/2014/main" id="{C12AC1A7-FA98-DFC8-D2A5-2CC8F1635C0D}"/>
              </a:ext>
            </a:extLst>
          </p:cNvPr>
          <p:cNvCxnSpPr>
            <a:cxnSpLocks/>
          </p:cNvCxnSpPr>
          <p:nvPr/>
        </p:nvCxnSpPr>
        <p:spPr>
          <a:xfrm flipH="1">
            <a:off x="6629400" y="1352880"/>
            <a:ext cx="1630680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Elbow Connector 1040">
            <a:extLst>
              <a:ext uri="{FF2B5EF4-FFF2-40B4-BE49-F238E27FC236}">
                <a16:creationId xmlns:a16="http://schemas.microsoft.com/office/drawing/2014/main" id="{22715EF0-269A-83A1-87AE-31AE04247B7E}"/>
              </a:ext>
            </a:extLst>
          </p:cNvPr>
          <p:cNvCxnSpPr>
            <a:cxnSpLocks/>
          </p:cNvCxnSpPr>
          <p:nvPr/>
        </p:nvCxnSpPr>
        <p:spPr>
          <a:xfrm>
            <a:off x="7740384" y="4499085"/>
            <a:ext cx="1876407" cy="581152"/>
          </a:xfrm>
          <a:prstGeom prst="bentConnector3">
            <a:avLst>
              <a:gd name="adj1" fmla="val 10551"/>
            </a:avLst>
          </a:prstGeom>
          <a:ln w="19050" cap="rnd">
            <a:solidFill>
              <a:schemeClr val="accent2">
                <a:lumMod val="40000"/>
                <a:lumOff val="60000"/>
              </a:schemeClr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Elbow Connector 1048">
            <a:extLst>
              <a:ext uri="{FF2B5EF4-FFF2-40B4-BE49-F238E27FC236}">
                <a16:creationId xmlns:a16="http://schemas.microsoft.com/office/drawing/2014/main" id="{2C0A5317-6CA4-FB9A-62A1-2B115841DA3C}"/>
              </a:ext>
            </a:extLst>
          </p:cNvPr>
          <p:cNvCxnSpPr>
            <a:cxnSpLocks/>
          </p:cNvCxnSpPr>
          <p:nvPr/>
        </p:nvCxnSpPr>
        <p:spPr>
          <a:xfrm>
            <a:off x="1977013" y="3219126"/>
            <a:ext cx="2493387" cy="476574"/>
          </a:xfrm>
          <a:prstGeom prst="bentConnector3">
            <a:avLst>
              <a:gd name="adj1" fmla="val 28811"/>
            </a:avLst>
          </a:prstGeom>
          <a:ln w="19050" cap="rnd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Elbow Connector 1051">
            <a:extLst>
              <a:ext uri="{FF2B5EF4-FFF2-40B4-BE49-F238E27FC236}">
                <a16:creationId xmlns:a16="http://schemas.microsoft.com/office/drawing/2014/main" id="{6A4B3D70-CA7B-9C18-47A0-493E7CAAF909}"/>
              </a:ext>
            </a:extLst>
          </p:cNvPr>
          <p:cNvCxnSpPr>
            <a:cxnSpLocks/>
          </p:cNvCxnSpPr>
          <p:nvPr/>
        </p:nvCxnSpPr>
        <p:spPr>
          <a:xfrm flipV="1">
            <a:off x="1961324" y="4415151"/>
            <a:ext cx="2531165" cy="652669"/>
          </a:xfrm>
          <a:prstGeom prst="bentConnector3">
            <a:avLst>
              <a:gd name="adj1" fmla="val 21362"/>
            </a:avLst>
          </a:prstGeom>
          <a:ln w="19050" cap="rnd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93F1D70-DD70-AAC4-404B-3483BF2C5045}"/>
              </a:ext>
            </a:extLst>
          </p:cNvPr>
          <p:cNvCxnSpPr>
            <a:cxnSpLocks/>
          </p:cNvCxnSpPr>
          <p:nvPr/>
        </p:nvCxnSpPr>
        <p:spPr>
          <a:xfrm>
            <a:off x="5230906" y="2616522"/>
            <a:ext cx="839667" cy="0"/>
          </a:xfrm>
          <a:prstGeom prst="straightConnector1">
            <a:avLst/>
          </a:prstGeom>
          <a:ln w="19050" cap="rnd">
            <a:solidFill>
              <a:schemeClr val="tx1"/>
            </a:solidFill>
            <a:prstDash val="dash"/>
            <a:headEnd type="none" w="lg" len="med"/>
            <a:tailEnd type="non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550F489-E682-23F0-45BD-30813C156869}"/>
              </a:ext>
            </a:extLst>
          </p:cNvPr>
          <p:cNvSpPr txBox="1"/>
          <p:nvPr/>
        </p:nvSpPr>
        <p:spPr>
          <a:xfrm>
            <a:off x="5282973" y="2177421"/>
            <a:ext cx="70416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Managed Identity</a:t>
            </a:r>
          </a:p>
        </p:txBody>
      </p:sp>
      <p:cxnSp>
        <p:nvCxnSpPr>
          <p:cNvPr id="54" name="Elbow Connector 1040">
            <a:extLst>
              <a:ext uri="{FF2B5EF4-FFF2-40B4-BE49-F238E27FC236}">
                <a16:creationId xmlns:a16="http://schemas.microsoft.com/office/drawing/2014/main" id="{E3DF3AAB-6E69-F95E-A1C4-122E9E7AFB59}"/>
              </a:ext>
            </a:extLst>
          </p:cNvPr>
          <p:cNvCxnSpPr>
            <a:cxnSpLocks/>
            <a:endCxn id="47" idx="3"/>
          </p:cNvCxnSpPr>
          <p:nvPr/>
        </p:nvCxnSpPr>
        <p:spPr>
          <a:xfrm rot="5400000">
            <a:off x="7175790" y="5234257"/>
            <a:ext cx="928188" cy="604341"/>
          </a:xfrm>
          <a:prstGeom prst="bentConnector2">
            <a:avLst/>
          </a:prstGeom>
          <a:ln w="19050" cap="rnd">
            <a:solidFill>
              <a:schemeClr val="accent2">
                <a:lumMod val="40000"/>
                <a:lumOff val="60000"/>
              </a:schemeClr>
            </a:solidFill>
            <a:headEnd type="none" w="lg" len="sm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1B6E72BA-80D5-7228-0FA7-5551D43906D4}"/>
              </a:ext>
            </a:extLst>
          </p:cNvPr>
          <p:cNvCxnSpPr>
            <a:cxnSpLocks/>
          </p:cNvCxnSpPr>
          <p:nvPr/>
        </p:nvCxnSpPr>
        <p:spPr>
          <a:xfrm flipH="1" flipV="1">
            <a:off x="6096278" y="1852620"/>
            <a:ext cx="7512" cy="1580466"/>
          </a:xfrm>
          <a:prstGeom prst="straightConnector1">
            <a:avLst/>
          </a:prstGeom>
          <a:ln w="19050" cap="rnd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4" name="TextBox 1063">
            <a:extLst>
              <a:ext uri="{FF2B5EF4-FFF2-40B4-BE49-F238E27FC236}">
                <a16:creationId xmlns:a16="http://schemas.microsoft.com/office/drawing/2014/main" id="{AE87863F-1082-B4AE-E89B-E6E8FF6346EC}"/>
              </a:ext>
            </a:extLst>
          </p:cNvPr>
          <p:cNvSpPr txBox="1"/>
          <p:nvPr/>
        </p:nvSpPr>
        <p:spPr>
          <a:xfrm>
            <a:off x="752618" y="1620732"/>
            <a:ext cx="52000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Azure</a:t>
            </a:r>
          </a:p>
        </p:txBody>
      </p:sp>
      <p:pic>
        <p:nvPicPr>
          <p:cNvPr id="1044" name="Picture 1043">
            <a:extLst>
              <a:ext uri="{FF2B5EF4-FFF2-40B4-BE49-F238E27FC236}">
                <a16:creationId xmlns:a16="http://schemas.microsoft.com/office/drawing/2014/main" id="{25FCBAED-A184-3E23-11A0-1E8026C0149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3946" y="1124670"/>
            <a:ext cx="459033" cy="45903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4F71264-9FC7-2434-E933-22CE61BFA08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4742" y="5757569"/>
            <a:ext cx="855855" cy="50067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B314F86-0403-CCC0-0418-84AC730080F0}"/>
              </a:ext>
            </a:extLst>
          </p:cNvPr>
          <p:cNvSpPr txBox="1"/>
          <p:nvPr/>
        </p:nvSpPr>
        <p:spPr>
          <a:xfrm>
            <a:off x="766716" y="6346642"/>
            <a:ext cx="130248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VS Code mssql</a:t>
            </a:r>
          </a:p>
        </p:txBody>
      </p:sp>
      <p:pic>
        <p:nvPicPr>
          <p:cNvPr id="10" name="Picture 2" descr="Microsoft 365 Copilot Logo, symbol, meaning, history, PNG, brand">
            <a:extLst>
              <a:ext uri="{FF2B5EF4-FFF2-40B4-BE49-F238E27FC236}">
                <a16:creationId xmlns:a16="http://schemas.microsoft.com/office/drawing/2014/main" id="{40C82060-197A-0D85-9240-470F167DA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027" y="4909776"/>
            <a:ext cx="536849" cy="301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E9A814BE-7998-3937-D056-BB46F976F8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12328" y="5929132"/>
            <a:ext cx="415110" cy="415110"/>
          </a:xfrm>
          <a:prstGeom prst="rect">
            <a:avLst/>
          </a:prstGeom>
        </p:spPr>
      </p:pic>
      <p:cxnSp>
        <p:nvCxnSpPr>
          <p:cNvPr id="50" name="Elbow Connector 1051">
            <a:extLst>
              <a:ext uri="{FF2B5EF4-FFF2-40B4-BE49-F238E27FC236}">
                <a16:creationId xmlns:a16="http://schemas.microsoft.com/office/drawing/2014/main" id="{33688911-AA00-297C-52EC-606016956C94}"/>
              </a:ext>
            </a:extLst>
          </p:cNvPr>
          <p:cNvCxnSpPr>
            <a:cxnSpLocks/>
          </p:cNvCxnSpPr>
          <p:nvPr/>
        </p:nvCxnSpPr>
        <p:spPr>
          <a:xfrm flipV="1">
            <a:off x="2038289" y="4772914"/>
            <a:ext cx="2441778" cy="1404719"/>
          </a:xfrm>
          <a:prstGeom prst="bentConnector3">
            <a:avLst>
              <a:gd name="adj1" fmla="val 37933"/>
            </a:avLst>
          </a:prstGeom>
          <a:ln w="19050" cap="rnd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1985457-F460-3BFD-DFD0-E1532E9FE89E}"/>
              </a:ext>
            </a:extLst>
          </p:cNvPr>
          <p:cNvSpPr txBox="1"/>
          <p:nvPr/>
        </p:nvSpPr>
        <p:spPr>
          <a:xfrm>
            <a:off x="2938485" y="4870099"/>
            <a:ext cx="155400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GitHub Copilot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Local Dev Container</a:t>
            </a:r>
          </a:p>
        </p:txBody>
      </p:sp>
      <p:pic>
        <p:nvPicPr>
          <p:cNvPr id="30" name="Picture 2" descr="Streamlining the Machine Learning Workflow with ONNX and ONNX Runtime ...">
            <a:extLst>
              <a:ext uri="{FF2B5EF4-FFF2-40B4-BE49-F238E27FC236}">
                <a16:creationId xmlns:a16="http://schemas.microsoft.com/office/drawing/2014/main" id="{BEFF7457-66F3-E783-6EF8-1588EFA92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321" y="5690994"/>
            <a:ext cx="388457" cy="394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 descr="Smiley face icon">
            <a:extLst>
              <a:ext uri="{FF2B5EF4-FFF2-40B4-BE49-F238E27FC236}">
                <a16:creationId xmlns:a16="http://schemas.microsoft.com/office/drawing/2014/main" id="{F67E4CA4-D576-9D1C-3BD2-C95A7A63FC2C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17365" y="5671889"/>
            <a:ext cx="447633" cy="447633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92E1067A-B091-D5F6-2AF4-FAE5DB53E2A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850999" y="1085798"/>
            <a:ext cx="599206" cy="454398"/>
          </a:xfrm>
          <a:prstGeom prst="rect">
            <a:avLst/>
          </a:prstGeom>
        </p:spPr>
      </p:pic>
      <p:pic>
        <p:nvPicPr>
          <p:cNvPr id="55" name="Picture 2" descr="What is Data API builder? - Azure Databases | Microsoft Learn">
            <a:extLst>
              <a:ext uri="{FF2B5EF4-FFF2-40B4-BE49-F238E27FC236}">
                <a16:creationId xmlns:a16="http://schemas.microsoft.com/office/drawing/2014/main" id="{A2E99603-30FB-D6BB-89A3-DCB0E68C3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609" y="2900131"/>
            <a:ext cx="534021" cy="534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58" descr="A purple molecule structure on a black background&#10;&#10;AI-generated content may be incorrect.">
            <a:extLst>
              <a:ext uri="{FF2B5EF4-FFF2-40B4-BE49-F238E27FC236}">
                <a16:creationId xmlns:a16="http://schemas.microsoft.com/office/drawing/2014/main" id="{943217C3-59A0-10F4-82D4-C6047A9AA19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41424" y="3720487"/>
            <a:ext cx="721527" cy="721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32E025-DAEE-145E-C55B-D619B817987D}"/>
              </a:ext>
            </a:extLst>
          </p:cNvPr>
          <p:cNvSpPr txBox="1"/>
          <p:nvPr/>
        </p:nvSpPr>
        <p:spPr>
          <a:xfrm>
            <a:off x="2719546" y="3871363"/>
            <a:ext cx="110126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defRPr/>
            </a:pPr>
            <a:r>
              <a:rPr lang="en-US" sz="1200">
                <a:solidFill>
                  <a:srgbClr val="000000"/>
                </a:solidFill>
                <a:latin typeface="Segoe UI"/>
              </a:rPr>
              <a:t>Ai Agents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0960701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000"/>
                            </p:stCondLst>
                            <p:childTnLst>
                              <p:par>
                                <p:cTn id="1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500"/>
                            </p:stCondLst>
                            <p:childTnLst>
                              <p:par>
                                <p:cTn id="1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3000"/>
                            </p:stCondLst>
                            <p:childTnLst>
                              <p:par>
                                <p:cTn id="1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1045" grpId="0" animBg="1"/>
      <p:bldP spid="47" grpId="0" animBg="1"/>
      <p:bldP spid="36" grpId="0" animBg="1"/>
      <p:bldP spid="16" grpId="0"/>
      <p:bldP spid="17" grpId="0"/>
      <p:bldP spid="18" grpId="0"/>
      <p:bldP spid="20" grpId="0"/>
      <p:bldP spid="21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2" grpId="0"/>
      <p:bldP spid="33" grpId="0"/>
      <p:bldP spid="37" grpId="0"/>
      <p:bldP spid="41" grpId="0"/>
      <p:bldP spid="45" grpId="0"/>
      <p:bldP spid="58" grpId="0"/>
      <p:bldP spid="1024" grpId="0"/>
      <p:bldP spid="1030" grpId="0"/>
      <p:bldP spid="1033" grpId="0"/>
      <p:bldP spid="1036" grpId="0"/>
      <p:bldP spid="1037" grpId="0"/>
      <p:bldP spid="51" grpId="0"/>
      <p:bldP spid="1064" grpId="0"/>
      <p:bldP spid="39" grpId="0"/>
      <p:bldP spid="57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3FC753-2CB1-1658-4B11-26DC4107E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F3FC0-9415-0D46-7B4A-FAF096A73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3577337" cy="698500"/>
          </a:xfrm>
        </p:spPr>
        <p:txBody>
          <a:bodyPr/>
          <a:lstStyle/>
          <a:p>
            <a:r>
              <a:rPr lang="en-US"/>
              <a:t>Call to Action</a:t>
            </a:r>
          </a:p>
        </p:txBody>
      </p:sp>
      <p:sp>
        <p:nvSpPr>
          <p:cNvPr id="4" name="Rectangle: Rounded Corners 18">
            <a:extLst>
              <a:ext uri="{FF2B5EF4-FFF2-40B4-BE49-F238E27FC236}">
                <a16:creationId xmlns:a16="http://schemas.microsoft.com/office/drawing/2014/main" id="{07329F48-041F-96A1-4EF7-97D3D72DFF6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492728" y="1736738"/>
            <a:ext cx="3484198" cy="1482971"/>
          </a:xfrm>
          <a:prstGeom prst="roundRect">
            <a:avLst>
              <a:gd name="adj" fmla="val 12581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</p:spPr>
        <p:txBody>
          <a:bodyPr wrap="square" lIns="0" tIns="0" rIns="0" bIns="45720" rtlCol="0" anchor="ctr" anchorCtr="0">
            <a:no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1100" b="1" i="0" u="none" strike="noStrike" kern="1200" cap="none" spc="0" normalizeH="0" baseline="0" noProof="0">
              <a:ln w="3175">
                <a:noFill/>
              </a:ln>
              <a:gradFill>
                <a:gsLst>
                  <a:gs pos="9174">
                    <a:srgbClr val="000000"/>
                  </a:gs>
                  <a:gs pos="42000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Segoe UI" pitchFamily="34" charset="0"/>
            </a:endParaRPr>
          </a:p>
        </p:txBody>
      </p:sp>
      <p:sp>
        <p:nvSpPr>
          <p:cNvPr id="5" name="Rectangle: Rounded Corners 18">
            <a:extLst>
              <a:ext uri="{FF2B5EF4-FFF2-40B4-BE49-F238E27FC236}">
                <a16:creationId xmlns:a16="http://schemas.microsoft.com/office/drawing/2014/main" id="{B3A8BED6-25AE-850B-5719-714D637F64E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492728" y="3419099"/>
            <a:ext cx="3484198" cy="1482971"/>
          </a:xfrm>
          <a:prstGeom prst="roundRect">
            <a:avLst>
              <a:gd name="adj" fmla="val 12581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</p:spPr>
        <p:txBody>
          <a:bodyPr wrap="square" lIns="0" tIns="0" rIns="0" bIns="45720" rtlCol="0" anchor="ctr" anchorCtr="0">
            <a:no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1100" b="1" i="0" u="none" strike="noStrike" kern="1200" cap="none" spc="0" normalizeH="0" baseline="0" noProof="0">
              <a:ln w="3175">
                <a:noFill/>
              </a:ln>
              <a:gradFill>
                <a:gsLst>
                  <a:gs pos="9174">
                    <a:srgbClr val="000000"/>
                  </a:gs>
                  <a:gs pos="42000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Segoe UI" pitchFamily="34" charset="0"/>
            </a:endParaRPr>
          </a:p>
        </p:txBody>
      </p:sp>
      <p:sp>
        <p:nvSpPr>
          <p:cNvPr id="6" name="Rectangle: Rounded Corners 18">
            <a:extLst>
              <a:ext uri="{FF2B5EF4-FFF2-40B4-BE49-F238E27FC236}">
                <a16:creationId xmlns:a16="http://schemas.microsoft.com/office/drawing/2014/main" id="{C5103D13-C404-7477-C9B6-596E767F73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4260048" y="3419099"/>
            <a:ext cx="3484198" cy="1482971"/>
          </a:xfrm>
          <a:prstGeom prst="roundRect">
            <a:avLst>
              <a:gd name="adj" fmla="val 12581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</p:spPr>
        <p:txBody>
          <a:bodyPr wrap="square" lIns="0" tIns="0" rIns="0" bIns="45720" rtlCol="0" anchor="ctr" anchorCtr="0">
            <a:no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1100" b="1" i="0" u="none" strike="noStrike" kern="1200" cap="none" spc="0" normalizeH="0" baseline="0" noProof="0">
              <a:ln w="3175">
                <a:noFill/>
              </a:ln>
              <a:gradFill>
                <a:gsLst>
                  <a:gs pos="9174">
                    <a:srgbClr val="000000"/>
                  </a:gs>
                  <a:gs pos="42000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Segoe UI" pitchFamily="34" charset="0"/>
            </a:endParaRPr>
          </a:p>
        </p:txBody>
      </p:sp>
      <p:sp>
        <p:nvSpPr>
          <p:cNvPr id="7" name="Rectangle: Rounded Corners 18">
            <a:extLst>
              <a:ext uri="{FF2B5EF4-FFF2-40B4-BE49-F238E27FC236}">
                <a16:creationId xmlns:a16="http://schemas.microsoft.com/office/drawing/2014/main" id="{06ABC133-2525-67D5-CF00-112EE1B639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8027367" y="3419099"/>
            <a:ext cx="3484198" cy="1482971"/>
          </a:xfrm>
          <a:prstGeom prst="roundRect">
            <a:avLst>
              <a:gd name="adj" fmla="val 12581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</p:spPr>
        <p:txBody>
          <a:bodyPr wrap="square" lIns="0" tIns="0" rIns="0" bIns="45720" rtlCol="0" anchor="ctr" anchorCtr="0">
            <a:no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1100" b="1" i="0" u="none" strike="noStrike" kern="1200" cap="none" spc="0" normalizeH="0" baseline="0" noProof="0">
              <a:ln w="3175">
                <a:noFill/>
              </a:ln>
              <a:gradFill>
                <a:gsLst>
                  <a:gs pos="9174">
                    <a:srgbClr val="000000"/>
                  </a:gs>
                  <a:gs pos="42000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Segoe UI" pitchFamily="34" charset="0"/>
            </a:endParaRPr>
          </a:p>
        </p:txBody>
      </p:sp>
      <p:sp>
        <p:nvSpPr>
          <p:cNvPr id="11" name="Rectangle: Rounded Corners 18">
            <a:extLst>
              <a:ext uri="{FF2B5EF4-FFF2-40B4-BE49-F238E27FC236}">
                <a16:creationId xmlns:a16="http://schemas.microsoft.com/office/drawing/2014/main" id="{2687375E-E76F-4475-4FDC-410BDFF93C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4260048" y="1736738"/>
            <a:ext cx="3484198" cy="1482971"/>
          </a:xfrm>
          <a:prstGeom prst="roundRect">
            <a:avLst>
              <a:gd name="adj" fmla="val 12581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</p:spPr>
        <p:txBody>
          <a:bodyPr wrap="square" lIns="0" tIns="0" rIns="0" bIns="45720" rtlCol="0" anchor="ctr" anchorCtr="0">
            <a:no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1100" b="1" i="0" u="none" strike="noStrike" kern="1200" cap="none" spc="0" normalizeH="0" baseline="0" noProof="0">
              <a:ln w="3175">
                <a:noFill/>
              </a:ln>
              <a:gradFill>
                <a:gsLst>
                  <a:gs pos="9174">
                    <a:srgbClr val="000000"/>
                  </a:gs>
                  <a:gs pos="42000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Segoe UI" pitchFamily="34" charset="0"/>
            </a:endParaRPr>
          </a:p>
        </p:txBody>
      </p:sp>
      <p:sp>
        <p:nvSpPr>
          <p:cNvPr id="12" name="Rectangle: Rounded Corners 18">
            <a:extLst>
              <a:ext uri="{FF2B5EF4-FFF2-40B4-BE49-F238E27FC236}">
                <a16:creationId xmlns:a16="http://schemas.microsoft.com/office/drawing/2014/main" id="{91D3E652-4F65-DAF4-B99C-D6C42802FAC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8027367" y="1736738"/>
            <a:ext cx="3484198" cy="1482971"/>
          </a:xfrm>
          <a:prstGeom prst="roundRect">
            <a:avLst>
              <a:gd name="adj" fmla="val 12581"/>
            </a:avLst>
          </a:prstGeom>
          <a:gradFill>
            <a:gsLst>
              <a:gs pos="0">
                <a:srgbClr val="73262F">
                  <a:alpha val="10000"/>
                </a:srgbClr>
              </a:gs>
              <a:gs pos="80000">
                <a:srgbClr val="2A446F">
                  <a:alpha val="10000"/>
                </a:srgbClr>
              </a:gs>
            </a:gsLst>
            <a:path path="circle">
              <a:fillToRect l="100000" t="100000"/>
            </a:path>
          </a:gradFill>
        </p:spPr>
        <p:txBody>
          <a:bodyPr wrap="square" lIns="0" tIns="0" rIns="0" bIns="45720" rtlCol="0" anchor="ctr" anchorCtr="0">
            <a:noAutofit/>
          </a:bodyPr>
          <a:lstStyle>
            <a:defPPr>
              <a:defRPr lang="en-US"/>
            </a:defPPr>
            <a:lvl1pPr marL="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814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762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6440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5252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94066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52877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1691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70503" algn="l" defTabSz="717626" rtl="0" eaLnBrk="1" latinLnBrk="0" hangingPunct="1">
              <a:defRPr sz="1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27585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>
                <a:tab pos="3701239" algn="l"/>
              </a:tabLst>
              <a:defRPr/>
            </a:pPr>
            <a:endParaRPr kumimoji="0" lang="en-US" sz="1100" b="1" i="0" u="none" strike="noStrike" kern="1200" cap="none" spc="0" normalizeH="0" baseline="0" noProof="0">
              <a:ln w="3175">
                <a:noFill/>
              </a:ln>
              <a:gradFill>
                <a:gsLst>
                  <a:gs pos="9174">
                    <a:srgbClr val="000000"/>
                  </a:gs>
                  <a:gs pos="42000">
                    <a:srgbClr val="000000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Segoe UI Variable Display Semibold" pitchFamily="2" charset="0"/>
              <a:ea typeface="+mn-ea"/>
              <a:cs typeface="Segoe UI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1EB0C75-2B03-833B-3370-6A9C667DBCF5}"/>
              </a:ext>
            </a:extLst>
          </p:cNvPr>
          <p:cNvSpPr txBox="1">
            <a:spLocks/>
          </p:cNvSpPr>
          <p:nvPr/>
        </p:nvSpPr>
        <p:spPr>
          <a:xfrm>
            <a:off x="530828" y="2295538"/>
            <a:ext cx="3403600" cy="57246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Check out MS blogs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aka.ms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/sqlserver2025blog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FC885DE-BB0F-BA56-8B0D-D303E52D17F6}"/>
              </a:ext>
            </a:extLst>
          </p:cNvPr>
          <p:cNvSpPr txBox="1">
            <a:spLocks/>
          </p:cNvSpPr>
          <p:nvPr/>
        </p:nvSpPr>
        <p:spPr>
          <a:xfrm>
            <a:off x="4315428" y="2295538"/>
            <a:ext cx="3403600" cy="57246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Download it today</a:t>
            </a:r>
          </a:p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aka.ms/getsqlserver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B131E2B-C5DD-5070-DE50-E0FCDF3D7039}"/>
              </a:ext>
            </a:extLst>
          </p:cNvPr>
          <p:cNvSpPr txBox="1">
            <a:spLocks/>
          </p:cNvSpPr>
          <p:nvPr/>
        </p:nvSpPr>
        <p:spPr>
          <a:xfrm>
            <a:off x="8074628" y="2295538"/>
            <a:ext cx="3403600" cy="57246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Read the docs</a:t>
            </a:r>
          </a:p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aka.ms/sqlserver2025docs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0AFE616-7037-36F7-1B15-F82C0DBA60D5}"/>
              </a:ext>
            </a:extLst>
          </p:cNvPr>
          <p:cNvSpPr txBox="1">
            <a:spLocks/>
          </p:cNvSpPr>
          <p:nvPr/>
        </p:nvSpPr>
        <p:spPr>
          <a:xfrm>
            <a:off x="530828" y="3971938"/>
            <a:ext cx="3403600" cy="57246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Get the decks</a:t>
            </a:r>
          </a:p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aka.ms/sqlserver2025decks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AF0FCF0-A9FA-61F8-A7F4-F4A6A4C6B36A}"/>
              </a:ext>
            </a:extLst>
          </p:cNvPr>
          <p:cNvSpPr txBox="1">
            <a:spLocks/>
          </p:cNvSpPr>
          <p:nvPr/>
        </p:nvSpPr>
        <p:spPr>
          <a:xfrm>
            <a:off x="4315428" y="3971938"/>
            <a:ext cx="3403600" cy="57246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Get the demos</a:t>
            </a:r>
          </a:p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aka.ms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/sqlserver2025demos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77B5534D-FC41-9460-5E63-8E3950A37B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1328" y="1800238"/>
            <a:ext cx="501650" cy="50165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E201E357-4898-C500-1528-AC6DD493B4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6728" y="1812938"/>
            <a:ext cx="469900" cy="4699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0BFBBDEF-8F59-6EF4-2C0B-F654D12867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4828" y="1838338"/>
            <a:ext cx="419100" cy="4191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700098C5-AE82-7ACE-AE0D-BA1090F1CD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29428" y="3514738"/>
            <a:ext cx="444500" cy="4445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B443C79C-8BEB-345D-F55D-9F66E959650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14028" y="3514738"/>
            <a:ext cx="457200" cy="457200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E405CA44-1CCF-556F-2C65-A2DC2CCA495F}"/>
              </a:ext>
            </a:extLst>
          </p:cNvPr>
          <p:cNvGrpSpPr/>
          <p:nvPr/>
        </p:nvGrpSpPr>
        <p:grpSpPr>
          <a:xfrm>
            <a:off x="441160" y="5103364"/>
            <a:ext cx="3484198" cy="1482971"/>
            <a:chOff x="545332" y="4706814"/>
            <a:chExt cx="3484198" cy="1482971"/>
          </a:xfrm>
        </p:grpSpPr>
        <p:sp>
          <p:nvSpPr>
            <p:cNvPr id="10" name="Rectangle: Rounded Corners 18">
              <a:extLst>
                <a:ext uri="{FF2B5EF4-FFF2-40B4-BE49-F238E27FC236}">
                  <a16:creationId xmlns:a16="http://schemas.microsoft.com/office/drawing/2014/main" id="{AB1CF501-8E9C-2B6F-AB5B-7F449F5A59FF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 bwMode="auto">
            <a:xfrm>
              <a:off x="545332" y="4706814"/>
              <a:ext cx="3484198" cy="1482971"/>
            </a:xfrm>
            <a:prstGeom prst="roundRect">
              <a:avLst>
                <a:gd name="adj" fmla="val 12581"/>
              </a:avLst>
            </a:prstGeom>
            <a:gradFill>
              <a:gsLst>
                <a:gs pos="0">
                  <a:srgbClr val="73262F">
                    <a:alpha val="10000"/>
                  </a:srgbClr>
                </a:gs>
                <a:gs pos="80000">
                  <a:srgbClr val="2A446F">
                    <a:alpha val="10000"/>
                  </a:srgbClr>
                </a:gs>
              </a:gsLst>
              <a:path path="circle">
                <a:fillToRect l="100000" t="100000"/>
              </a:path>
            </a:gradFill>
          </p:spPr>
          <p:txBody>
            <a:bodyPr wrap="square" lIns="0" tIns="0" rIns="0" bIns="45720" rtlCol="0" anchor="ctr" anchorCtr="0">
              <a:noAutofit/>
            </a:bodyPr>
            <a:lstStyle>
              <a:defPPr>
                <a:defRPr lang="en-US"/>
              </a:defPPr>
              <a:lvl1pPr marL="0" algn="l" defTabSz="717626" rtl="0" eaLnBrk="1" latinLnBrk="0" hangingPunct="1">
                <a:defRPr sz="14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8814" algn="l" defTabSz="717626" rtl="0" eaLnBrk="1" latinLnBrk="0" hangingPunct="1">
                <a:defRPr sz="14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7626" algn="l" defTabSz="717626" rtl="0" eaLnBrk="1" latinLnBrk="0" hangingPunct="1">
                <a:defRPr sz="14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76440" algn="l" defTabSz="717626" rtl="0" eaLnBrk="1" latinLnBrk="0" hangingPunct="1">
                <a:defRPr sz="14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35252" algn="l" defTabSz="717626" rtl="0" eaLnBrk="1" latinLnBrk="0" hangingPunct="1">
                <a:defRPr sz="14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94066" algn="l" defTabSz="717626" rtl="0" eaLnBrk="1" latinLnBrk="0" hangingPunct="1">
                <a:defRPr sz="14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52877" algn="l" defTabSz="717626" rtl="0" eaLnBrk="1" latinLnBrk="0" hangingPunct="1">
                <a:defRPr sz="14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11691" algn="l" defTabSz="717626" rtl="0" eaLnBrk="1" latinLnBrk="0" hangingPunct="1">
                <a:defRPr sz="14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70503" algn="l" defTabSz="717626" rtl="0" eaLnBrk="1" latinLnBrk="0" hangingPunct="1">
                <a:defRPr sz="14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75850" rtl="0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701239" algn="l"/>
                </a:tabLst>
                <a:defRPr/>
              </a:pPr>
              <a:endParaRPr kumimoji="0" lang="en-US" sz="11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  <a:ea typeface="+mn-ea"/>
                <a:cs typeface="Segoe UI" pitchFamily="34" charset="0"/>
              </a:endParaRPr>
            </a:p>
          </p:txBody>
        </p:sp>
        <p:sp>
          <p:nvSpPr>
            <p:cNvPr id="22" name="Content Placeholder 2">
              <a:extLst>
                <a:ext uri="{FF2B5EF4-FFF2-40B4-BE49-F238E27FC236}">
                  <a16:creationId xmlns:a16="http://schemas.microsoft.com/office/drawing/2014/main" id="{0C187539-C718-55FA-7623-5A86921002FC}"/>
                </a:ext>
              </a:extLst>
            </p:cNvPr>
            <p:cNvSpPr txBox="1">
              <a:spLocks/>
            </p:cNvSpPr>
            <p:nvPr/>
          </p:nvSpPr>
          <p:spPr>
            <a:xfrm>
              <a:off x="592593" y="5246809"/>
              <a:ext cx="3403600" cy="867930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marL="228600" marR="0" indent="-228600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"/>
                <a:tabLst/>
                <a:defRPr sz="2800" kern="1200" spc="0" baseline="0">
                  <a:solidFill>
                    <a:schemeClr val="tx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1pPr>
              <a:lvl2pPr marL="457200" marR="0" indent="-228600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"/>
                <a:tabLst/>
                <a:defRPr sz="2000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57225" marR="0" indent="-200025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"/>
                <a:tabLst/>
                <a:defRPr sz="1600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42963" marR="0" indent="-180975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"/>
                <a:tabLst/>
                <a:defRPr sz="1400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3938" marR="0" indent="-168275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"/>
                <a:tabLst/>
                <a:defRPr sz="1400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65040" indent="-233186" algn="l" defTabSz="932742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31412" indent="-233186" algn="l" defTabSz="932742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97783" indent="-233186" algn="l" defTabSz="932742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964155" indent="-233186" algn="l" defTabSz="932742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Segoe UI" panose="020B0502040204020203" pitchFamily="34" charset="0"/>
                </a:rPr>
                <a:t>Learn from MS videos</a:t>
              </a:r>
            </a:p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Segoe UI" panose="020B0502040204020203" pitchFamily="34" charset="0"/>
                </a:rPr>
                <a:t>aka.ms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Segoe UI" panose="020B0502040204020203" pitchFamily="34" charset="0"/>
                </a:rPr>
                <a:t>/Build/sql2025mechanics</a:t>
              </a:r>
            </a:p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Segoe UI" panose="020B0502040204020203" pitchFamily="34" charset="0"/>
                </a:rPr>
                <a:t>aka.ms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Segoe UI" panose="020B0502040204020203" pitchFamily="34" charset="0"/>
                </a:rPr>
                <a:t>/SQL2025videos</a:t>
              </a:r>
            </a:p>
          </p:txBody>
        </p:sp>
        <p:pic>
          <p:nvPicPr>
            <p:cNvPr id="13" name="Graphic 12" descr="Vlog with solid fill">
              <a:extLst>
                <a:ext uri="{FF2B5EF4-FFF2-40B4-BE49-F238E27FC236}">
                  <a16:creationId xmlns:a16="http://schemas.microsoft.com/office/drawing/2014/main" id="{A90F5511-3135-BC06-4C43-535075CD1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033815" y="4752416"/>
              <a:ext cx="544285" cy="544285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A34D586-879B-3490-6513-FF5F371A84A8}"/>
              </a:ext>
            </a:extLst>
          </p:cNvPr>
          <p:cNvGrpSpPr/>
          <p:nvPr/>
        </p:nvGrpSpPr>
        <p:grpSpPr>
          <a:xfrm>
            <a:off x="4280958" y="5140329"/>
            <a:ext cx="3484198" cy="1482971"/>
            <a:chOff x="4387954" y="4712826"/>
            <a:chExt cx="3484198" cy="1482971"/>
          </a:xfrm>
        </p:grpSpPr>
        <p:sp>
          <p:nvSpPr>
            <p:cNvPr id="9" name="Rectangle: Rounded Corners 18">
              <a:extLst>
                <a:ext uri="{FF2B5EF4-FFF2-40B4-BE49-F238E27FC236}">
                  <a16:creationId xmlns:a16="http://schemas.microsoft.com/office/drawing/2014/main" id="{F015C9D4-5F29-B755-359B-AB9F12E2CC7D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 bwMode="auto">
            <a:xfrm>
              <a:off x="4387954" y="4712826"/>
              <a:ext cx="3484198" cy="1482971"/>
            </a:xfrm>
            <a:prstGeom prst="roundRect">
              <a:avLst>
                <a:gd name="adj" fmla="val 12581"/>
              </a:avLst>
            </a:prstGeom>
            <a:gradFill>
              <a:gsLst>
                <a:gs pos="0">
                  <a:srgbClr val="73262F">
                    <a:alpha val="10000"/>
                  </a:srgbClr>
                </a:gs>
                <a:gs pos="80000">
                  <a:srgbClr val="2A446F">
                    <a:alpha val="10000"/>
                  </a:srgbClr>
                </a:gs>
              </a:gsLst>
              <a:path path="circle">
                <a:fillToRect l="100000" t="100000"/>
              </a:path>
            </a:gradFill>
          </p:spPr>
          <p:txBody>
            <a:bodyPr wrap="square" lIns="0" tIns="0" rIns="0" bIns="45720" rtlCol="0" anchor="ctr" anchorCtr="0">
              <a:noAutofit/>
            </a:bodyPr>
            <a:lstStyle>
              <a:defPPr>
                <a:defRPr lang="en-US"/>
              </a:defPPr>
              <a:lvl1pPr marL="0" algn="l" defTabSz="717626" rtl="0" eaLnBrk="1" latinLnBrk="0" hangingPunct="1">
                <a:defRPr sz="14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8814" algn="l" defTabSz="717626" rtl="0" eaLnBrk="1" latinLnBrk="0" hangingPunct="1">
                <a:defRPr sz="14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17626" algn="l" defTabSz="717626" rtl="0" eaLnBrk="1" latinLnBrk="0" hangingPunct="1">
                <a:defRPr sz="14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76440" algn="l" defTabSz="717626" rtl="0" eaLnBrk="1" latinLnBrk="0" hangingPunct="1">
                <a:defRPr sz="14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435252" algn="l" defTabSz="717626" rtl="0" eaLnBrk="1" latinLnBrk="0" hangingPunct="1">
                <a:defRPr sz="14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94066" algn="l" defTabSz="717626" rtl="0" eaLnBrk="1" latinLnBrk="0" hangingPunct="1">
                <a:defRPr sz="14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152877" algn="l" defTabSz="717626" rtl="0" eaLnBrk="1" latinLnBrk="0" hangingPunct="1">
                <a:defRPr sz="14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11691" algn="l" defTabSz="717626" rtl="0" eaLnBrk="1" latinLnBrk="0" hangingPunct="1">
                <a:defRPr sz="14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870503" algn="l" defTabSz="717626" rtl="0" eaLnBrk="1" latinLnBrk="0" hangingPunct="1">
                <a:defRPr sz="1413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275850" rtl="0" eaLnBrk="1" fontAlgn="base" latinLnBrk="0" hangingPunct="1">
                <a:lnSpc>
                  <a:spcPct val="100000"/>
                </a:lnSpc>
                <a:spcBef>
                  <a:spcPts val="20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701239" algn="l"/>
                </a:tabLst>
                <a:defRPr/>
              </a:pPr>
              <a:endParaRPr kumimoji="0" lang="en-US" sz="1100" b="1" i="0" u="none" strike="noStrike" kern="1200" cap="none" spc="0" normalizeH="0" baseline="0" noProof="0">
                <a:ln w="3175">
                  <a:noFill/>
                </a:ln>
                <a:gradFill>
                  <a:gsLst>
                    <a:gs pos="9174">
                      <a:srgbClr val="000000"/>
                    </a:gs>
                    <a:gs pos="42000">
                      <a:srgbClr val="000000"/>
                    </a:gs>
                  </a:gsLst>
                  <a:path path="circle">
                    <a:fillToRect l="100000" t="100000"/>
                  </a:path>
                </a:gradFill>
                <a:effectLst/>
                <a:uLnTx/>
                <a:uFillTx/>
                <a:latin typeface="Segoe UI Variable Display Semibold" pitchFamily="2" charset="0"/>
                <a:ea typeface="+mn-ea"/>
                <a:cs typeface="Segoe UI" pitchFamily="34" charset="0"/>
              </a:endParaRPr>
            </a:p>
          </p:txBody>
        </p:sp>
        <p:sp>
          <p:nvSpPr>
            <p:cNvPr id="21" name="Content Placeholder 2">
              <a:extLst>
                <a:ext uri="{FF2B5EF4-FFF2-40B4-BE49-F238E27FC236}">
                  <a16:creationId xmlns:a16="http://schemas.microsoft.com/office/drawing/2014/main" id="{C4568F82-F528-2BA1-2296-27F5115677F7}"/>
                </a:ext>
              </a:extLst>
            </p:cNvPr>
            <p:cNvSpPr txBox="1">
              <a:spLocks/>
            </p:cNvSpPr>
            <p:nvPr/>
          </p:nvSpPr>
          <p:spPr>
            <a:xfrm>
              <a:off x="4544934" y="5252821"/>
              <a:ext cx="3200400" cy="572464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>
              <a:lvl1pPr marL="228600" marR="0" indent="-228600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"/>
                <a:tabLst/>
                <a:defRPr sz="2800" kern="1200" spc="0" baseline="0">
                  <a:solidFill>
                    <a:schemeClr val="tx1"/>
                  </a:solidFill>
                  <a:latin typeface="+mn-lt"/>
                  <a:ea typeface="+mn-ea"/>
                  <a:cs typeface="Segoe UI" panose="020B0502040204020203" pitchFamily="34" charset="0"/>
                </a:defRPr>
              </a:lvl1pPr>
              <a:lvl2pPr marL="457200" marR="0" indent="-228600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"/>
                <a:tabLst/>
                <a:defRPr sz="2000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57225" marR="0" indent="-200025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"/>
                <a:tabLst/>
                <a:defRPr sz="1600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42963" marR="0" indent="-180975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"/>
                <a:tabLst/>
                <a:defRPr sz="1400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3938" marR="0" indent="-168275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"/>
                <a:tabLst/>
                <a:defRPr sz="1400" kern="1200" spc="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65040" indent="-233186" algn="l" defTabSz="932742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31412" indent="-233186" algn="l" defTabSz="932742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97783" indent="-233186" algn="l" defTabSz="932742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964155" indent="-233186" algn="l" defTabSz="932742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Segoe UI" panose="020B0502040204020203" pitchFamily="34" charset="0"/>
                </a:rPr>
                <a:t>Take the Learn challenge</a:t>
              </a:r>
            </a:p>
            <a:p>
              <a:pPr marL="0" lvl="0" indent="0" algn="ctr">
                <a:buNone/>
                <a:defRPr/>
              </a:pPr>
              <a:r>
                <a:rPr lang="en-US" sz="1600"/>
                <a:t>aka.ms/SS25LearnChallenge</a:t>
              </a: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33" name="Graphic 32" descr="Idea with solid fill">
              <a:extLst>
                <a:ext uri="{FF2B5EF4-FFF2-40B4-BE49-F238E27FC236}">
                  <a16:creationId xmlns:a16="http://schemas.microsoft.com/office/drawing/2014/main" id="{66A45443-B37E-1562-309A-12F173CE4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884100" y="4790493"/>
              <a:ext cx="522067" cy="522067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D1B8F-F3D6-608D-F9E1-A58EE31AC63D}"/>
              </a:ext>
            </a:extLst>
          </p:cNvPr>
          <p:cNvSpPr txBox="1">
            <a:spLocks/>
          </p:cNvSpPr>
          <p:nvPr/>
        </p:nvSpPr>
        <p:spPr>
          <a:xfrm>
            <a:off x="8457122" y="4092257"/>
            <a:ext cx="2768600" cy="57246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1800" b="1" dirty="0">
                <a:solidFill>
                  <a:srgbClr val="000000"/>
                </a:solidFill>
                <a:latin typeface="Segoe UI"/>
              </a:rPr>
              <a:t>Get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SSMS 22</a:t>
            </a:r>
          </a:p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aka.ms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/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ssms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25" name="Graphic 35">
            <a:extLst>
              <a:ext uri="{FF2B5EF4-FFF2-40B4-BE49-F238E27FC236}">
                <a16:creationId xmlns:a16="http://schemas.microsoft.com/office/drawing/2014/main" id="{2EB5AEAD-A41C-53DC-06DD-53191C14666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587422" y="3660457"/>
            <a:ext cx="4191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061270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07D81A86-548E-568F-C5B8-0CB4859DA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524000"/>
            <a:ext cx="3810000" cy="3810000"/>
          </a:xfrm>
          <a:prstGeom prst="rect">
            <a:avLst/>
          </a:prstGeom>
        </p:spPr>
      </p:pic>
      <p:sp>
        <p:nvSpPr>
          <p:cNvPr id="3" name="Titolo 2">
            <a:extLst>
              <a:ext uri="{FF2B5EF4-FFF2-40B4-BE49-F238E27FC236}">
                <a16:creationId xmlns:a16="http://schemas.microsoft.com/office/drawing/2014/main" id="{51221D17-039C-66AB-400E-658FEACA1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vostro feedback è importante!</a:t>
            </a:r>
          </a:p>
        </p:txBody>
      </p:sp>
    </p:spTree>
    <p:extLst>
      <p:ext uri="{BB962C8B-B14F-4D97-AF65-F5344CB8AC3E}">
        <p14:creationId xmlns:p14="http://schemas.microsoft.com/office/powerpoint/2010/main" val="28802931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tempalte_2024.potx" id="{2BFD056E-3B37-41C3-8261-E4C51216556A}" vid="{C808DBD1-7E64-4C92-9EF8-F8A565AC676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7330F1BD5C0E44A8B06BFD43F44851" ma:contentTypeVersion="15" ma:contentTypeDescription="Create a new document." ma:contentTypeScope="" ma:versionID="871fcb6e284f321d9f14cef42c19b905">
  <xsd:schema xmlns:xsd="http://www.w3.org/2001/XMLSchema" xmlns:xs="http://www.w3.org/2001/XMLSchema" xmlns:p="http://schemas.microsoft.com/office/2006/metadata/properties" xmlns:ns2="421a4595-c0e5-4437-b525-b140d6ba4fc1" xmlns:ns3="066236b4-6a2a-482b-9b6f-bdf9206295c2" targetNamespace="http://schemas.microsoft.com/office/2006/metadata/properties" ma:root="true" ma:fieldsID="c31aaba9e659f74b606dc5944f08791c" ns2:_="" ns3:_="">
    <xsd:import namespace="421a4595-c0e5-4437-b525-b140d6ba4fc1"/>
    <xsd:import namespace="066236b4-6a2a-482b-9b6f-bdf9206295c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OCR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1a4595-c0e5-4437-b525-b140d6ba4fc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c1d641e6-7885-4e18-aa2c-5775c1b582e2}" ma:internalName="TaxCatchAll" ma:showField="CatchAllData" ma:web="421a4595-c0e5-4437-b525-b140d6ba4fc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6236b4-6a2a-482b-9b6f-bdf9206295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1ce38722-add7-48bd-a994-48c14df249e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1a4595-c0e5-4437-b525-b140d6ba4fc1" xsi:nil="true"/>
    <lcf76f155ced4ddcb4097134ff3c332f xmlns="066236b4-6a2a-482b-9b6f-bdf9206295c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3F9A7F3-15B4-4547-AF5B-5165F01F4C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1a4595-c0e5-4437-b525-b140d6ba4fc1"/>
    <ds:schemaRef ds:uri="066236b4-6a2a-482b-9b6f-bdf9206295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CBCAE02-D7C3-401D-8E62-3793C04A63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E8628F-6661-4023-88F1-D8ED9893580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824ede97-9619-4c5b-a730-3ec0f5cb7ab1"/>
    <ds:schemaRef ds:uri="421a4595-c0e5-4437-b525-b140d6ba4fc1"/>
    <ds:schemaRef ds:uri="066236b4-6a2a-482b-9b6f-bdf9206295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di Office</Template>
  <TotalTime>271</TotalTime>
  <Words>1258</Words>
  <Application>Microsoft Macintosh PowerPoint</Application>
  <PresentationFormat>Widescreen</PresentationFormat>
  <Paragraphs>295</Paragraphs>
  <Slides>24</Slides>
  <Notes>9</Notes>
  <HiddenSlides>2</HiddenSlides>
  <MMClips>0</MMClips>
  <ScaleCrop>false</ScaleCrop>
  <HeadingPairs>
    <vt:vector size="6" baseType="variant">
      <vt:variant>
        <vt:lpstr>Caratteri utilizzati</vt:lpstr>
      </vt:variant>
      <vt:variant>
        <vt:i4>13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24</vt:i4>
      </vt:variant>
    </vt:vector>
  </HeadingPairs>
  <TitlesOfParts>
    <vt:vector size="38" baseType="lpstr">
      <vt:lpstr>Aptos</vt:lpstr>
      <vt:lpstr>Arial</vt:lpstr>
      <vt:lpstr>Arial,Sans-Serif</vt:lpstr>
      <vt:lpstr>Calibri</vt:lpstr>
      <vt:lpstr>Calibri Light</vt:lpstr>
      <vt:lpstr>Segoe Pro Display</vt:lpstr>
      <vt:lpstr>Segoe Sans Text</vt:lpstr>
      <vt:lpstr>Segoe Script</vt:lpstr>
      <vt:lpstr>Segoe UI</vt:lpstr>
      <vt:lpstr>Segoe UI Semibold</vt:lpstr>
      <vt:lpstr>Segoe UI Variable Display Semib</vt:lpstr>
      <vt:lpstr>Segoe UI Variable Display Semibold</vt:lpstr>
      <vt:lpstr>Wingdings</vt:lpstr>
      <vt:lpstr>Tema di Office</vt:lpstr>
      <vt:lpstr>SQL Server 2025 – Utilizzare l’AI con Ollama</vt:lpstr>
      <vt:lpstr>Presentazione standard di PowerPoint</vt:lpstr>
      <vt:lpstr>Chi è Danilo Dominici</vt:lpstr>
      <vt:lpstr>SQL Server 2025</vt:lpstr>
      <vt:lpstr>Presentazione standard di PowerPoint</vt:lpstr>
      <vt:lpstr>What problems are we trying to solve with AI?</vt:lpstr>
      <vt:lpstr>Vector search with your data</vt:lpstr>
      <vt:lpstr>What are  the features?</vt:lpstr>
      <vt:lpstr>Security, SQL, and AI</vt:lpstr>
      <vt:lpstr>SQL Server 2025 Vector Architecture </vt:lpstr>
      <vt:lpstr>Ollama</vt:lpstr>
      <vt:lpstr>Che cos’è Ollama</vt:lpstr>
      <vt:lpstr>Scegliere il modello più adatto</vt:lpstr>
      <vt:lpstr>Scegliere il modello più adatto</vt:lpstr>
      <vt:lpstr>Interagire con Ollama</vt:lpstr>
      <vt:lpstr>Demo</vt:lpstr>
      <vt:lpstr>Best practices</vt:lpstr>
      <vt:lpstr>Ollama &amp; performance </vt:lpstr>
      <vt:lpstr>Ollama &amp; performance </vt:lpstr>
      <vt:lpstr>Sicurezza</vt:lpstr>
      <vt:lpstr>Demo tempo permettendo…</vt:lpstr>
      <vt:lpstr>The SQL Server 2025 Platform Architecture</vt:lpstr>
      <vt:lpstr>Call to Action</vt:lpstr>
      <vt:lpstr>Il vostro feedback è importante!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Danilo Dominici</dc:creator>
  <cp:lastModifiedBy>Danilo Dominici</cp:lastModifiedBy>
  <cp:revision>19</cp:revision>
  <dcterms:created xsi:type="dcterms:W3CDTF">2025-11-25T08:53:54Z</dcterms:created>
  <dcterms:modified xsi:type="dcterms:W3CDTF">2025-11-28T15:59:32Z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0x010100C27330F1BD5C0E44A8B06BFD43F44851</vt:lpwstr>
  </property>
</Properties>
</file>